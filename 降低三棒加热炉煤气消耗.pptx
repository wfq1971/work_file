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4.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5.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6.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7.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8.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9.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10.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1.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12.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13.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14.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15.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notesSlides/notesSlide16.xml" ContentType="application/vnd.openxmlformats-officedocument.presentationml.notesSlide+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notesSlides/notesSlide17.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notesSlides/notesSlide18.xml" ContentType="application/vnd.openxmlformats-officedocument.presentationml.notesSlid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notesSlides/notesSlide1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16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3"/>
  </p:notesMasterIdLst>
  <p:handoutMasterIdLst>
    <p:handoutMasterId r:id="rId24"/>
  </p:handoutMasterIdLst>
  <p:sldIdLst>
    <p:sldId id="697" r:id="rId3"/>
    <p:sldId id="1159" r:id="rId4"/>
    <p:sldId id="723" r:id="rId5"/>
    <p:sldId id="1122" r:id="rId6"/>
    <p:sldId id="685" r:id="rId7"/>
    <p:sldId id="1111" r:id="rId8"/>
    <p:sldId id="1104" r:id="rId9"/>
    <p:sldId id="1105" r:id="rId10"/>
    <p:sldId id="1131" r:id="rId11"/>
    <p:sldId id="1160" r:id="rId12"/>
    <p:sldId id="1165" r:id="rId13"/>
    <p:sldId id="1161" r:id="rId14"/>
    <p:sldId id="1162" r:id="rId15"/>
    <p:sldId id="1163" r:id="rId16"/>
    <p:sldId id="1124" r:id="rId17"/>
    <p:sldId id="1137" r:id="rId18"/>
    <p:sldId id="1164" r:id="rId19"/>
    <p:sldId id="1158" r:id="rId20"/>
    <p:sldId id="1154" r:id="rId21"/>
    <p:sldId id="279" r:id="rId22"/>
  </p:sldIdLst>
  <p:sldSz cx="12192000" cy="6858000"/>
  <p:notesSz cx="6858000" cy="9144000"/>
  <p:custDataLst>
    <p:tags r:id="rId25"/>
  </p:custDataLst>
  <p:defaultTex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1pPr>
    <a:lvl2pPr marL="457200" lvl="1"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2pPr>
    <a:lvl3pPr marL="914400" lvl="2"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3pPr>
    <a:lvl4pPr marL="1371600" lvl="3"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4pPr>
    <a:lvl5pPr marL="1828800" lvl="4"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5pPr>
    <a:lvl6pPr marL="2286000" lvl="5"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6pPr>
    <a:lvl7pPr marL="2743200" lvl="6"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7pPr>
    <a:lvl8pPr marL="3200400" lvl="7"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8pPr>
    <a:lvl9pPr marL="3657600" lvl="8"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charset="-122"/>
        <a:cs typeface="+mn-cs"/>
      </a:defRPr>
    </a:lvl9pPr>
  </p:defaultTextStyle>
  <p:extLst>
    <p:ext uri="{521415D9-36F7-43E2-AB2F-B90AF26B5E84}">
      <p14:sectionLst xmlns:p14="http://schemas.microsoft.com/office/powerpoint/2010/main">
        <p14:section name="默认节" id="{83463A94-290D-416B-8EA1-D7FD945A225F}">
          <p14:sldIdLst>
            <p14:sldId id="697"/>
            <p14:sldId id="1159"/>
            <p14:sldId id="723"/>
            <p14:sldId id="1122"/>
            <p14:sldId id="685"/>
            <p14:sldId id="1111"/>
            <p14:sldId id="1104"/>
            <p14:sldId id="1105"/>
            <p14:sldId id="1131"/>
            <p14:sldId id="1160"/>
            <p14:sldId id="1165"/>
            <p14:sldId id="1161"/>
            <p14:sldId id="1162"/>
            <p14:sldId id="1163"/>
            <p14:sldId id="1124"/>
            <p14:sldId id="1137"/>
            <p14:sldId id="1164"/>
            <p14:sldId id="1158"/>
            <p14:sldId id="1154"/>
            <p14:sldId id="279"/>
          </p14:sldIdLst>
        </p14:section>
      </p14:sectionLst>
    </p:ext>
    <p:ext uri="{EFAFB233-063F-42B5-8137-9DF3F51BA10A}">
      <p15:sldGuideLst xmlns:p15="http://schemas.microsoft.com/office/powerpoint/2012/main">
        <p15:guide id="1" orient="horz" pos="2104" userDrawn="1">
          <p15:clr>
            <a:srgbClr val="A4A3A4"/>
          </p15:clr>
        </p15:guide>
        <p15:guide id="2" pos="379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 id="7" name="1206988966@qq.com" initials="1" lastIdx="1" clrIdx="2"/>
  <p:cmAuthor id="1" name="14697" initials="1" lastIdx="1" clrIdx="0"/>
  <p:cmAuthor id="8" name="姜伟光" initials="姜" lastIdx="1" clrIdx="0"/>
  <p:cmAuthor id="2" name="gyb1" initials="g" lastIdx="1" clrIdx="1"/>
  <p:cmAuthor id="3" name="Admin" initials="A" lastIdx="6" clrIdx="2"/>
  <p:cmAuthor id="10" name="水钢管理员" initials="水" lastIdx="1" clrIdx="9"/>
  <p:cmAuthor id="4" name="Administrator" initials="A" lastIdx="4" clrIdx="3"/>
  <p:cmAuthor id="5" name="宗 福宝" initials="宗" lastIdx="1" clrIdx="4"/>
  <p:cmAuthor id="6" name="ming qiu" initials="m" lastIdx="17"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B0F0"/>
    <a:srgbClr val="586EAD"/>
    <a:srgbClr val="56CA95"/>
    <a:srgbClr val="FB9E13"/>
    <a:srgbClr val="DCDCDC"/>
    <a:srgbClr val="F0F0F0"/>
    <a:srgbClr val="E6E6E6"/>
    <a:srgbClr val="C8C8C8"/>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22" autoAdjust="0"/>
    <p:restoredTop sz="94660"/>
  </p:normalViewPr>
  <p:slideViewPr>
    <p:cSldViewPr snapToGrid="0" showGuides="1">
      <p:cViewPr varScale="1">
        <p:scale>
          <a:sx n="64" d="100"/>
          <a:sy n="64" d="100"/>
        </p:scale>
        <p:origin x="812" y="48"/>
      </p:cViewPr>
      <p:guideLst>
        <p:guide orient="horz" pos="2104"/>
        <p:guide pos="3796"/>
      </p:guideLst>
    </p:cSldViewPr>
  </p:slideViewPr>
  <p:notesTextViewPr>
    <p:cViewPr>
      <p:scale>
        <a:sx n="3" d="2"/>
        <a:sy n="3" d="2"/>
      </p:scale>
      <p:origin x="0" y="0"/>
    </p:cViewPr>
  </p:notesTextViewPr>
  <p:gridSpacing cx="72006" cy="72006"/>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black">
                    <a:lumMod val="65000"/>
                    <a:lumOff val="35000"/>
                  </a:prstClr>
                </a:solidFill>
                <a:latin typeface="+mn-lt"/>
                <a:ea typeface="+mn-ea"/>
                <a:cs typeface="+mn-cs"/>
              </a:defRPr>
            </a:pPr>
            <a:r>
              <a:rPr lang="zh-CN" altLang="en-US" dirty="0"/>
              <a:t>图表三棒加热炉</a:t>
            </a:r>
            <a:r>
              <a:rPr lang="en-US" altLang="zh-CN" dirty="0"/>
              <a:t>1-5</a:t>
            </a:r>
            <a:r>
              <a:rPr lang="zh-CN" altLang="en-US" dirty="0"/>
              <a:t>月煤气消耗量</a:t>
            </a:r>
          </a:p>
        </c:rich>
      </c:tx>
      <c:layout>
        <c:manualLayout>
          <c:xMode val="edge"/>
          <c:yMode val="edge"/>
          <c:x val="0.2755980942835658"/>
          <c:y val="2.4325970559403678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black">
                  <a:lumMod val="65000"/>
                  <a:lumOff val="35000"/>
                </a:prstClr>
              </a:solidFill>
              <a:latin typeface="+mn-lt"/>
              <a:ea typeface="+mn-ea"/>
              <a:cs typeface="+mn-cs"/>
            </a:defRPr>
          </a:pPr>
          <a:endParaRPr lang="zh-CN"/>
        </a:p>
      </c:txPr>
    </c:title>
    <c:autoTitleDeleted val="0"/>
    <c:plotArea>
      <c:layout>
        <c:manualLayout>
          <c:layoutTarget val="inner"/>
          <c:xMode val="edge"/>
          <c:yMode val="edge"/>
          <c:x val="4.4424704724409451E-2"/>
          <c:y val="0.19421824592653505"/>
          <c:w val="0.93057529527559057"/>
          <c:h val="0.73719588230832422"/>
        </c:manualLayout>
      </c:layout>
      <c:barChart>
        <c:barDir val="col"/>
        <c:grouping val="clustered"/>
        <c:varyColors val="0"/>
        <c:ser>
          <c:idx val="0"/>
          <c:order val="0"/>
          <c:tx>
            <c:strRef>
              <c:f>Sheet1!$B$1</c:f>
              <c:strCache>
                <c:ptCount val="1"/>
                <c:pt idx="0">
                  <c:v>焦炉煤气（m³/t）</c:v>
                </c:pt>
              </c:strCache>
            </c:strRef>
          </c:tx>
          <c:spPr>
            <a:solidFill>
              <a:schemeClr val="accent1"/>
            </a:solidFill>
            <a:ln>
              <a:noFill/>
            </a:ln>
            <a:effectLst/>
          </c:spPr>
          <c:invertIfNegative val="0"/>
          <c:cat>
            <c:strRef>
              <c:f>Sheet1!$A$2:$A$6</c:f>
              <c:strCache>
                <c:ptCount val="5"/>
                <c:pt idx="0">
                  <c:v>1月</c:v>
                </c:pt>
                <c:pt idx="1">
                  <c:v>2月</c:v>
                </c:pt>
                <c:pt idx="2">
                  <c:v>3月</c:v>
                </c:pt>
                <c:pt idx="3">
                  <c:v>4月</c:v>
                </c:pt>
                <c:pt idx="4">
                  <c:v>5月</c:v>
                </c:pt>
              </c:strCache>
            </c:strRef>
          </c:cat>
          <c:val>
            <c:numRef>
              <c:f>Sheet1!$B$2:$B$6</c:f>
              <c:numCache>
                <c:formatCode>General</c:formatCode>
                <c:ptCount val="5"/>
                <c:pt idx="0">
                  <c:v>33.67</c:v>
                </c:pt>
                <c:pt idx="1">
                  <c:v>30.57</c:v>
                </c:pt>
                <c:pt idx="2">
                  <c:v>33.04</c:v>
                </c:pt>
                <c:pt idx="3">
                  <c:v>33.19</c:v>
                </c:pt>
                <c:pt idx="4">
                  <c:v>25.7</c:v>
                </c:pt>
              </c:numCache>
            </c:numRef>
          </c:val>
          <c:extLst>
            <c:ext xmlns:c16="http://schemas.microsoft.com/office/drawing/2014/chart" uri="{C3380CC4-5D6E-409C-BE32-E72D297353CC}">
              <c16:uniqueId val="{00000000-1D6F-4FDD-9376-00D8567E2986}"/>
            </c:ext>
          </c:extLst>
        </c:ser>
        <c:ser>
          <c:idx val="1"/>
          <c:order val="1"/>
          <c:tx>
            <c:strRef>
              <c:f>Sheet1!$C$1</c:f>
              <c:strCache>
                <c:ptCount val="1"/>
                <c:pt idx="0">
                  <c:v>转炉煤气（m³/t）</c:v>
                </c:pt>
              </c:strCache>
            </c:strRef>
          </c:tx>
          <c:spPr>
            <a:solidFill>
              <a:schemeClr val="accent2"/>
            </a:solidFill>
            <a:ln>
              <a:noFill/>
            </a:ln>
            <a:effectLst/>
          </c:spPr>
          <c:invertIfNegative val="0"/>
          <c:cat>
            <c:strRef>
              <c:f>Sheet1!$A$2:$A$6</c:f>
              <c:strCache>
                <c:ptCount val="5"/>
                <c:pt idx="0">
                  <c:v>1月</c:v>
                </c:pt>
                <c:pt idx="1">
                  <c:v>2月</c:v>
                </c:pt>
                <c:pt idx="2">
                  <c:v>3月</c:v>
                </c:pt>
                <c:pt idx="3">
                  <c:v>4月</c:v>
                </c:pt>
                <c:pt idx="4">
                  <c:v>5月</c:v>
                </c:pt>
              </c:strCache>
            </c:strRef>
          </c:cat>
          <c:val>
            <c:numRef>
              <c:f>Sheet1!$C$2:$C$6</c:f>
              <c:numCache>
                <c:formatCode>General</c:formatCode>
                <c:ptCount val="5"/>
                <c:pt idx="0">
                  <c:v>64.2</c:v>
                </c:pt>
                <c:pt idx="1">
                  <c:v>61.19</c:v>
                </c:pt>
                <c:pt idx="2">
                  <c:v>65.42</c:v>
                </c:pt>
                <c:pt idx="3">
                  <c:v>54.33</c:v>
                </c:pt>
                <c:pt idx="4">
                  <c:v>49.44</c:v>
                </c:pt>
              </c:numCache>
            </c:numRef>
          </c:val>
          <c:extLst>
            <c:ext xmlns:c16="http://schemas.microsoft.com/office/drawing/2014/chart" uri="{C3380CC4-5D6E-409C-BE32-E72D297353CC}">
              <c16:uniqueId val="{00000001-1D6F-4FDD-9376-00D8567E2986}"/>
            </c:ext>
          </c:extLst>
        </c:ser>
        <c:dLbls>
          <c:showLegendKey val="0"/>
          <c:showVal val="0"/>
          <c:showCatName val="0"/>
          <c:showSerName val="0"/>
          <c:showPercent val="0"/>
          <c:showBubbleSize val="0"/>
        </c:dLbls>
        <c:gapWidth val="219"/>
        <c:axId val="1261554479"/>
        <c:axId val="1076899231"/>
      </c:barChart>
      <c:lineChart>
        <c:grouping val="standard"/>
        <c:varyColors val="0"/>
        <c:ser>
          <c:idx val="2"/>
          <c:order val="2"/>
          <c:tx>
            <c:strRef>
              <c:f>Sheet1!$D$1</c:f>
              <c:strCache>
                <c:ptCount val="1"/>
                <c:pt idx="0">
                  <c:v>焦炉煤气指标</c:v>
                </c:pt>
              </c:strCache>
            </c:strRef>
          </c:tx>
          <c:spPr>
            <a:ln w="28575" cap="rnd">
              <a:solidFill>
                <a:schemeClr val="accent3"/>
              </a:solidFill>
              <a:round/>
            </a:ln>
            <a:effectLst/>
          </c:spPr>
          <c:marker>
            <c:symbol val="none"/>
          </c:marker>
          <c:cat>
            <c:strRef>
              <c:f>Sheet1!$A$2:$A$6</c:f>
              <c:strCache>
                <c:ptCount val="5"/>
                <c:pt idx="0">
                  <c:v>1月</c:v>
                </c:pt>
                <c:pt idx="1">
                  <c:v>2月</c:v>
                </c:pt>
                <c:pt idx="2">
                  <c:v>3月</c:v>
                </c:pt>
                <c:pt idx="3">
                  <c:v>4月</c:v>
                </c:pt>
                <c:pt idx="4">
                  <c:v>5月</c:v>
                </c:pt>
              </c:strCache>
            </c:strRef>
          </c:cat>
          <c:val>
            <c:numRef>
              <c:f>Sheet1!$D$2:$D$6</c:f>
              <c:numCache>
                <c:formatCode>General</c:formatCode>
                <c:ptCount val="5"/>
                <c:pt idx="0">
                  <c:v>28.98</c:v>
                </c:pt>
                <c:pt idx="1">
                  <c:v>28.98</c:v>
                </c:pt>
                <c:pt idx="2">
                  <c:v>28.98</c:v>
                </c:pt>
                <c:pt idx="3">
                  <c:v>28.98</c:v>
                </c:pt>
                <c:pt idx="4">
                  <c:v>28.98</c:v>
                </c:pt>
              </c:numCache>
            </c:numRef>
          </c:val>
          <c:smooth val="0"/>
          <c:extLst>
            <c:ext xmlns:c16="http://schemas.microsoft.com/office/drawing/2014/chart" uri="{C3380CC4-5D6E-409C-BE32-E72D297353CC}">
              <c16:uniqueId val="{00000003-1D6F-4FDD-9376-00D8567E2986}"/>
            </c:ext>
          </c:extLst>
        </c:ser>
        <c:ser>
          <c:idx val="3"/>
          <c:order val="3"/>
          <c:tx>
            <c:strRef>
              <c:f>Sheet1!$E$1</c:f>
              <c:strCache>
                <c:ptCount val="1"/>
                <c:pt idx="0">
                  <c:v>转炉煤气指标</c:v>
                </c:pt>
              </c:strCache>
            </c:strRef>
          </c:tx>
          <c:spPr>
            <a:ln w="28575" cap="rnd">
              <a:solidFill>
                <a:schemeClr val="accent4"/>
              </a:solidFill>
              <a:round/>
            </a:ln>
            <a:effectLst/>
          </c:spPr>
          <c:marker>
            <c:symbol val="none"/>
          </c:marker>
          <c:cat>
            <c:strRef>
              <c:f>Sheet1!$A$2:$A$6</c:f>
              <c:strCache>
                <c:ptCount val="5"/>
                <c:pt idx="0">
                  <c:v>1月</c:v>
                </c:pt>
                <c:pt idx="1">
                  <c:v>2月</c:v>
                </c:pt>
                <c:pt idx="2">
                  <c:v>3月</c:v>
                </c:pt>
                <c:pt idx="3">
                  <c:v>4月</c:v>
                </c:pt>
                <c:pt idx="4">
                  <c:v>5月</c:v>
                </c:pt>
              </c:strCache>
            </c:strRef>
          </c:cat>
          <c:val>
            <c:numRef>
              <c:f>Sheet1!$E$2:$E$6</c:f>
              <c:numCache>
                <c:formatCode>General</c:formatCode>
                <c:ptCount val="5"/>
                <c:pt idx="0">
                  <c:v>53.59</c:v>
                </c:pt>
                <c:pt idx="1">
                  <c:v>53.59</c:v>
                </c:pt>
                <c:pt idx="2">
                  <c:v>53.59</c:v>
                </c:pt>
                <c:pt idx="3">
                  <c:v>53.59</c:v>
                </c:pt>
                <c:pt idx="4">
                  <c:v>53.59</c:v>
                </c:pt>
              </c:numCache>
            </c:numRef>
          </c:val>
          <c:smooth val="0"/>
          <c:extLst>
            <c:ext xmlns:c16="http://schemas.microsoft.com/office/drawing/2014/chart" uri="{C3380CC4-5D6E-409C-BE32-E72D297353CC}">
              <c16:uniqueId val="{00000004-1D6F-4FDD-9376-00D8567E2986}"/>
            </c:ext>
          </c:extLst>
        </c:ser>
        <c:dLbls>
          <c:showLegendKey val="0"/>
          <c:showVal val="0"/>
          <c:showCatName val="0"/>
          <c:showSerName val="0"/>
          <c:showPercent val="0"/>
          <c:showBubbleSize val="0"/>
        </c:dLbls>
        <c:marker val="1"/>
        <c:smooth val="0"/>
        <c:axId val="1261554479"/>
        <c:axId val="1076899231"/>
      </c:lineChart>
      <c:catAx>
        <c:axId val="12615544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076899231"/>
        <c:crosses val="autoZero"/>
        <c:auto val="1"/>
        <c:lblAlgn val="ctr"/>
        <c:lblOffset val="100"/>
        <c:noMultiLvlLbl val="0"/>
      </c:catAx>
      <c:valAx>
        <c:axId val="10768992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261554479"/>
        <c:crosses val="autoZero"/>
        <c:crossBetween val="between"/>
      </c:valAx>
      <c:spPr>
        <a:noFill/>
        <a:ln>
          <a:noFill/>
        </a:ln>
        <a:effectLst/>
      </c:spPr>
    </c:plotArea>
    <c:legend>
      <c:legendPos val="b"/>
      <c:layout>
        <c:manualLayout>
          <c:xMode val="edge"/>
          <c:yMode val="edge"/>
          <c:x val="0.25027229235507581"/>
          <c:y val="0.13174800933538383"/>
          <c:w val="0.74972770764492414"/>
          <c:h val="5.199372930536690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事业部指标</c:v>
                </c:pt>
              </c:strCache>
            </c:strRef>
          </c:tx>
          <c:spPr>
            <a:solidFill>
              <a:schemeClr val="accent1"/>
            </a:solidFill>
            <a:ln>
              <a:noFill/>
            </a:ln>
            <a:effectLst/>
          </c:spPr>
          <c:invertIfNegative val="0"/>
          <c:cat>
            <c:strRef>
              <c:f>Sheet1!$A$2:$A$3</c:f>
              <c:strCache>
                <c:ptCount val="2"/>
                <c:pt idx="0">
                  <c:v>焦炉煤气</c:v>
                </c:pt>
                <c:pt idx="1">
                  <c:v>转炉煤气</c:v>
                </c:pt>
              </c:strCache>
            </c:strRef>
          </c:cat>
          <c:val>
            <c:numRef>
              <c:f>Sheet1!$B$2:$B$3</c:f>
              <c:numCache>
                <c:formatCode>General</c:formatCode>
                <c:ptCount val="2"/>
                <c:pt idx="0">
                  <c:v>28.98</c:v>
                </c:pt>
                <c:pt idx="1">
                  <c:v>53.59</c:v>
                </c:pt>
              </c:numCache>
            </c:numRef>
          </c:val>
          <c:extLst>
            <c:ext xmlns:c16="http://schemas.microsoft.com/office/drawing/2014/chart" uri="{C3380CC4-5D6E-409C-BE32-E72D297353CC}">
              <c16:uniqueId val="{00000000-925F-4CDE-88E6-B629029CCF66}"/>
            </c:ext>
          </c:extLst>
        </c:ser>
        <c:ser>
          <c:idx val="1"/>
          <c:order val="1"/>
          <c:tx>
            <c:strRef>
              <c:f>Sheet1!$C$1</c:f>
              <c:strCache>
                <c:ptCount val="1"/>
                <c:pt idx="0">
                  <c:v>6月数据</c:v>
                </c:pt>
              </c:strCache>
            </c:strRef>
          </c:tx>
          <c:spPr>
            <a:solidFill>
              <a:schemeClr val="accent2"/>
            </a:solidFill>
            <a:ln>
              <a:noFill/>
            </a:ln>
            <a:effectLst/>
          </c:spPr>
          <c:invertIfNegative val="0"/>
          <c:cat>
            <c:strRef>
              <c:f>Sheet1!$A$2:$A$3</c:f>
              <c:strCache>
                <c:ptCount val="2"/>
                <c:pt idx="0">
                  <c:v>焦炉煤气</c:v>
                </c:pt>
                <c:pt idx="1">
                  <c:v>转炉煤气</c:v>
                </c:pt>
              </c:strCache>
            </c:strRef>
          </c:cat>
          <c:val>
            <c:numRef>
              <c:f>Sheet1!$C$2:$C$3</c:f>
              <c:numCache>
                <c:formatCode>General</c:formatCode>
                <c:ptCount val="2"/>
                <c:pt idx="0">
                  <c:v>27.49</c:v>
                </c:pt>
                <c:pt idx="1">
                  <c:v>51.09</c:v>
                </c:pt>
              </c:numCache>
            </c:numRef>
          </c:val>
          <c:extLst>
            <c:ext xmlns:c16="http://schemas.microsoft.com/office/drawing/2014/chart" uri="{C3380CC4-5D6E-409C-BE32-E72D297353CC}">
              <c16:uniqueId val="{00000001-925F-4CDE-88E6-B629029CCF66}"/>
            </c:ext>
          </c:extLst>
        </c:ser>
        <c:dLbls>
          <c:showLegendKey val="0"/>
          <c:showVal val="0"/>
          <c:showCatName val="0"/>
          <c:showSerName val="0"/>
          <c:showPercent val="0"/>
          <c:showBubbleSize val="0"/>
        </c:dLbls>
        <c:gapWidth val="219"/>
        <c:axId val="1393890255"/>
        <c:axId val="1479161599"/>
      </c:barChart>
      <c:catAx>
        <c:axId val="13938902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479161599"/>
        <c:crosses val="autoZero"/>
        <c:auto val="1"/>
        <c:lblAlgn val="ctr"/>
        <c:lblOffset val="100"/>
        <c:noMultiLvlLbl val="0"/>
      </c:catAx>
      <c:valAx>
        <c:axId val="1479161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3938902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2026/7/10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auto"/>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auto"/>
            <a:fld id="{D2A48B96-639E-45A3-A0BA-2464DFDB1FAA}" type="datetimeFigureOut">
              <a:rPr lang="zh-CN" altLang="en-US" strike="noStrike" noProof="1" smtClean="0">
                <a:latin typeface="+mn-lt"/>
                <a:ea typeface="+mn-ea"/>
                <a:cs typeface="+mn-cs"/>
              </a:rPr>
              <a:t>2026/7/10</a:t>
            </a:fld>
            <a:endParaRPr lang="zh-CN" altLang="en-US" strike="noStrike" noProof="1"/>
          </a:p>
        </p:txBody>
      </p:sp>
      <p:sp>
        <p:nvSpPr>
          <p:cNvPr id="3076"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3077"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auto"/>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auto"/>
            <a:fld id="{A6837353-30EB-4A48-80EB-173D804AEFBD}"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pPr algn="l"/>
            <a:r>
              <a:rPr lang="en-US" altLang="zh-CN">
                <a:latin typeface="微软雅黑" panose="020B0503020204020204" charset="-122"/>
                <a:ea typeface="微软雅黑" panose="020B0503020204020204" charset="-122"/>
                <a:cs typeface="微软雅黑" panose="020B0503020204020204" charset="-122"/>
                <a:sym typeface="+mn-ea"/>
              </a:rPr>
              <a:t>尊敬的各位领导，同事</a:t>
            </a:r>
            <a:r>
              <a:rPr lang="zh-CN" altLang="en-US">
                <a:latin typeface="微软雅黑" panose="020B0503020204020204" charset="-122"/>
                <a:ea typeface="微软雅黑" panose="020B0503020204020204" charset="-122"/>
                <a:cs typeface="微软雅黑" panose="020B0503020204020204" charset="-122"/>
                <a:sym typeface="+mn-ea"/>
              </a:rPr>
              <a:t>们</a:t>
            </a:r>
            <a:r>
              <a:rPr lang="en-US" altLang="zh-CN">
                <a:latin typeface="微软雅黑" panose="020B0503020204020204" charset="-122"/>
                <a:ea typeface="微软雅黑" panose="020B0503020204020204" charset="-122"/>
                <a:cs typeface="微软雅黑" panose="020B0503020204020204" charset="-122"/>
                <a:sym typeface="+mn-ea"/>
              </a:rPr>
              <a:t>：</a:t>
            </a:r>
            <a:endParaRPr lang="en-US" altLang="zh-CN">
              <a:latin typeface="微软雅黑" panose="020B0503020204020204" charset="-122"/>
              <a:ea typeface="微软雅黑" panose="020B0503020204020204" charset="-122"/>
              <a:cs typeface="微软雅黑" panose="020B0503020204020204" charset="-122"/>
            </a:endParaRPr>
          </a:p>
          <a:p>
            <a:pPr algn="l"/>
            <a:r>
              <a:rPr lang="en-US" altLang="zh-CN">
                <a:latin typeface="微软雅黑" panose="020B0503020204020204" charset="-122"/>
                <a:ea typeface="微软雅黑" panose="020B0503020204020204" charset="-122"/>
                <a:cs typeface="微软雅黑" panose="020B0503020204020204" charset="-122"/>
                <a:sym typeface="+mn-ea"/>
              </a:rPr>
              <a:t>大家好！</a:t>
            </a:r>
            <a:endParaRPr lang="en-US" altLang="zh-CN">
              <a:latin typeface="微软雅黑" panose="020B0503020204020204" charset="-122"/>
              <a:ea typeface="微软雅黑" panose="020B0503020204020204" charset="-122"/>
              <a:cs typeface="微软雅黑" panose="020B0503020204020204" charset="-122"/>
            </a:endParaRPr>
          </a:p>
          <a:p>
            <a:pPr algn="l"/>
            <a:r>
              <a:rPr lang="en-US" altLang="zh-CN">
                <a:latin typeface="微软雅黑" panose="020B0503020204020204" charset="-122"/>
                <a:ea typeface="微软雅黑" panose="020B0503020204020204" charset="-122"/>
                <a:cs typeface="微软雅黑" panose="020B0503020204020204" charset="-122"/>
                <a:sym typeface="+mn-ea"/>
              </a:rPr>
              <a:t>我是</a:t>
            </a:r>
            <a:r>
              <a:rPr lang="zh-CN" altLang="en-US">
                <a:latin typeface="微软雅黑" panose="020B0503020204020204" charset="-122"/>
                <a:ea typeface="微软雅黑" panose="020B0503020204020204" charset="-122"/>
                <a:cs typeface="微软雅黑" panose="020B0503020204020204" charset="-122"/>
                <a:sym typeface="+mn-ea"/>
              </a:rPr>
              <a:t>第七期</a:t>
            </a:r>
            <a:r>
              <a:rPr lang="en-US" altLang="zh-CN">
                <a:latin typeface="微软雅黑" panose="020B0503020204020204" charset="-122"/>
                <a:ea typeface="微软雅黑" panose="020B0503020204020204" charset="-122"/>
                <a:cs typeface="微软雅黑" panose="020B0503020204020204" charset="-122"/>
                <a:sym typeface="+mn-ea"/>
              </a:rPr>
              <a:t>SQTI</a:t>
            </a:r>
            <a:r>
              <a:rPr lang="zh-CN" altLang="en-US">
                <a:latin typeface="微软雅黑" panose="020B0503020204020204" charset="-122"/>
                <a:ea typeface="微软雅黑" panose="020B0503020204020204" charset="-122"/>
                <a:cs typeface="微软雅黑" panose="020B0503020204020204" charset="-122"/>
                <a:sym typeface="+mn-ea"/>
              </a:rPr>
              <a:t>改善骨干培训班学员周维兴</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我汇报</a:t>
            </a:r>
            <a:r>
              <a:rPr lang="en-US" altLang="zh-CN">
                <a:latin typeface="微软雅黑" panose="020B0503020204020204" charset="-122"/>
                <a:ea typeface="微软雅黑" panose="020B0503020204020204" charset="-122"/>
                <a:cs typeface="微软雅黑" panose="020B0503020204020204" charset="-122"/>
                <a:sym typeface="+mn-ea"/>
              </a:rPr>
              <a:t>的</a:t>
            </a:r>
            <a:r>
              <a:rPr lang="zh-CN" altLang="en-US">
                <a:latin typeface="微软雅黑" panose="020B0503020204020204" charset="-122"/>
                <a:ea typeface="微软雅黑" panose="020B0503020204020204" charset="-122"/>
                <a:cs typeface="微软雅黑" panose="020B0503020204020204" charset="-122"/>
                <a:sym typeface="+mn-ea"/>
              </a:rPr>
              <a:t>课题是</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b="1">
                <a:ln w="9525">
                  <a:solidFill>
                    <a:schemeClr val="bg1"/>
                  </a:solidFill>
                  <a:prstDash val="solid"/>
                </a:ln>
                <a:effectLst>
                  <a:outerShdw blurRad="12700" dist="38100" dir="2700000" algn="tl" rotWithShape="0">
                    <a:schemeClr val="bg1">
                      <a:lumMod val="50000"/>
                    </a:schemeClr>
                  </a:outerShdw>
                </a:effectLst>
                <a:latin typeface="+mj-ea"/>
                <a:ea typeface="+mj-ea"/>
                <a:cs typeface="+mj-ea"/>
                <a:sym typeface="+mn-ea"/>
              </a:rPr>
              <a:t>提升二高</a:t>
            </a:r>
            <a:r>
              <a:rPr lang="en-US" altLang="zh-CN" b="1">
                <a:ln w="9525">
                  <a:solidFill>
                    <a:schemeClr val="bg1"/>
                  </a:solidFill>
                  <a:prstDash val="solid"/>
                </a:ln>
                <a:effectLst>
                  <a:outerShdw blurRad="12700" dist="38100" dir="2700000" algn="tl" rotWithShape="0">
                    <a:schemeClr val="bg1">
                      <a:lumMod val="50000"/>
                    </a:schemeClr>
                  </a:outerShdw>
                </a:effectLst>
                <a:latin typeface="+mj-ea"/>
                <a:ea typeface="+mj-ea"/>
                <a:cs typeface="+mj-ea"/>
                <a:sym typeface="+mn-ea"/>
              </a:rPr>
              <a:t>Q195φ6</a:t>
            </a:r>
            <a:r>
              <a:rPr lang="zh-CN" altLang="en-US" b="1">
                <a:ln w="9525">
                  <a:solidFill>
                    <a:schemeClr val="bg1"/>
                  </a:solidFill>
                  <a:prstDash val="solid"/>
                </a:ln>
                <a:effectLst>
                  <a:outerShdw blurRad="12700" dist="38100" dir="2700000" algn="tl" rotWithShape="0">
                    <a:schemeClr val="bg1">
                      <a:lumMod val="50000"/>
                    </a:schemeClr>
                  </a:outerShdw>
                </a:effectLst>
                <a:latin typeface="+mj-ea"/>
                <a:ea typeface="+mj-ea"/>
                <a:cs typeface="+mj-ea"/>
                <a:sym typeface="+mn-ea"/>
              </a:rPr>
              <a:t>产品成材率</a:t>
            </a:r>
            <a:r>
              <a:rPr lang="en-US" altLang="zh-CN">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a:t>
            </a:r>
            <a:r>
              <a:rPr lang="en-US" altLang="zh-CN">
                <a:latin typeface="微软雅黑" panose="020B0503020204020204" charset="-122"/>
                <a:ea typeface="微软雅黑" panose="020B0503020204020204" charset="-122"/>
                <a:cs typeface="微软雅黑" panose="020B0503020204020204" charset="-122"/>
                <a:sym typeface="+mn-ea"/>
              </a:rPr>
              <a:t>小组成员还有</a:t>
            </a:r>
            <a:r>
              <a:rPr lang="zh-CN" altLang="en-US">
                <a:latin typeface="微软雅黑" panose="020B0503020204020204" charset="-122"/>
                <a:ea typeface="微软雅黑" panose="020B0503020204020204" charset="-122"/>
                <a:cs typeface="微软雅黑" panose="020B0503020204020204" charset="-122"/>
                <a:sym typeface="+mn-ea"/>
              </a:rPr>
              <a:t>祝开权</a:t>
            </a:r>
            <a:r>
              <a:rPr lang="en-US" altLang="zh-CN">
                <a:latin typeface="微软雅黑" panose="020B0503020204020204" charset="-122"/>
                <a:ea typeface="微软雅黑" panose="020B0503020204020204" charset="-122"/>
                <a:cs typeface="微软雅黑" panose="020B0503020204020204" charset="-122"/>
                <a:sym typeface="+mn-ea"/>
              </a:rPr>
              <a:t>、李</a:t>
            </a:r>
            <a:r>
              <a:rPr lang="zh-CN" altLang="en-US">
                <a:latin typeface="微软雅黑" panose="020B0503020204020204" charset="-122"/>
                <a:ea typeface="微软雅黑" panose="020B0503020204020204" charset="-122"/>
                <a:cs typeface="微软雅黑" panose="020B0503020204020204" charset="-122"/>
                <a:sym typeface="+mn-ea"/>
              </a:rPr>
              <a:t>响</a:t>
            </a:r>
            <a:r>
              <a:rPr lang="en-US" altLang="zh-CN">
                <a:latin typeface="微软雅黑" panose="020B0503020204020204" charset="-122"/>
                <a:ea typeface="微软雅黑" panose="020B0503020204020204" charset="-122"/>
                <a:cs typeface="微软雅黑" panose="020B0503020204020204" charset="-122"/>
                <a:sym typeface="+mn-ea"/>
              </a:rPr>
              <a:t>。</a:t>
            </a:r>
            <a:endParaRPr lang="en-US" altLang="zh-CN">
              <a:latin typeface="微软雅黑" panose="020B0503020204020204" charset="-122"/>
              <a:ea typeface="微软雅黑" panose="020B0503020204020204" charset="-122"/>
              <a:cs typeface="微软雅黑" panose="020B0503020204020204" charset="-122"/>
            </a:endParaRPr>
          </a:p>
          <a:p>
            <a:endParaRPr lang="zh-CN">
              <a:sym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0EC17-408E-FE64-562D-CBA171FDA3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97973DB-8F51-1A9E-D15B-21EAC24B9EF7}"/>
              </a:ext>
            </a:extLst>
          </p:cNvPr>
          <p:cNvSpPr>
            <a:spLocks noGrp="1" noRot="1" noChangeAspect="1"/>
          </p:cNvSpPr>
          <p:nvPr>
            <p:ph type="sldImg"/>
          </p:nvPr>
        </p:nvSpPr>
        <p:spPr/>
      </p:sp>
      <p:sp>
        <p:nvSpPr>
          <p:cNvPr id="3" name="文本占位符 2">
            <a:extLst>
              <a:ext uri="{FF2B5EF4-FFF2-40B4-BE49-F238E27FC236}">
                <a16:creationId xmlns:a16="http://schemas.microsoft.com/office/drawing/2014/main" id="{D4F8DEFA-6CB6-3B07-6EE1-F157E9729397}"/>
              </a:ext>
            </a:extLst>
          </p:cNvPr>
          <p:cNvSpPr>
            <a:spLocks noGrp="1"/>
          </p:cNvSpPr>
          <p:nvPr>
            <p:ph type="body"/>
          </p:nvPr>
        </p:nvSpPr>
        <p:spPr/>
        <p:txBody>
          <a:bodyPr/>
          <a:lstStyle/>
          <a:p>
            <a:r>
              <a:rPr lang="zh-CN" altLang="en-US"/>
              <a:t>为什么选这个课题呢，调查</a:t>
            </a:r>
            <a:r>
              <a:rPr lang="en-US" altLang="zh-CN"/>
              <a:t>1-3</a:t>
            </a:r>
            <a:r>
              <a:rPr lang="zh-CN" altLang="en-US"/>
              <a:t>月份的数据，发现在众多系列的产品中，</a:t>
            </a:r>
            <a:r>
              <a:rPr lang="en-US" altLang="zh-CN"/>
              <a:t>Q195φ6</a:t>
            </a:r>
            <a:r>
              <a:rPr lang="zh-CN" altLang="en-US"/>
              <a:t>的成材率很低，和公司指标存在较大差距。便决定以此为改善课题</a:t>
            </a:r>
          </a:p>
        </p:txBody>
      </p:sp>
    </p:spTree>
    <p:extLst>
      <p:ext uri="{BB962C8B-B14F-4D97-AF65-F5344CB8AC3E}">
        <p14:creationId xmlns:p14="http://schemas.microsoft.com/office/powerpoint/2010/main" val="3018388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为什么选这个课题呢，调查</a:t>
            </a:r>
            <a:r>
              <a:rPr lang="en-US" altLang="zh-CN"/>
              <a:t>1-3</a:t>
            </a:r>
            <a:r>
              <a:rPr lang="zh-CN" altLang="en-US"/>
              <a:t>月份的数据，发现在众多系列的产品中，</a:t>
            </a:r>
            <a:r>
              <a:rPr lang="en-US" altLang="zh-CN"/>
              <a:t>Q195φ6</a:t>
            </a:r>
            <a:r>
              <a:rPr lang="zh-CN" altLang="en-US"/>
              <a:t>的成材率很低，和公司指标存在较大差距。便决定以此为改善课题</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sym typeface="+mn-ea"/>
              </a:rPr>
              <a:t>用</a:t>
            </a:r>
            <a:r>
              <a:rPr>
                <a:sym typeface="+mn-ea"/>
              </a:rPr>
              <a:t>鱼骨图分析</a:t>
            </a:r>
            <a:r>
              <a:rPr lang="zh-CN">
                <a:sym typeface="+mn-ea"/>
              </a:rPr>
              <a:t>影响因子</a:t>
            </a:r>
            <a:endParaRPr lang="zh-CN"/>
          </a:p>
          <a:p>
            <a:endParaRPr 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sym typeface="+mn-ea"/>
              </a:rPr>
              <a:t>确定目标后，我们拟定了课题概要，在领导的支持下，组建了攻关团队。</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sym typeface="+mn-ea"/>
              </a:rPr>
              <a:t>按照三现两原的原则到现场进行调研及数据勘测。</a:t>
            </a:r>
            <a:endParaRPr lang="zh-CN" altLang="en-US"/>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幻灯片图像占位符 1"/>
          <p:cNvSpPr>
            <a:spLocks noGrp="1" noRot="1" noChangeAspect="1"/>
          </p:cNvSpPr>
          <p:nvPr>
            <p:ph type="sldImg" idx="2"/>
          </p:nvPr>
        </p:nvSpPr>
        <p:spPr/>
      </p:sp>
      <p:sp>
        <p:nvSpPr>
          <p:cNvPr id="1048842" name="文本占位符 2"/>
          <p:cNvSpPr>
            <a:spLocks noGrp="1"/>
          </p:cNvSpPr>
          <p:nvPr>
            <p:ph type="body" idx="3"/>
          </p:nvPr>
        </p:nvSpPr>
        <p:spPr/>
        <p:txBody>
          <a:bodyPr/>
          <a:lstStyle/>
          <a:p>
            <a:r>
              <a:rPr lang="zh-CN">
                <a:sym typeface="+mn-ea"/>
              </a:rPr>
              <a:t>通过</a:t>
            </a:r>
            <a:r>
              <a:rPr>
                <a:sym typeface="+mn-ea"/>
              </a:rPr>
              <a:t>矩阵分析</a:t>
            </a:r>
            <a:r>
              <a:rPr lang="zh-CN">
                <a:sym typeface="+mn-ea"/>
              </a:rPr>
              <a:t>对这</a:t>
            </a:r>
            <a:r>
              <a:rPr lang="en-US">
                <a:sym typeface="+mn-ea"/>
              </a:rPr>
              <a:t>26</a:t>
            </a:r>
            <a:r>
              <a:rPr>
                <a:sym typeface="+mn-ea"/>
              </a:rPr>
              <a:t>个影响因子</a:t>
            </a:r>
            <a:r>
              <a:rPr lang="zh-CN">
                <a:sym typeface="+mn-ea"/>
              </a:rPr>
              <a:t>进行打分</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幻灯片图像占位符 1"/>
          <p:cNvSpPr>
            <a:spLocks noGrp="1" noRot="1" noChangeAspect="1"/>
          </p:cNvSpPr>
          <p:nvPr>
            <p:ph type="sldImg" idx="2"/>
          </p:nvPr>
        </p:nvSpPr>
        <p:spPr/>
      </p:sp>
      <p:sp>
        <p:nvSpPr>
          <p:cNvPr id="1048842" name="文本占位符 2"/>
          <p:cNvSpPr>
            <a:spLocks noGrp="1"/>
          </p:cNvSpPr>
          <p:nvPr>
            <p:ph type="body" idx="3"/>
          </p:nvPr>
        </p:nvSpPr>
        <p:spPr/>
        <p:txBody>
          <a:bodyPr/>
          <a:lstStyle/>
          <a:p>
            <a:r>
              <a:rPr lang="zh-CN" altLang="en-US">
                <a:sym typeface="+mn-ea"/>
              </a:rPr>
              <a:t>再通过帕累托图，聚焦到了</a:t>
            </a:r>
            <a:r>
              <a:rPr lang="en-US" altLang="zh-CN">
                <a:sym typeface="+mn-ea"/>
              </a:rPr>
              <a:t>14</a:t>
            </a:r>
            <a:r>
              <a:rPr lang="zh-CN" altLang="en-US">
                <a:sym typeface="+mn-ea"/>
              </a:rPr>
              <a:t>个重要因子。</a:t>
            </a:r>
            <a:endParaRPr lang="zh-CN" altLang="en-US"/>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幻灯片图像占位符 1"/>
          <p:cNvSpPr>
            <a:spLocks noGrp="1" noRot="1" noChangeAspect="1"/>
          </p:cNvSpPr>
          <p:nvPr>
            <p:ph type="sldImg" idx="2"/>
          </p:nvPr>
        </p:nvSpPr>
        <p:spPr/>
      </p:sp>
      <p:sp>
        <p:nvSpPr>
          <p:cNvPr id="1048842" name="文本占位符 2"/>
          <p:cNvSpPr>
            <a:spLocks noGrp="1"/>
          </p:cNvSpPr>
          <p:nvPr>
            <p:ph type="body" idx="3"/>
          </p:nvPr>
        </p:nvSpPr>
        <p:spPr/>
        <p:txBody>
          <a:bodyPr/>
          <a:lstStyle/>
          <a:p>
            <a:r>
              <a:rPr lang="zh-CN" altLang="en-US"/>
              <a:t>首先进行穿水的改善，原控制阀到穿水箱距离较长，由于</a:t>
            </a:r>
            <a:r>
              <a:rPr lang="en-US" altLang="zh-CN"/>
              <a:t>φ6</a:t>
            </a:r>
            <a:r>
              <a:rPr lang="zh-CN" altLang="en-US"/>
              <a:t>钢材速度更快。导致线材头部</a:t>
            </a:r>
            <a:r>
              <a:rPr lang="en-US" altLang="zh-CN"/>
              <a:t>4-5</a:t>
            </a:r>
            <a:r>
              <a:rPr lang="zh-CN" altLang="en-US"/>
              <a:t>圈未能进行穿水，影响成品质量。于是我们重新规划现场布局，移动控制阀位置减少行程，解决了穿水不足的问题。</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09425-785C-191C-773C-D38C6147E39B}"/>
            </a:ext>
          </a:extLst>
        </p:cNvPr>
        <p:cNvGrpSpPr/>
        <p:nvPr/>
      </p:nvGrpSpPr>
      <p:grpSpPr>
        <a:xfrm>
          <a:off x="0" y="0"/>
          <a:ext cx="0" cy="0"/>
          <a:chOff x="0" y="0"/>
          <a:chExt cx="0" cy="0"/>
        </a:xfrm>
      </p:grpSpPr>
      <p:sp>
        <p:nvSpPr>
          <p:cNvPr id="1048841" name="幻灯片图像占位符 1">
            <a:extLst>
              <a:ext uri="{FF2B5EF4-FFF2-40B4-BE49-F238E27FC236}">
                <a16:creationId xmlns:a16="http://schemas.microsoft.com/office/drawing/2014/main" id="{39DAF9B6-0310-2EB1-B5F1-7BF041E5503F}"/>
              </a:ext>
            </a:extLst>
          </p:cNvPr>
          <p:cNvSpPr>
            <a:spLocks noGrp="1" noRot="1" noChangeAspect="1"/>
          </p:cNvSpPr>
          <p:nvPr>
            <p:ph type="sldImg" idx="2"/>
          </p:nvPr>
        </p:nvSpPr>
        <p:spPr/>
      </p:sp>
      <p:sp>
        <p:nvSpPr>
          <p:cNvPr id="1048842" name="文本占位符 2">
            <a:extLst>
              <a:ext uri="{FF2B5EF4-FFF2-40B4-BE49-F238E27FC236}">
                <a16:creationId xmlns:a16="http://schemas.microsoft.com/office/drawing/2014/main" id="{1C90C4BF-4E2A-CD49-1C4D-88687A98650F}"/>
              </a:ext>
            </a:extLst>
          </p:cNvPr>
          <p:cNvSpPr>
            <a:spLocks noGrp="1"/>
          </p:cNvSpPr>
          <p:nvPr>
            <p:ph type="body" idx="3"/>
          </p:nvPr>
        </p:nvSpPr>
        <p:spPr/>
        <p:txBody>
          <a:bodyPr/>
          <a:lstStyle/>
          <a:p>
            <a:r>
              <a:rPr lang="zh-CN" altLang="en-US"/>
              <a:t>首先进行穿水的改善，原控制阀到穿水箱距离较长，由于</a:t>
            </a:r>
            <a:r>
              <a:rPr lang="en-US" altLang="zh-CN"/>
              <a:t>φ6</a:t>
            </a:r>
            <a:r>
              <a:rPr lang="zh-CN" altLang="en-US"/>
              <a:t>钢材速度更快。导致线材头部</a:t>
            </a:r>
            <a:r>
              <a:rPr lang="en-US" altLang="zh-CN"/>
              <a:t>4-5</a:t>
            </a:r>
            <a:r>
              <a:rPr lang="zh-CN" altLang="en-US"/>
              <a:t>圈未能进行穿水，影响成品质量。于是我们重新规划现场布局，移动控制阀位置减少行程，解决了穿水不足的问题。</a:t>
            </a:r>
          </a:p>
        </p:txBody>
      </p:sp>
    </p:spTree>
    <p:extLst>
      <p:ext uri="{BB962C8B-B14F-4D97-AF65-F5344CB8AC3E}">
        <p14:creationId xmlns:p14="http://schemas.microsoft.com/office/powerpoint/2010/main" val="52288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9F03E-8C0A-340D-AD43-246807B2A183}"/>
            </a:ext>
          </a:extLst>
        </p:cNvPr>
        <p:cNvGrpSpPr/>
        <p:nvPr/>
      </p:nvGrpSpPr>
      <p:grpSpPr>
        <a:xfrm>
          <a:off x="0" y="0"/>
          <a:ext cx="0" cy="0"/>
          <a:chOff x="0" y="0"/>
          <a:chExt cx="0" cy="0"/>
        </a:xfrm>
      </p:grpSpPr>
      <p:sp>
        <p:nvSpPr>
          <p:cNvPr id="1048841" name="幻灯片图像占位符 1">
            <a:extLst>
              <a:ext uri="{FF2B5EF4-FFF2-40B4-BE49-F238E27FC236}">
                <a16:creationId xmlns:a16="http://schemas.microsoft.com/office/drawing/2014/main" id="{053DBEDA-84D6-C981-D466-37707E6566BE}"/>
              </a:ext>
            </a:extLst>
          </p:cNvPr>
          <p:cNvSpPr>
            <a:spLocks noGrp="1" noRot="1" noChangeAspect="1"/>
          </p:cNvSpPr>
          <p:nvPr>
            <p:ph type="sldImg" idx="2"/>
          </p:nvPr>
        </p:nvSpPr>
        <p:spPr/>
      </p:sp>
      <p:sp>
        <p:nvSpPr>
          <p:cNvPr id="1048842" name="文本占位符 2">
            <a:extLst>
              <a:ext uri="{FF2B5EF4-FFF2-40B4-BE49-F238E27FC236}">
                <a16:creationId xmlns:a16="http://schemas.microsoft.com/office/drawing/2014/main" id="{EEA64C44-3005-B5F4-B571-5C3E74C1BF72}"/>
              </a:ext>
            </a:extLst>
          </p:cNvPr>
          <p:cNvSpPr>
            <a:spLocks noGrp="1"/>
          </p:cNvSpPr>
          <p:nvPr>
            <p:ph type="body" idx="3"/>
          </p:nvPr>
        </p:nvSpPr>
        <p:spPr/>
        <p:txBody>
          <a:bodyPr/>
          <a:lstStyle/>
          <a:p>
            <a:r>
              <a:rPr lang="zh-CN" altLang="en-US"/>
              <a:t>首先进行穿水的改善，原控制阀到穿水箱距离较长，由于</a:t>
            </a:r>
            <a:r>
              <a:rPr lang="en-US" altLang="zh-CN"/>
              <a:t>φ6</a:t>
            </a:r>
            <a:r>
              <a:rPr lang="zh-CN" altLang="en-US"/>
              <a:t>钢材速度更快。导致线材头部</a:t>
            </a:r>
            <a:r>
              <a:rPr lang="en-US" altLang="zh-CN"/>
              <a:t>4-5</a:t>
            </a:r>
            <a:r>
              <a:rPr lang="zh-CN" altLang="en-US"/>
              <a:t>圈未能进行穿水，影响成品质量。于是我们重新规划现场布局，移动控制阀位置减少行程，解决了穿水不足的问题。</a:t>
            </a:r>
          </a:p>
        </p:txBody>
      </p:sp>
    </p:spTree>
    <p:extLst>
      <p:ext uri="{BB962C8B-B14F-4D97-AF65-F5344CB8AC3E}">
        <p14:creationId xmlns:p14="http://schemas.microsoft.com/office/powerpoint/2010/main" val="36072850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B4B36-72DA-1998-2B0E-0A5FD09563FA}"/>
            </a:ext>
          </a:extLst>
        </p:cNvPr>
        <p:cNvGrpSpPr/>
        <p:nvPr/>
      </p:nvGrpSpPr>
      <p:grpSpPr>
        <a:xfrm>
          <a:off x="0" y="0"/>
          <a:ext cx="0" cy="0"/>
          <a:chOff x="0" y="0"/>
          <a:chExt cx="0" cy="0"/>
        </a:xfrm>
      </p:grpSpPr>
      <p:sp>
        <p:nvSpPr>
          <p:cNvPr id="1048841" name="幻灯片图像占位符 1">
            <a:extLst>
              <a:ext uri="{FF2B5EF4-FFF2-40B4-BE49-F238E27FC236}">
                <a16:creationId xmlns:a16="http://schemas.microsoft.com/office/drawing/2014/main" id="{67583BD6-EFC8-0109-DDB9-66528BCD0CF0}"/>
              </a:ext>
            </a:extLst>
          </p:cNvPr>
          <p:cNvSpPr>
            <a:spLocks noGrp="1" noRot="1" noChangeAspect="1"/>
          </p:cNvSpPr>
          <p:nvPr>
            <p:ph type="sldImg" idx="2"/>
          </p:nvPr>
        </p:nvSpPr>
        <p:spPr/>
      </p:sp>
      <p:sp>
        <p:nvSpPr>
          <p:cNvPr id="1048842" name="文本占位符 2">
            <a:extLst>
              <a:ext uri="{FF2B5EF4-FFF2-40B4-BE49-F238E27FC236}">
                <a16:creationId xmlns:a16="http://schemas.microsoft.com/office/drawing/2014/main" id="{72AAECCD-991C-9A1C-6DFE-C2158A8F94BC}"/>
              </a:ext>
            </a:extLst>
          </p:cNvPr>
          <p:cNvSpPr>
            <a:spLocks noGrp="1"/>
          </p:cNvSpPr>
          <p:nvPr>
            <p:ph type="body" idx="3"/>
          </p:nvPr>
        </p:nvSpPr>
        <p:spPr/>
        <p:txBody>
          <a:bodyPr/>
          <a:lstStyle/>
          <a:p>
            <a:r>
              <a:rPr lang="zh-CN" altLang="en-US"/>
              <a:t>首先进行穿水的改善，原控制阀到穿水箱距离较长，由于</a:t>
            </a:r>
            <a:r>
              <a:rPr lang="en-US" altLang="zh-CN"/>
              <a:t>φ6</a:t>
            </a:r>
            <a:r>
              <a:rPr lang="zh-CN" altLang="en-US"/>
              <a:t>钢材速度更快。导致线材头部</a:t>
            </a:r>
            <a:r>
              <a:rPr lang="en-US" altLang="zh-CN"/>
              <a:t>4-5</a:t>
            </a:r>
            <a:r>
              <a:rPr lang="zh-CN" altLang="en-US"/>
              <a:t>圈未能进行穿水，影响成品质量。于是我们重新规划现场布局，移动控制阀位置减少行程，解决了穿水不足的问题。</a:t>
            </a:r>
          </a:p>
        </p:txBody>
      </p:sp>
    </p:spTree>
    <p:extLst>
      <p:ext uri="{BB962C8B-B14F-4D97-AF65-F5344CB8AC3E}">
        <p14:creationId xmlns:p14="http://schemas.microsoft.com/office/powerpoint/2010/main" val="1532109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B26C2-2E84-B8F1-82D0-088466EB9E31}"/>
            </a:ext>
          </a:extLst>
        </p:cNvPr>
        <p:cNvGrpSpPr/>
        <p:nvPr/>
      </p:nvGrpSpPr>
      <p:grpSpPr>
        <a:xfrm>
          <a:off x="0" y="0"/>
          <a:ext cx="0" cy="0"/>
          <a:chOff x="0" y="0"/>
          <a:chExt cx="0" cy="0"/>
        </a:xfrm>
      </p:grpSpPr>
      <p:sp>
        <p:nvSpPr>
          <p:cNvPr id="1048841" name="幻灯片图像占位符 1">
            <a:extLst>
              <a:ext uri="{FF2B5EF4-FFF2-40B4-BE49-F238E27FC236}">
                <a16:creationId xmlns:a16="http://schemas.microsoft.com/office/drawing/2014/main" id="{9B1B09DC-013E-8D50-3A3A-B999ADEFCF3F}"/>
              </a:ext>
            </a:extLst>
          </p:cNvPr>
          <p:cNvSpPr>
            <a:spLocks noGrp="1" noRot="1" noChangeAspect="1"/>
          </p:cNvSpPr>
          <p:nvPr>
            <p:ph type="sldImg" idx="2"/>
          </p:nvPr>
        </p:nvSpPr>
        <p:spPr/>
      </p:sp>
      <p:sp>
        <p:nvSpPr>
          <p:cNvPr id="1048842" name="文本占位符 2">
            <a:extLst>
              <a:ext uri="{FF2B5EF4-FFF2-40B4-BE49-F238E27FC236}">
                <a16:creationId xmlns:a16="http://schemas.microsoft.com/office/drawing/2014/main" id="{65D9CE19-8B1C-0AE6-8274-2256CCE81064}"/>
              </a:ext>
            </a:extLst>
          </p:cNvPr>
          <p:cNvSpPr>
            <a:spLocks noGrp="1"/>
          </p:cNvSpPr>
          <p:nvPr>
            <p:ph type="body" idx="3"/>
          </p:nvPr>
        </p:nvSpPr>
        <p:spPr/>
        <p:txBody>
          <a:bodyPr/>
          <a:lstStyle/>
          <a:p>
            <a:r>
              <a:rPr lang="zh-CN" altLang="en-US"/>
              <a:t>首先进行穿水的改善，原控制阀到穿水箱距离较长，由于</a:t>
            </a:r>
            <a:r>
              <a:rPr lang="en-US" altLang="zh-CN"/>
              <a:t>φ6</a:t>
            </a:r>
            <a:r>
              <a:rPr lang="zh-CN" altLang="en-US"/>
              <a:t>钢材速度更快。导致线材头部</a:t>
            </a:r>
            <a:r>
              <a:rPr lang="en-US" altLang="zh-CN"/>
              <a:t>4-5</a:t>
            </a:r>
            <a:r>
              <a:rPr lang="zh-CN" altLang="en-US"/>
              <a:t>圈未能进行穿水，影响成品质量。于是我们重新规划现场布局，移动控制阀位置减少行程，解决了穿水不足的问题。</a:t>
            </a:r>
          </a:p>
        </p:txBody>
      </p:sp>
    </p:spTree>
    <p:extLst>
      <p:ext uri="{BB962C8B-B14F-4D97-AF65-F5344CB8AC3E}">
        <p14:creationId xmlns:p14="http://schemas.microsoft.com/office/powerpoint/2010/main" val="3424541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D0C06-1686-DFCD-FF47-D7FFD9196F38}"/>
            </a:ext>
          </a:extLst>
        </p:cNvPr>
        <p:cNvGrpSpPr/>
        <p:nvPr/>
      </p:nvGrpSpPr>
      <p:grpSpPr>
        <a:xfrm>
          <a:off x="0" y="0"/>
          <a:ext cx="0" cy="0"/>
          <a:chOff x="0" y="0"/>
          <a:chExt cx="0" cy="0"/>
        </a:xfrm>
      </p:grpSpPr>
      <p:sp>
        <p:nvSpPr>
          <p:cNvPr id="1048841" name="幻灯片图像占位符 1">
            <a:extLst>
              <a:ext uri="{FF2B5EF4-FFF2-40B4-BE49-F238E27FC236}">
                <a16:creationId xmlns:a16="http://schemas.microsoft.com/office/drawing/2014/main" id="{AADE07A1-B4F9-BF24-F5E6-3807A6E95AB6}"/>
              </a:ext>
            </a:extLst>
          </p:cNvPr>
          <p:cNvSpPr>
            <a:spLocks noGrp="1" noRot="1" noChangeAspect="1"/>
          </p:cNvSpPr>
          <p:nvPr>
            <p:ph type="sldImg" idx="2"/>
          </p:nvPr>
        </p:nvSpPr>
        <p:spPr/>
      </p:sp>
      <p:sp>
        <p:nvSpPr>
          <p:cNvPr id="1048842" name="文本占位符 2">
            <a:extLst>
              <a:ext uri="{FF2B5EF4-FFF2-40B4-BE49-F238E27FC236}">
                <a16:creationId xmlns:a16="http://schemas.microsoft.com/office/drawing/2014/main" id="{BC61C1C8-3FE5-A3BF-D7B3-011BC08BE5D8}"/>
              </a:ext>
            </a:extLst>
          </p:cNvPr>
          <p:cNvSpPr>
            <a:spLocks noGrp="1"/>
          </p:cNvSpPr>
          <p:nvPr>
            <p:ph type="body" idx="3"/>
          </p:nvPr>
        </p:nvSpPr>
        <p:spPr/>
        <p:txBody>
          <a:bodyPr/>
          <a:lstStyle/>
          <a:p>
            <a:r>
              <a:rPr lang="zh-CN" altLang="en-US"/>
              <a:t>首先进行穿水的改善，原控制阀到穿水箱距离较长，由于</a:t>
            </a:r>
            <a:r>
              <a:rPr lang="en-US" altLang="zh-CN"/>
              <a:t>φ6</a:t>
            </a:r>
            <a:r>
              <a:rPr lang="zh-CN" altLang="en-US"/>
              <a:t>钢材速度更快。导致线材头部</a:t>
            </a:r>
            <a:r>
              <a:rPr lang="en-US" altLang="zh-CN"/>
              <a:t>4-5</a:t>
            </a:r>
            <a:r>
              <a:rPr lang="zh-CN" altLang="en-US"/>
              <a:t>圈未能进行穿水，影响成品质量。于是我们重新规划现场布局，移动控制阀位置减少行程，解决了穿水不足的问题。</a:t>
            </a:r>
          </a:p>
        </p:txBody>
      </p:sp>
    </p:spTree>
    <p:extLst>
      <p:ext uri="{BB962C8B-B14F-4D97-AF65-F5344CB8AC3E}">
        <p14:creationId xmlns:p14="http://schemas.microsoft.com/office/powerpoint/2010/main" val="592129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幻灯片图像占位符 1"/>
          <p:cNvSpPr>
            <a:spLocks noGrp="1" noRot="1" noChangeAspect="1"/>
          </p:cNvSpPr>
          <p:nvPr>
            <p:ph type="sldImg" idx="2"/>
          </p:nvPr>
        </p:nvSpPr>
        <p:spPr/>
      </p:sp>
      <p:sp>
        <p:nvSpPr>
          <p:cNvPr id="1048842" name="文本占位符 2"/>
          <p:cNvSpPr>
            <a:spLocks noGrp="1"/>
          </p:cNvSpPr>
          <p:nvPr>
            <p:ph type="body" idx="3"/>
          </p:nvPr>
        </p:nvSpPr>
        <p:spPr/>
        <p:txBody>
          <a:bodyPr/>
          <a:lstStyle/>
          <a:p>
            <a:r>
              <a:rPr lang="zh-CN" altLang="en-US"/>
              <a:t>接着进入风冷线。目前风冷线存在</a:t>
            </a:r>
            <a:r>
              <a:rPr lang="en-US" altLang="zh-CN"/>
              <a:t>3</a:t>
            </a:r>
            <a:r>
              <a:rPr lang="zh-CN" altLang="en-US"/>
              <a:t>个问题，一是密集辊间隙过大，线圈头部易进入间隙之中。其二风冷线尾部部分侧立辊冗余，易引发小规格钢材挂丝。第三点是跌落辊更换不规范，两侧辊道不对称，影响过钢流畅与平稳。</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幻灯片图像占位符 1"/>
          <p:cNvSpPr>
            <a:spLocks noGrp="1" noRot="1" noChangeAspect="1"/>
          </p:cNvSpPr>
          <p:nvPr>
            <p:ph type="sldImg" idx="2"/>
          </p:nvPr>
        </p:nvSpPr>
        <p:spPr/>
      </p:sp>
      <p:sp>
        <p:nvSpPr>
          <p:cNvPr id="1048842" name="文本占位符 2"/>
          <p:cNvSpPr>
            <a:spLocks noGrp="1"/>
          </p:cNvSpPr>
          <p:nvPr>
            <p:ph type="body" idx="3"/>
          </p:nvPr>
        </p:nvSpPr>
        <p:spPr/>
        <p:txBody>
          <a:bodyPr/>
          <a:lstStyle/>
          <a:p>
            <a:r>
              <a:rPr lang="zh-CN">
                <a:latin typeface="微软雅黑" panose="020B0503020204020204" charset="-122"/>
                <a:ea typeface="微软雅黑" panose="020B0503020204020204" charset="-122"/>
                <a:cs typeface="微软雅黑" panose="020B0503020204020204" charset="-122"/>
                <a:sym typeface="+mn-ea"/>
              </a:rPr>
              <a:t>针对这些问题我们进行逐一改善，首先更换了更大辊径的密集辊，使辊缝由原来的</a:t>
            </a:r>
            <a:r>
              <a:rPr lang="en-US" altLang="zh-CN">
                <a:latin typeface="微软雅黑" panose="020B0503020204020204" charset="-122"/>
                <a:ea typeface="微软雅黑" panose="020B0503020204020204" charset="-122"/>
                <a:cs typeface="微软雅黑" panose="020B0503020204020204" charset="-122"/>
                <a:sym typeface="+mn-ea"/>
              </a:rPr>
              <a:t>18mm</a:t>
            </a:r>
            <a:r>
              <a:rPr lang="zh-CN" altLang="en-US">
                <a:latin typeface="微软雅黑" panose="020B0503020204020204" charset="-122"/>
                <a:ea typeface="微软雅黑" panose="020B0503020204020204" charset="-122"/>
                <a:cs typeface="微软雅黑" panose="020B0503020204020204" charset="-122"/>
                <a:sym typeface="+mn-ea"/>
              </a:rPr>
              <a:t>变为</a:t>
            </a:r>
            <a:r>
              <a:rPr lang="en-US" altLang="zh-CN">
                <a:latin typeface="微软雅黑" panose="020B0503020204020204" charset="-122"/>
                <a:ea typeface="微软雅黑" panose="020B0503020204020204" charset="-122"/>
                <a:cs typeface="微软雅黑" panose="020B0503020204020204" charset="-122"/>
                <a:sym typeface="+mn-ea"/>
              </a:rPr>
              <a:t>8mm</a:t>
            </a:r>
            <a:r>
              <a:rPr lang="zh-CN" altLang="en-US">
                <a:latin typeface="微软雅黑" panose="020B0503020204020204" charset="-122"/>
                <a:ea typeface="微软雅黑" panose="020B0503020204020204" charset="-122"/>
                <a:cs typeface="微软雅黑" panose="020B0503020204020204" charset="-122"/>
                <a:sym typeface="+mn-ea"/>
              </a:rPr>
              <a:t>。对尾部</a:t>
            </a:r>
            <a:r>
              <a:rPr lang="zh-CN" altLang="en-US" spc="150">
                <a:solidFill>
                  <a:srgbClr val="20E4F9">
                    <a:lumMod val="50000"/>
                  </a:srgbClr>
                </a:solidFill>
                <a:uFillTx/>
                <a:latin typeface="思源黑体 CN Regular" panose="020B0500000000000000" charset="-122"/>
                <a:ea typeface="思源黑体 CN Regular" panose="020B0500000000000000" charset="-122"/>
                <a:sym typeface="+mn-ea"/>
              </a:rPr>
              <a:t>冗余的侧立辊进行拆除，减少挂丝的可能。规范更换跌落辊的标准，使两侧对称统一。</a:t>
            </a:r>
          </a:p>
          <a:p>
            <a:endParaRPr lang="zh-CN" altLang="en-US">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4BC2B-EB96-B655-DC59-69F6E5468994}"/>
            </a:ext>
          </a:extLst>
        </p:cNvPr>
        <p:cNvGrpSpPr/>
        <p:nvPr/>
      </p:nvGrpSpPr>
      <p:grpSpPr>
        <a:xfrm>
          <a:off x="0" y="0"/>
          <a:ext cx="0" cy="0"/>
          <a:chOff x="0" y="0"/>
          <a:chExt cx="0" cy="0"/>
        </a:xfrm>
      </p:grpSpPr>
      <p:sp>
        <p:nvSpPr>
          <p:cNvPr id="1048841" name="幻灯片图像占位符 1">
            <a:extLst>
              <a:ext uri="{FF2B5EF4-FFF2-40B4-BE49-F238E27FC236}">
                <a16:creationId xmlns:a16="http://schemas.microsoft.com/office/drawing/2014/main" id="{AAB19E75-D98F-FE63-88C3-1A2A85C91DB3}"/>
              </a:ext>
            </a:extLst>
          </p:cNvPr>
          <p:cNvSpPr>
            <a:spLocks noGrp="1" noRot="1" noChangeAspect="1"/>
          </p:cNvSpPr>
          <p:nvPr>
            <p:ph type="sldImg" idx="2"/>
          </p:nvPr>
        </p:nvSpPr>
        <p:spPr/>
      </p:sp>
      <p:sp>
        <p:nvSpPr>
          <p:cNvPr id="1048842" name="文本占位符 2">
            <a:extLst>
              <a:ext uri="{FF2B5EF4-FFF2-40B4-BE49-F238E27FC236}">
                <a16:creationId xmlns:a16="http://schemas.microsoft.com/office/drawing/2014/main" id="{E2AE5FAB-D3E9-0A9A-D01A-E2E65CBF0632}"/>
              </a:ext>
            </a:extLst>
          </p:cNvPr>
          <p:cNvSpPr>
            <a:spLocks noGrp="1"/>
          </p:cNvSpPr>
          <p:nvPr>
            <p:ph type="body" idx="3"/>
          </p:nvPr>
        </p:nvSpPr>
        <p:spPr/>
        <p:txBody>
          <a:bodyPr/>
          <a:lstStyle/>
          <a:p>
            <a:r>
              <a:rPr lang="zh-CN" altLang="en-US"/>
              <a:t>首先进行穿水的改善，原控制阀到穿水箱距离较长，由于</a:t>
            </a:r>
            <a:r>
              <a:rPr lang="en-US" altLang="zh-CN"/>
              <a:t>φ6</a:t>
            </a:r>
            <a:r>
              <a:rPr lang="zh-CN" altLang="en-US"/>
              <a:t>钢材速度更快。导致线材头部</a:t>
            </a:r>
            <a:r>
              <a:rPr lang="en-US" altLang="zh-CN"/>
              <a:t>4-5</a:t>
            </a:r>
            <a:r>
              <a:rPr lang="zh-CN" altLang="en-US"/>
              <a:t>圈未能进行穿水，影响成品质量。于是我们重新规划现场布局，移动控制阀位置减少行程，解决了穿水不足的问题。</a:t>
            </a:r>
          </a:p>
        </p:txBody>
      </p:sp>
    </p:spTree>
    <p:extLst>
      <p:ext uri="{BB962C8B-B14F-4D97-AF65-F5344CB8AC3E}">
        <p14:creationId xmlns:p14="http://schemas.microsoft.com/office/powerpoint/2010/main" val="17297504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幻灯片图像占位符 1"/>
          <p:cNvSpPr>
            <a:spLocks noGrp="1" noRot="1" noChangeAspect="1"/>
          </p:cNvSpPr>
          <p:nvPr>
            <p:ph type="sldImg" idx="2"/>
          </p:nvPr>
        </p:nvSpPr>
        <p:spPr/>
      </p:sp>
      <p:sp>
        <p:nvSpPr>
          <p:cNvPr id="1048842" name="文本占位符 2"/>
          <p:cNvSpPr>
            <a:spLocks noGrp="1"/>
          </p:cNvSpPr>
          <p:nvPr>
            <p:ph type="body" idx="3"/>
          </p:nvPr>
        </p:nvSpPr>
        <p:spPr/>
        <p:txBody>
          <a:bodyPr/>
          <a:lstStyle/>
          <a:p>
            <a:r>
              <a:rPr lang="zh-CN" altLang="en-US">
                <a:latin typeface="微软雅黑" panose="020B0503020204020204" charset="-122"/>
                <a:ea typeface="微软雅黑" panose="020B0503020204020204" charset="-122"/>
                <a:cs typeface="微软雅黑" panose="020B0503020204020204" charset="-122"/>
                <a:sym typeface="+mn-ea"/>
              </a:rPr>
              <a:t>通过如上的改善，现场生产有了明显好转。从视频可以看到，之前的吐丝圈型混乱，改善后有了明显好转。风冷线影响时间</a:t>
            </a:r>
            <a:r>
              <a:rPr lang="en-US" altLang="zh-CN">
                <a:latin typeface="微软雅黑" panose="020B0503020204020204" charset="-122"/>
                <a:ea typeface="微软雅黑" panose="020B0503020204020204" charset="-122"/>
                <a:cs typeface="微软雅黑" panose="020B0503020204020204" charset="-122"/>
                <a:sym typeface="+mn-ea"/>
              </a:rPr>
              <a:t>3</a:t>
            </a:r>
            <a:r>
              <a:rPr lang="zh-CN" altLang="en-US">
                <a:latin typeface="微软雅黑" panose="020B0503020204020204" charset="-122"/>
                <a:ea typeface="微软雅黑" panose="020B0503020204020204" charset="-122"/>
                <a:cs typeface="微软雅黑" panose="020B0503020204020204" charset="-122"/>
                <a:sym typeface="+mn-ea"/>
              </a:rPr>
              <a:t>月份为</a:t>
            </a:r>
            <a:r>
              <a:rPr lang="en-US" altLang="zh-CN">
                <a:latin typeface="微软雅黑" panose="020B0503020204020204" charset="-122"/>
                <a:ea typeface="微软雅黑" panose="020B0503020204020204" charset="-122"/>
                <a:cs typeface="微软雅黑" panose="020B0503020204020204" charset="-122"/>
                <a:sym typeface="+mn-ea"/>
              </a:rPr>
              <a:t>136</a:t>
            </a:r>
            <a:r>
              <a:rPr lang="zh-CN" altLang="en-US">
                <a:latin typeface="微软雅黑" panose="020B0503020204020204" charset="-122"/>
                <a:ea typeface="微软雅黑" panose="020B0503020204020204" charset="-122"/>
                <a:cs typeface="微软雅黑" panose="020B0503020204020204" charset="-122"/>
                <a:sym typeface="+mn-ea"/>
              </a:rPr>
              <a:t>分钟，</a:t>
            </a:r>
            <a:r>
              <a:rPr lang="en-US" altLang="zh-CN">
                <a:latin typeface="微软雅黑" panose="020B0503020204020204" charset="-122"/>
                <a:ea typeface="微软雅黑" panose="020B0503020204020204" charset="-122"/>
                <a:cs typeface="微软雅黑" panose="020B0503020204020204" charset="-122"/>
                <a:sym typeface="+mn-ea"/>
              </a:rPr>
              <a:t>6</a:t>
            </a:r>
            <a:r>
              <a:rPr lang="zh-CN" altLang="en-US">
                <a:latin typeface="微软雅黑" panose="020B0503020204020204" charset="-122"/>
                <a:ea typeface="微软雅黑" panose="020B0503020204020204" charset="-122"/>
                <a:cs typeface="微软雅黑" panose="020B0503020204020204" charset="-122"/>
                <a:sym typeface="+mn-ea"/>
              </a:rPr>
              <a:t>月无影响时间。</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03" name="幻灯片图像占位符 1"/>
          <p:cNvSpPr>
            <a:spLocks noGrp="1" noRot="1" noChangeAspect="1"/>
          </p:cNvSpPr>
          <p:nvPr>
            <p:ph type="sldImg" idx="2"/>
          </p:nvPr>
        </p:nvSpPr>
        <p:spPr/>
      </p:sp>
      <p:sp>
        <p:nvSpPr>
          <p:cNvPr id="1049304" name="文本占位符 2"/>
          <p:cNvSpPr>
            <a:spLocks noGrp="1"/>
          </p:cNvSpPr>
          <p:nvPr>
            <p:ph type="body" idx="3"/>
          </p:nvPr>
        </p:nvSpPr>
        <p:spPr/>
        <p:txBody>
          <a:bodyPr/>
          <a:lstStyle/>
          <a:p>
            <a:r>
              <a:rPr lang="zh-CN" altLang="en-US">
                <a:sym typeface="+mn-ea"/>
              </a:rPr>
              <a:t>由于四高炉的影响，二高线</a:t>
            </a:r>
            <a:r>
              <a:rPr lang="en-US" altLang="zh-CN">
                <a:sym typeface="+mn-ea"/>
              </a:rPr>
              <a:t>5</a:t>
            </a:r>
            <a:r>
              <a:rPr lang="zh-CN" altLang="en-US">
                <a:sym typeface="+mn-ea"/>
              </a:rPr>
              <a:t>月份未进行轧制，</a:t>
            </a:r>
            <a:r>
              <a:rPr lang="en-US" altLang="zh-CN">
                <a:sym typeface="+mn-ea"/>
              </a:rPr>
              <a:t>Q195φ6</a:t>
            </a:r>
            <a:r>
              <a:rPr lang="zh-CN" altLang="en-US">
                <a:sym typeface="+mn-ea"/>
              </a:rPr>
              <a:t>就</a:t>
            </a:r>
            <a:r>
              <a:rPr lang="en-US" altLang="zh-CN">
                <a:sym typeface="+mn-ea"/>
              </a:rPr>
              <a:t>6</a:t>
            </a:r>
            <a:r>
              <a:rPr lang="zh-CN" altLang="en-US">
                <a:sym typeface="+mn-ea"/>
              </a:rPr>
              <a:t>月</a:t>
            </a:r>
            <a:r>
              <a:rPr lang="en-US" altLang="zh-CN">
                <a:sym typeface="+mn-ea"/>
              </a:rPr>
              <a:t>8</a:t>
            </a:r>
            <a:r>
              <a:rPr lang="zh-CN" altLang="en-US">
                <a:sym typeface="+mn-ea"/>
              </a:rPr>
              <a:t>号、</a:t>
            </a:r>
            <a:r>
              <a:rPr lang="en-US" altLang="zh-CN">
                <a:sym typeface="+mn-ea"/>
              </a:rPr>
              <a:t>9</a:t>
            </a:r>
            <a:r>
              <a:rPr lang="zh-CN" altLang="en-US">
                <a:sym typeface="+mn-ea"/>
              </a:rPr>
              <a:t>号进行轧制。</a:t>
            </a:r>
            <a:r>
              <a:rPr lang="en-US" altLang="zh-CN">
                <a:sym typeface="+mn-ea"/>
              </a:rPr>
              <a:t>8</a:t>
            </a:r>
            <a:r>
              <a:rPr lang="zh-CN" altLang="en-US">
                <a:sym typeface="+mn-ea"/>
              </a:rPr>
              <a:t>号的成材率为</a:t>
            </a:r>
            <a:r>
              <a:rPr lang="en-US" altLang="zh-CN">
                <a:sym typeface="+mn-ea"/>
              </a:rPr>
              <a:t>98.23%,</a:t>
            </a:r>
            <a:r>
              <a:rPr lang="zh-CN" altLang="en-US">
                <a:sym typeface="+mn-ea"/>
              </a:rPr>
              <a:t>达到了课程目标。</a:t>
            </a:r>
            <a:r>
              <a:rPr lang="en-US" altLang="zh-CN">
                <a:sym typeface="+mn-ea"/>
              </a:rPr>
              <a:t>9</a:t>
            </a:r>
            <a:r>
              <a:rPr lang="zh-CN" altLang="en-US">
                <a:sym typeface="+mn-ea"/>
              </a:rPr>
              <a:t>号由于工作人员操作问题，出现了较大的生产事故，成材率只有</a:t>
            </a:r>
            <a:r>
              <a:rPr lang="en-US" altLang="zh-CN">
                <a:sym typeface="+mn-ea"/>
              </a:rPr>
              <a:t>91.21%,</a:t>
            </a:r>
            <a:r>
              <a:rPr lang="zh-CN" altLang="en-US">
                <a:sym typeface="+mn-ea"/>
              </a:rPr>
              <a:t>这是当时的事故分析。验证数据较少，后续我们将持续进行跟踪。</a:t>
            </a:r>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98800" y="914400"/>
            <a:ext cx="9799200" cy="2570400"/>
          </a:xfrm>
        </p:spPr>
        <p:txBody>
          <a:bodyPr lIns="90000" tIns="46800" rIns="90000" bIns="46800" anchor="b" anchorCtr="0">
            <a:normAutofit/>
          </a:bodyPr>
          <a:lstStyle>
            <a:lvl1pPr algn="ctr">
              <a:defRPr sz="6000"/>
            </a:lvl1p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4" name="页脚占位符 3"/>
          <p:cNvSpPr>
            <a:spLocks noGrp="1"/>
          </p:cNvSpPr>
          <p:nvPr>
            <p:ph type="ftr" sz="quarter" idx="11"/>
          </p:nvPr>
        </p:nvSpPr>
        <p:spPr/>
        <p:txBody>
          <a:bodyPr/>
          <a:lstStyle/>
          <a:p>
            <a:pPr fontAlgn="auto"/>
            <a:endParaRPr lang="zh-CN" altLang="en-US" strike="noStrike" noProof="1"/>
          </a:p>
        </p:txBody>
      </p:sp>
      <p:sp>
        <p:nvSpPr>
          <p:cNvPr id="5" name="灯片编号占位符 4"/>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内容占位符 2"/>
          <p:cNvSpPr>
            <a:spLocks noGrp="1"/>
          </p:cNvSpPr>
          <p:nvPr>
            <p:ph idx="1"/>
          </p:nvPr>
        </p:nvSpPr>
        <p:spPr>
          <a:xfrm>
            <a:off x="608400" y="1490400"/>
            <a:ext cx="10969200" cy="4759200"/>
          </a:xfrm>
        </p:spPr>
        <p:txBody>
          <a:bodyPr vert="horz" lIns="90000" tIns="46800" rIns="90000" bIns="4680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990800" y="3848400"/>
            <a:ext cx="7768800" cy="766800"/>
          </a:xfrm>
        </p:spPr>
        <p:txBody>
          <a:bodyPr lIns="90000" tIns="46800" rIns="90000" bIns="46800" anchor="b" anchorCtr="0">
            <a:normAutofit/>
          </a:bodyPr>
          <a:lstStyle>
            <a:lvl1pPr>
              <a:defRPr sz="4400"/>
            </a:lvl1pPr>
          </a:lstStyle>
          <a:p>
            <a:pPr fontAlgn="auto"/>
            <a:r>
              <a:rPr lang="zh-CN" altLang="en-US" strike="noStrike" noProof="1"/>
              <a:t>单击此处编辑标题</a:t>
            </a:r>
          </a:p>
        </p:txBody>
      </p:sp>
      <p:sp>
        <p:nvSpPr>
          <p:cNvPr id="3" name="文本占位符 2"/>
          <p:cNvSpPr>
            <a:spLocks noGrp="1"/>
          </p:cNvSpPr>
          <p:nvPr>
            <p:ph type="body" idx="1" hasCustomPrompt="1"/>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auto"/>
            <a:r>
              <a:rPr lang="zh-CN" altLang="en-US" strike="noStrike" noProof="1"/>
              <a:t>单击此处编辑文本</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内容占位符 2"/>
          <p:cNvSpPr>
            <a:spLocks noGrp="1"/>
          </p:cNvSpPr>
          <p:nvPr>
            <p:ph sz="half" idx="1"/>
          </p:nvPr>
        </p:nvSpPr>
        <p:spPr>
          <a:xfrm>
            <a:off x="608400" y="1501200"/>
            <a:ext cx="5176800" cy="4748400"/>
          </a:xfrm>
        </p:spPr>
        <p:txBody>
          <a:bodyPr vert="horz" lIns="90000" tIns="46800" rIns="90000" bIns="4680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6411600" y="1501200"/>
            <a:ext cx="5176800" cy="4748400"/>
          </a:xfrm>
        </p:spPr>
        <p:txBody>
          <a:bodyPr lIns="90000" tIns="46800" rIns="90000" bIns="4680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6" name="页脚占位符 5"/>
          <p:cNvSpPr>
            <a:spLocks noGrp="1"/>
          </p:cNvSpPr>
          <p:nvPr>
            <p:ph type="ftr" sz="quarter" idx="11"/>
          </p:nvPr>
        </p:nvSpPr>
        <p:spPr/>
        <p:txBody>
          <a:bodyPr/>
          <a:lstStyle/>
          <a:p>
            <a:pPr fontAlgn="auto"/>
            <a:endParaRPr lang="zh-CN" altLang="en-US" strike="noStrike" noProof="1"/>
          </a:p>
        </p:txBody>
      </p:sp>
      <p:sp>
        <p:nvSpPr>
          <p:cNvPr id="7" name="灯片编号占位符 6"/>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文本占位符 2"/>
          <p:cNvSpPr>
            <a:spLocks noGrp="1"/>
          </p:cNvSpPr>
          <p:nvPr>
            <p:ph type="body" idx="1" hasCustomPrompt="1"/>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单击此处编辑文本</a:t>
            </a:r>
          </a:p>
        </p:txBody>
      </p:sp>
      <p:sp>
        <p:nvSpPr>
          <p:cNvPr id="4" name="内容占位符 3"/>
          <p:cNvSpPr>
            <a:spLocks noGrp="1"/>
          </p:cNvSpPr>
          <p:nvPr>
            <p:ph sz="half" idx="2"/>
          </p:nvPr>
        </p:nvSpPr>
        <p:spPr>
          <a:xfrm>
            <a:off x="608400" y="1854000"/>
            <a:ext cx="5342400" cy="4395600"/>
          </a:xfrm>
        </p:spPr>
        <p:txBody>
          <a:bodyPr vert="horz" lIns="101600" tIns="0" rIns="82550" bIns="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hasCustomPrompt="1"/>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单击此处编辑文本</a:t>
            </a:r>
          </a:p>
        </p:txBody>
      </p:sp>
      <p:sp>
        <p:nvSpPr>
          <p:cNvPr id="6" name="内容占位符 5"/>
          <p:cNvSpPr>
            <a:spLocks noGrp="1"/>
          </p:cNvSpPr>
          <p:nvPr>
            <p:ph sz="quarter" idx="4"/>
          </p:nvPr>
        </p:nvSpPr>
        <p:spPr>
          <a:xfrm>
            <a:off x="6235750" y="1854000"/>
            <a:ext cx="5342400" cy="4395600"/>
          </a:xfrm>
        </p:spPr>
        <p:txBody>
          <a:bodyPr vert="horz" lIns="101600" tIns="0" rIns="82550" bIns="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8" name="页脚占位符 7"/>
          <p:cNvSpPr>
            <a:spLocks noGrp="1"/>
          </p:cNvSpPr>
          <p:nvPr>
            <p:ph type="ftr" sz="quarter" idx="11"/>
          </p:nvPr>
        </p:nvSpPr>
        <p:spPr/>
        <p:txBody>
          <a:bodyPr/>
          <a:lstStyle/>
          <a:p>
            <a:pPr fontAlgn="auto"/>
            <a:endParaRPr lang="zh-CN" altLang="en-US" strike="noStrike" noProof="1"/>
          </a:p>
        </p:txBody>
      </p:sp>
      <p:sp>
        <p:nvSpPr>
          <p:cNvPr id="9" name="灯片编号占位符 8"/>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4" name="页脚占位符 3"/>
          <p:cNvSpPr>
            <a:spLocks noGrp="1"/>
          </p:cNvSpPr>
          <p:nvPr>
            <p:ph type="ftr" sz="quarter" idx="11"/>
          </p:nvPr>
        </p:nvSpPr>
        <p:spPr/>
        <p:txBody>
          <a:bodyPr/>
          <a:lstStyle/>
          <a:p>
            <a:pPr fontAlgn="auto"/>
            <a:endParaRPr lang="zh-CN" altLang="en-US" strike="noStrike" noProof="1"/>
          </a:p>
        </p:txBody>
      </p:sp>
      <p:sp>
        <p:nvSpPr>
          <p:cNvPr id="5" name="灯片编号占位符 4"/>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3" name="页脚占位符 2"/>
          <p:cNvSpPr>
            <a:spLocks noGrp="1"/>
          </p:cNvSpPr>
          <p:nvPr>
            <p:ph type="ftr" sz="quarter" idx="11"/>
          </p:nvPr>
        </p:nvSpPr>
        <p:spPr/>
        <p:txBody>
          <a:bodyPr/>
          <a:lstStyle/>
          <a:p>
            <a:pPr fontAlgn="auto"/>
            <a:endParaRPr lang="zh-CN" altLang="en-US" strike="noStrike" noProof="1"/>
          </a:p>
        </p:txBody>
      </p:sp>
      <p:sp>
        <p:nvSpPr>
          <p:cNvPr id="4" name="灯片编号占位符 3"/>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608400" y="1555200"/>
            <a:ext cx="5233077" cy="4608000"/>
          </a:xfrm>
        </p:spPr>
        <p:txBody>
          <a:bodyPr vert="horz" lIns="90000" tIns="46800" rIns="90000" bIns="46800" rtlCol="0">
            <a:normAutofit/>
          </a:bodyPr>
          <a:lstStyle>
            <a:lvl1pPr>
              <a:buNone/>
              <a:defRPr sz="1600"/>
            </a:lvl1pPr>
          </a:lstStyle>
          <a:p>
            <a:pPr lvl="0" fontAlgn="auto"/>
            <a:endParaRPr lang="zh-CN" altLang="en-US" strike="noStrike" noProof="1"/>
          </a:p>
        </p:txBody>
      </p:sp>
      <p:sp>
        <p:nvSpPr>
          <p:cNvPr id="4" name="文本占位符 3"/>
          <p:cNvSpPr>
            <a:spLocks noGrp="1"/>
          </p:cNvSpPr>
          <p:nvPr>
            <p:ph type="body" sz="half" idx="2"/>
          </p:nvPr>
        </p:nvSpPr>
        <p:spPr>
          <a:xfrm>
            <a:off x="6350400" y="1555200"/>
            <a:ext cx="5227200" cy="4608000"/>
          </a:xfrm>
        </p:spPr>
        <p:txBody>
          <a:bodyPr vert="horz" lIns="90000" tIns="46800" rIns="90000" bIns="46800" rtlCol="0">
            <a:normAutofit/>
          </a:bodyPr>
          <a:lstStyle>
            <a:lvl1pPr>
              <a:buNone/>
              <a:defRPr sz="1600"/>
            </a:lvl1pPr>
          </a:lstStyle>
          <a:p>
            <a:pPr lvl="0" fontAlgn="auto"/>
            <a:r>
              <a:rPr lang="zh-CN" altLang="en-US" strike="noStrike" noProof="1"/>
              <a:t>单击此处编辑母版文本样式</a:t>
            </a:r>
          </a:p>
        </p:txBody>
      </p:sp>
      <p:sp>
        <p:nvSpPr>
          <p:cNvPr id="9" name="标题 8"/>
          <p:cNvSpPr>
            <a:spLocks noGrp="1"/>
          </p:cNvSpPr>
          <p:nvPr>
            <p:ph type="title"/>
          </p:nvPr>
        </p:nvSpPr>
        <p:spPr/>
        <p:txBody>
          <a:bodyPr/>
          <a:lstStyle/>
          <a:p>
            <a:pPr fontAlgn="auto"/>
            <a:r>
              <a:rPr lang="zh-CN" altLang="en-US" strike="noStrike" noProof="1"/>
              <a:t>单击此处编辑母版标题样式</a:t>
            </a:r>
          </a:p>
        </p:txBody>
      </p:sp>
      <p:sp>
        <p:nvSpPr>
          <p:cNvPr id="2" name="日期占位符 1"/>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10234800" y="914400"/>
            <a:ext cx="1044000" cy="5029200"/>
          </a:xfrm>
        </p:spPr>
        <p:txBody>
          <a:bodyPr vert="eaVert" lIns="90000" tIns="46800" rIns="90000" bIns="46800" rtlCol="0" anchor="ctr" anchorCtr="0">
            <a:normAutofit/>
          </a:bodyPr>
          <a:lstStyle>
            <a:lvl1pPr>
              <a:buNone/>
              <a:defRPr sz="2800"/>
            </a:lvl1pPr>
          </a:lstStyle>
          <a:p>
            <a:pPr lvl="0" fontAlgn="auto"/>
            <a:r>
              <a:rPr lang="zh-CN" altLang="en-US" strike="noStrike" noProof="1"/>
              <a:t>单击此处编辑标题</a:t>
            </a:r>
          </a:p>
        </p:txBody>
      </p:sp>
      <p:sp>
        <p:nvSpPr>
          <p:cNvPr id="3" name="竖排文字占位符 2"/>
          <p:cNvSpPr>
            <a:spLocks noGrp="1"/>
          </p:cNvSpPr>
          <p:nvPr>
            <p:ph type="body" orient="vert" idx="1"/>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608400" y="774000"/>
            <a:ext cx="10972800" cy="5482800"/>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2" name="日期占位符 1"/>
          <p:cNvSpPr>
            <a:spLocks noGrp="1"/>
          </p:cNvSpPr>
          <p:nvPr>
            <p:ph type="dt" sz="half" idx="14"/>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3" name="页脚占位符 2"/>
          <p:cNvSpPr>
            <a:spLocks noGrp="1"/>
          </p:cNvSpPr>
          <p:nvPr>
            <p:ph type="ftr" sz="quarter" idx="15"/>
          </p:nvPr>
        </p:nvSpPr>
        <p:spPr/>
        <p:txBody>
          <a:bodyPr/>
          <a:lstStyle/>
          <a:p>
            <a:pPr fontAlgn="auto"/>
            <a:endParaRPr lang="zh-CN" altLang="en-US" strike="noStrike" noProof="1"/>
          </a:p>
        </p:txBody>
      </p:sp>
      <p:sp>
        <p:nvSpPr>
          <p:cNvPr id="4" name="灯片编号占位符 3"/>
          <p:cNvSpPr>
            <a:spLocks noGrp="1"/>
          </p:cNvSpPr>
          <p:nvPr>
            <p:ph type="sldNum" sz="quarter" idx="16"/>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198800" y="2484000"/>
            <a:ext cx="9799200" cy="1018800"/>
          </a:xfrm>
        </p:spPr>
        <p:txBody>
          <a:bodyPr vert="horz" lIns="90000" tIns="46800" rIns="90000" bIns="46800" rtlCol="0" anchor="t" anchorCtr="0">
            <a:normAutofit/>
          </a:bodyPr>
          <a:lstStyle>
            <a:lvl1pPr algn="ctr">
              <a:defRPr sz="6000"/>
            </a:lvl1pPr>
          </a:lstStyle>
          <a:p>
            <a:pPr lvl="0" fontAlgn="auto"/>
            <a:r>
              <a:rPr lang="zh-CN" altLang="en-US" strike="noStrike" noProof="1"/>
              <a:t>单击此处编辑标题</a:t>
            </a:r>
          </a:p>
        </p:txBody>
      </p:sp>
      <p:sp>
        <p:nvSpPr>
          <p:cNvPr id="7" name="文本占位符 6"/>
          <p:cNvSpPr>
            <a:spLocks noGrp="1"/>
          </p:cNvSpPr>
          <p:nvPr>
            <p:ph type="body" sz="quarter" idx="13"/>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fontAlgn="auto"/>
            <a:r>
              <a:rPr lang="zh-CN" altLang="en-US" strike="noStrike" noProof="1"/>
              <a:t>单击此处编辑母版文本样式</a:t>
            </a:r>
          </a:p>
        </p:txBody>
      </p:sp>
      <p:sp>
        <p:nvSpPr>
          <p:cNvPr id="3" name="日期占位符 2"/>
          <p:cNvSpPr>
            <a:spLocks noGrp="1"/>
          </p:cNvSpPr>
          <p:nvPr>
            <p:ph type="dt" sz="half" idx="14"/>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4" name="页脚占位符 3"/>
          <p:cNvSpPr>
            <a:spLocks noGrp="1"/>
          </p:cNvSpPr>
          <p:nvPr>
            <p:ph type="ftr" sz="quarter" idx="15"/>
          </p:nvPr>
        </p:nvSpPr>
        <p:spPr/>
        <p:txBody>
          <a:bodyPr/>
          <a:lstStyle/>
          <a:p>
            <a:pPr fontAlgn="auto"/>
            <a:endParaRPr lang="zh-CN" altLang="en-US" strike="noStrike" noProof="1"/>
          </a:p>
        </p:txBody>
      </p:sp>
      <p:sp>
        <p:nvSpPr>
          <p:cNvPr id="5" name="灯片编号占位符 4"/>
          <p:cNvSpPr>
            <a:spLocks noGrp="1"/>
          </p:cNvSpPr>
          <p:nvPr>
            <p:ph type="sldNum" sz="quarter" idx="16"/>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Closing">
    <p:bg>
      <p:bgPr>
        <a:solidFill>
          <a:schemeClr val="accent1">
            <a:lumMod val="75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834AD0E-F0BE-023A-B148-E31A8196F336}"/>
              </a:ext>
            </a:extLst>
          </p:cNvPr>
          <p:cNvGrpSpPr/>
          <p:nvPr userDrawn="1"/>
        </p:nvGrpSpPr>
        <p:grpSpPr>
          <a:xfrm>
            <a:off x="0" y="0"/>
            <a:ext cx="6448425" cy="6858000"/>
            <a:chOff x="0" y="0"/>
            <a:chExt cx="6448425" cy="6858000"/>
          </a:xfrm>
        </p:grpSpPr>
        <p:sp>
          <p:nvSpPr>
            <p:cNvPr id="3" name="Freeform: Shape 2">
              <a:extLst>
                <a:ext uri="{FF2B5EF4-FFF2-40B4-BE49-F238E27FC236}">
                  <a16:creationId xmlns:a16="http://schemas.microsoft.com/office/drawing/2014/main" id="{CD1ADA1E-FFA2-E951-D058-E6BB5038ECD4}"/>
                </a:ext>
              </a:extLst>
            </p:cNvPr>
            <p:cNvSpPr/>
            <p:nvPr userDrawn="1"/>
          </p:nvSpPr>
          <p:spPr>
            <a:xfrm>
              <a:off x="0" y="0"/>
              <a:ext cx="6448425" cy="6858000"/>
            </a:xfrm>
            <a:custGeom>
              <a:avLst/>
              <a:gdLst>
                <a:gd name="connsiteX0" fmla="*/ 0 w 6448425"/>
                <a:gd name="connsiteY0" fmla="*/ 0 h 6858000"/>
                <a:gd name="connsiteX1" fmla="*/ 6448425 w 6448425"/>
                <a:gd name="connsiteY1" fmla="*/ 0 h 6858000"/>
                <a:gd name="connsiteX2" fmla="*/ 6297393 w 6448425"/>
                <a:gd name="connsiteY2" fmla="*/ 212387 h 6858000"/>
                <a:gd name="connsiteX3" fmla="*/ 5314854 w 6448425"/>
                <a:gd name="connsiteY3" fmla="*/ 3429000 h 6858000"/>
                <a:gd name="connsiteX4" fmla="*/ 6297393 w 6448425"/>
                <a:gd name="connsiteY4" fmla="*/ 6645613 h 6858000"/>
                <a:gd name="connsiteX5" fmla="*/ 6448425 w 6448425"/>
                <a:gd name="connsiteY5" fmla="*/ 6858000 h 6858000"/>
                <a:gd name="connsiteX6" fmla="*/ 0 w 64484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48425" h="6858000">
                  <a:moveTo>
                    <a:pt x="0" y="0"/>
                  </a:moveTo>
                  <a:lnTo>
                    <a:pt x="6448425" y="0"/>
                  </a:lnTo>
                  <a:lnTo>
                    <a:pt x="6297393" y="212387"/>
                  </a:lnTo>
                  <a:cubicBezTo>
                    <a:pt x="5677069" y="1130588"/>
                    <a:pt x="5314854" y="2237494"/>
                    <a:pt x="5314854" y="3429000"/>
                  </a:cubicBezTo>
                  <a:cubicBezTo>
                    <a:pt x="5314854" y="4620506"/>
                    <a:pt x="5677069" y="5727412"/>
                    <a:pt x="6297393" y="6645613"/>
                  </a:cubicBezTo>
                  <a:lnTo>
                    <a:pt x="6448425" y="6858000"/>
                  </a:lnTo>
                  <a:lnTo>
                    <a:pt x="0" y="6858000"/>
                  </a:lnTo>
                  <a:close/>
                </a:path>
              </a:pathLst>
            </a:custGeom>
            <a:blipFill rotWithShape="0">
              <a:blip r:embed="rId2"/>
              <a:srcRect/>
              <a:stretch>
                <a:fillRect l="-319" r="-59199"/>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zh-CN" altLang="en-US"/>
            </a:p>
          </p:txBody>
        </p:sp>
        <p:sp>
          <p:nvSpPr>
            <p:cNvPr id="6" name="Rectangle: Rounded Corners 5">
              <a:extLst>
                <a:ext uri="{FF2B5EF4-FFF2-40B4-BE49-F238E27FC236}">
                  <a16:creationId xmlns:a16="http://schemas.microsoft.com/office/drawing/2014/main" id="{425E4646-41CD-2435-36B4-17546B1C20CD}"/>
                </a:ext>
              </a:extLst>
            </p:cNvPr>
            <p:cNvSpPr>
              <a:spLocks noChangeAspect="1"/>
            </p:cNvSpPr>
            <p:nvPr userDrawn="1"/>
          </p:nvSpPr>
          <p:spPr>
            <a:xfrm>
              <a:off x="4495798" y="2628900"/>
              <a:ext cx="1600202" cy="1600200"/>
            </a:xfrm>
            <a:prstGeom prst="roundRect">
              <a:avLst>
                <a:gd name="adj" fmla="val 50000"/>
              </a:avLst>
            </a:prstGeom>
            <a:gradFill>
              <a:gsLst>
                <a:gs pos="0">
                  <a:schemeClr val="accent1">
                    <a:lumMod val="60000"/>
                    <a:lumOff val="40000"/>
                  </a:schemeClr>
                </a:gs>
                <a:gs pos="50000">
                  <a:schemeClr val="accent1"/>
                </a:gs>
              </a:gsLst>
              <a:lin ang="2700000" scaled="0"/>
            </a:gradFill>
            <a:ln w="6055" cap="flat">
              <a:noFill/>
              <a:prstDash val="solid"/>
              <a:miter/>
            </a:ln>
          </p:spPr>
          <p:txBody>
            <a:bodyPr lIns="108000" tIns="108000" rIns="108000" bIns="108000"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 name="Rectangle: Rounded Corners 7">
              <a:extLst>
                <a:ext uri="{FF2B5EF4-FFF2-40B4-BE49-F238E27FC236}">
                  <a16:creationId xmlns:a16="http://schemas.microsoft.com/office/drawing/2014/main" id="{DBB5A27D-5643-4C4A-B280-6C58F90DBCBF}"/>
                </a:ext>
              </a:extLst>
            </p:cNvPr>
            <p:cNvSpPr>
              <a:spLocks noChangeAspect="1"/>
            </p:cNvSpPr>
            <p:nvPr userDrawn="1"/>
          </p:nvSpPr>
          <p:spPr>
            <a:xfrm>
              <a:off x="3043516" y="3111500"/>
              <a:ext cx="635002" cy="635000"/>
            </a:xfrm>
            <a:prstGeom prst="roundRect">
              <a:avLst>
                <a:gd name="adj" fmla="val 50000"/>
              </a:avLst>
            </a:prstGeom>
            <a:solidFill>
              <a:schemeClr val="accent2"/>
            </a:solidFill>
            <a:ln w="6055" cap="flat">
              <a:noFill/>
              <a:prstDash val="solid"/>
              <a:miter/>
            </a:ln>
          </p:spPr>
          <p:txBody>
            <a:bodyPr lIns="108000" tIns="108000" rIns="108000" bIns="108000"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5" name="Title 4"/>
          <p:cNvSpPr>
            <a:spLocks noGrp="1"/>
          </p:cNvSpPr>
          <p:nvPr>
            <p:ph type="title" hasCustomPrompt="1"/>
          </p:nvPr>
        </p:nvSpPr>
        <p:spPr>
          <a:xfrm>
            <a:off x="6096000" y="1262977"/>
            <a:ext cx="5422900" cy="2734915"/>
          </a:xfrm>
          <a:prstGeom prst="rect">
            <a:avLst/>
          </a:prstGeom>
        </p:spPr>
        <p:txBody>
          <a:bodyPr wrap="square" anchor="b">
            <a:normAutofit/>
          </a:bodyPr>
          <a:lstStyle>
            <a:lvl1pPr algn="ctr">
              <a:lnSpc>
                <a:spcPct val="100000"/>
              </a:lnSpc>
              <a:defRPr sz="6000">
                <a:ln w="19050">
                  <a:noFill/>
                </a:ln>
                <a:solidFill>
                  <a:schemeClr val="tx1"/>
                </a:solidFill>
              </a:defRPr>
            </a:lvl1pPr>
          </a:lstStyle>
          <a:p>
            <a:pPr lvl="0"/>
            <a:r>
              <a:rPr lang="en-US"/>
              <a:t>Click to add title</a:t>
            </a:r>
          </a:p>
        </p:txBody>
      </p:sp>
      <p:sp>
        <p:nvSpPr>
          <p:cNvPr id="4" name="Text Placeholder 3"/>
          <p:cNvSpPr>
            <a:spLocks noGrp="1"/>
          </p:cNvSpPr>
          <p:nvPr>
            <p:ph type="body" sz="quarter" idx="13" hasCustomPrompt="1"/>
          </p:nvPr>
        </p:nvSpPr>
        <p:spPr>
          <a:xfrm>
            <a:off x="9220460" y="5857100"/>
            <a:ext cx="1698670" cy="276999"/>
          </a:xfrm>
          <a:prstGeom prst="rect">
            <a:avLst/>
          </a:prstGeom>
        </p:spPr>
        <p:txBody>
          <a:bodyPr wrap="square" lIns="90000">
            <a:normAutofit/>
          </a:bodyPr>
          <a:lstStyle>
            <a:lvl1pPr marL="0" indent="0" algn="l">
              <a:lnSpc>
                <a:spcPct val="100000"/>
              </a:lnSpc>
              <a:buNone/>
              <a:defRPr sz="1200"/>
            </a:lvl1pPr>
          </a:lstStyle>
          <a:p>
            <a:pPr lvl="0"/>
            <a:r>
              <a:rPr lang="en-US"/>
              <a:t>Presenter name</a:t>
            </a:r>
          </a:p>
        </p:txBody>
      </p:sp>
      <p:sp>
        <p:nvSpPr>
          <p:cNvPr id="7" name="Text Placeholder 6"/>
          <p:cNvSpPr>
            <a:spLocks noGrp="1"/>
          </p:cNvSpPr>
          <p:nvPr>
            <p:ph type="body" sz="quarter" idx="14" hasCustomPrompt="1"/>
          </p:nvPr>
        </p:nvSpPr>
        <p:spPr>
          <a:xfrm>
            <a:off x="6448425" y="5857101"/>
            <a:ext cx="1698670" cy="276999"/>
          </a:xfrm>
          <a:prstGeom prst="rect">
            <a:avLst/>
          </a:prstGeom>
        </p:spPr>
        <p:txBody>
          <a:bodyPr wrap="none">
            <a:normAutofit/>
          </a:bodyPr>
          <a:lstStyle>
            <a:lvl1pPr marL="0" indent="0" algn="l">
              <a:lnSpc>
                <a:spcPct val="100000"/>
              </a:lnSpc>
              <a:buNone/>
              <a:defRPr sz="1200"/>
            </a:lvl1pPr>
          </a:lstStyle>
          <a:p>
            <a:pPr lvl="0"/>
            <a:r>
              <a:rPr lang="en-US"/>
              <a:t>www.officeplus.cn</a:t>
            </a:r>
          </a:p>
        </p:txBody>
      </p:sp>
    </p:spTree>
    <p:extLst>
      <p:ext uri="{BB962C8B-B14F-4D97-AF65-F5344CB8AC3E}">
        <p14:creationId xmlns:p14="http://schemas.microsoft.com/office/powerpoint/2010/main" val="206164941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98800" y="914400"/>
            <a:ext cx="9799200" cy="2570400"/>
          </a:xfrm>
        </p:spPr>
        <p:txBody>
          <a:bodyPr lIns="90000" tIns="46800" rIns="90000" bIns="46800" anchor="b" anchorCtr="0">
            <a:normAutofit/>
          </a:bodyPr>
          <a:lstStyle>
            <a:lvl1pPr algn="ctr">
              <a:defRPr sz="6000"/>
            </a:lvl1p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内容占位符 2"/>
          <p:cNvSpPr>
            <a:spLocks noGrp="1"/>
          </p:cNvSpPr>
          <p:nvPr>
            <p:ph idx="1"/>
          </p:nvPr>
        </p:nvSpPr>
        <p:spPr>
          <a:xfrm>
            <a:off x="608400" y="1490400"/>
            <a:ext cx="10969200" cy="4759200"/>
          </a:xfrm>
        </p:spPr>
        <p:txBody>
          <a:bodyPr vert="horz" lIns="90000" tIns="46800" rIns="90000" bIns="4680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990800" y="3848400"/>
            <a:ext cx="7768800" cy="766800"/>
          </a:xfrm>
        </p:spPr>
        <p:txBody>
          <a:bodyPr lIns="90000" tIns="46800" rIns="90000" bIns="46800" anchor="b" anchorCtr="0">
            <a:normAutofit/>
          </a:bodyPr>
          <a:lstStyle>
            <a:lvl1pPr>
              <a:defRPr sz="4400"/>
            </a:lvl1pPr>
          </a:lstStyle>
          <a:p>
            <a:pPr fontAlgn="auto"/>
            <a:r>
              <a:rPr lang="zh-CN" altLang="en-US" strike="noStrike" noProof="1"/>
              <a:t>单击此处编辑标题</a:t>
            </a:r>
          </a:p>
        </p:txBody>
      </p:sp>
      <p:sp>
        <p:nvSpPr>
          <p:cNvPr id="3" name="文本占位符 2"/>
          <p:cNvSpPr>
            <a:spLocks noGrp="1"/>
          </p:cNvSpPr>
          <p:nvPr>
            <p:ph type="body" idx="1" hasCustomPrompt="1"/>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auto"/>
            <a:r>
              <a:rPr lang="zh-CN" altLang="en-US" strike="noStrike" noProof="1"/>
              <a:t>单击此处编辑文本</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内容占位符 2"/>
          <p:cNvSpPr>
            <a:spLocks noGrp="1"/>
          </p:cNvSpPr>
          <p:nvPr>
            <p:ph sz="half" idx="1"/>
          </p:nvPr>
        </p:nvSpPr>
        <p:spPr>
          <a:xfrm>
            <a:off x="608400" y="1501200"/>
            <a:ext cx="5176800" cy="4748400"/>
          </a:xfrm>
        </p:spPr>
        <p:txBody>
          <a:bodyPr vert="horz" lIns="90000" tIns="46800" rIns="90000" bIns="4680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6411600" y="1501200"/>
            <a:ext cx="5176800" cy="4748400"/>
          </a:xfrm>
        </p:spPr>
        <p:txBody>
          <a:bodyPr lIns="90000" tIns="46800" rIns="90000" bIns="4680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6" name="页脚占位符 5"/>
          <p:cNvSpPr>
            <a:spLocks noGrp="1"/>
          </p:cNvSpPr>
          <p:nvPr>
            <p:ph type="ftr" sz="quarter" idx="11"/>
          </p:nvPr>
        </p:nvSpPr>
        <p:spPr/>
        <p:txBody>
          <a:bodyPr/>
          <a:lstStyle/>
          <a:p>
            <a:pPr fontAlgn="auto"/>
            <a:endParaRPr lang="zh-CN" altLang="en-US" strike="noStrike" noProof="1"/>
          </a:p>
        </p:txBody>
      </p:sp>
      <p:sp>
        <p:nvSpPr>
          <p:cNvPr id="7" name="灯片编号占位符 6"/>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文本占位符 2"/>
          <p:cNvSpPr>
            <a:spLocks noGrp="1"/>
          </p:cNvSpPr>
          <p:nvPr>
            <p:ph type="body" idx="1" hasCustomPrompt="1"/>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单击此处编辑文本</a:t>
            </a:r>
          </a:p>
        </p:txBody>
      </p:sp>
      <p:sp>
        <p:nvSpPr>
          <p:cNvPr id="4" name="内容占位符 3"/>
          <p:cNvSpPr>
            <a:spLocks noGrp="1"/>
          </p:cNvSpPr>
          <p:nvPr>
            <p:ph sz="half" idx="2"/>
          </p:nvPr>
        </p:nvSpPr>
        <p:spPr>
          <a:xfrm>
            <a:off x="608400" y="1854000"/>
            <a:ext cx="5342400" cy="4395600"/>
          </a:xfrm>
        </p:spPr>
        <p:txBody>
          <a:bodyPr vert="horz" lIns="101600" tIns="0" rIns="82550" bIns="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hasCustomPrompt="1"/>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单击此处编辑文本</a:t>
            </a:r>
          </a:p>
        </p:txBody>
      </p:sp>
      <p:sp>
        <p:nvSpPr>
          <p:cNvPr id="6" name="内容占位符 5"/>
          <p:cNvSpPr>
            <a:spLocks noGrp="1"/>
          </p:cNvSpPr>
          <p:nvPr>
            <p:ph sz="quarter" idx="4"/>
          </p:nvPr>
        </p:nvSpPr>
        <p:spPr>
          <a:xfrm>
            <a:off x="6235750" y="1854000"/>
            <a:ext cx="5342400" cy="4395600"/>
          </a:xfrm>
        </p:spPr>
        <p:txBody>
          <a:bodyPr vert="horz" lIns="101600" tIns="0" rIns="82550" bIns="0"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8" name="页脚占位符 7"/>
          <p:cNvSpPr>
            <a:spLocks noGrp="1"/>
          </p:cNvSpPr>
          <p:nvPr>
            <p:ph type="ftr" sz="quarter" idx="11"/>
          </p:nvPr>
        </p:nvSpPr>
        <p:spPr/>
        <p:txBody>
          <a:bodyPr/>
          <a:lstStyle/>
          <a:p>
            <a:pPr fontAlgn="auto"/>
            <a:endParaRPr lang="zh-CN" altLang="en-US" strike="noStrike" noProof="1"/>
          </a:p>
        </p:txBody>
      </p:sp>
      <p:sp>
        <p:nvSpPr>
          <p:cNvPr id="9" name="灯片编号占位符 8"/>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4" name="页脚占位符 3"/>
          <p:cNvSpPr>
            <a:spLocks noGrp="1"/>
          </p:cNvSpPr>
          <p:nvPr>
            <p:ph type="ftr" sz="quarter" idx="11"/>
          </p:nvPr>
        </p:nvSpPr>
        <p:spPr/>
        <p:txBody>
          <a:bodyPr/>
          <a:lstStyle/>
          <a:p>
            <a:pPr fontAlgn="auto"/>
            <a:endParaRPr lang="zh-CN" altLang="en-US" strike="noStrike" noProof="1"/>
          </a:p>
        </p:txBody>
      </p:sp>
      <p:sp>
        <p:nvSpPr>
          <p:cNvPr id="5" name="灯片编号占位符 4"/>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3" name="页脚占位符 2"/>
          <p:cNvSpPr>
            <a:spLocks noGrp="1"/>
          </p:cNvSpPr>
          <p:nvPr>
            <p:ph type="ftr" sz="quarter" idx="11"/>
          </p:nvPr>
        </p:nvSpPr>
        <p:spPr/>
        <p:txBody>
          <a:bodyPr/>
          <a:lstStyle/>
          <a:p>
            <a:pPr fontAlgn="auto"/>
            <a:endParaRPr lang="zh-CN" altLang="en-US" strike="noStrike" noProof="1"/>
          </a:p>
        </p:txBody>
      </p:sp>
      <p:sp>
        <p:nvSpPr>
          <p:cNvPr id="4" name="灯片编号占位符 3"/>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608400" y="1555200"/>
            <a:ext cx="5233077" cy="4608000"/>
          </a:xfrm>
        </p:spPr>
        <p:txBody>
          <a:bodyPr vert="horz" lIns="90000" tIns="46800" rIns="90000" bIns="46800" rtlCol="0">
            <a:normAutofit/>
          </a:bodyPr>
          <a:lstStyle>
            <a:lvl1pPr>
              <a:buNone/>
              <a:defRPr sz="1600"/>
            </a:lvl1pPr>
          </a:lstStyle>
          <a:p>
            <a:pPr lvl="0" fontAlgn="auto"/>
            <a:endParaRPr lang="zh-CN" altLang="en-US" strike="noStrike" noProof="1"/>
          </a:p>
        </p:txBody>
      </p:sp>
      <p:sp>
        <p:nvSpPr>
          <p:cNvPr id="4" name="文本占位符 3"/>
          <p:cNvSpPr>
            <a:spLocks noGrp="1"/>
          </p:cNvSpPr>
          <p:nvPr>
            <p:ph type="body" sz="half" idx="2"/>
          </p:nvPr>
        </p:nvSpPr>
        <p:spPr>
          <a:xfrm>
            <a:off x="6350400" y="1555200"/>
            <a:ext cx="5227200" cy="4608000"/>
          </a:xfrm>
        </p:spPr>
        <p:txBody>
          <a:bodyPr vert="horz" lIns="90000" tIns="46800" rIns="90000" bIns="46800" rtlCol="0">
            <a:normAutofit/>
          </a:bodyPr>
          <a:lstStyle>
            <a:lvl1pPr>
              <a:buNone/>
              <a:defRPr sz="1600"/>
            </a:lvl1pPr>
          </a:lstStyle>
          <a:p>
            <a:pPr lvl="0" fontAlgn="auto"/>
            <a:r>
              <a:rPr lang="zh-CN" altLang="en-US" strike="noStrike" noProof="1"/>
              <a:t>单击此处编辑母版文本样式</a:t>
            </a:r>
          </a:p>
        </p:txBody>
      </p:sp>
      <p:sp>
        <p:nvSpPr>
          <p:cNvPr id="9" name="标题 8"/>
          <p:cNvSpPr>
            <a:spLocks noGrp="1"/>
          </p:cNvSpPr>
          <p:nvPr>
            <p:ph type="title"/>
          </p:nvPr>
        </p:nvSpPr>
        <p:spPr/>
        <p:txBody>
          <a:bodyPr/>
          <a:lstStyle/>
          <a:p>
            <a:pPr fontAlgn="auto"/>
            <a:r>
              <a:rPr lang="zh-CN" altLang="en-US" strike="noStrike" noProof="1"/>
              <a:t>单击此处编辑母版标题样式</a:t>
            </a:r>
          </a:p>
        </p:txBody>
      </p:sp>
      <p:sp>
        <p:nvSpPr>
          <p:cNvPr id="2" name="日期占位符 1"/>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10234800" y="914400"/>
            <a:ext cx="1044000" cy="5029200"/>
          </a:xfrm>
        </p:spPr>
        <p:txBody>
          <a:bodyPr vert="eaVert" lIns="90000" tIns="46800" rIns="90000" bIns="46800" rtlCol="0" anchor="ctr" anchorCtr="0">
            <a:normAutofit/>
          </a:bodyPr>
          <a:lstStyle>
            <a:lvl1pPr>
              <a:buNone/>
              <a:defRPr sz="2800"/>
            </a:lvl1pPr>
          </a:lstStyle>
          <a:p>
            <a:pPr lvl="0" fontAlgn="auto"/>
            <a:r>
              <a:rPr lang="zh-CN" altLang="en-US" strike="noStrike" noProof="1"/>
              <a:t>单击此处编辑标题</a:t>
            </a:r>
          </a:p>
        </p:txBody>
      </p:sp>
      <p:sp>
        <p:nvSpPr>
          <p:cNvPr id="3" name="竖排文字占位符 2"/>
          <p:cNvSpPr>
            <a:spLocks noGrp="1"/>
          </p:cNvSpPr>
          <p:nvPr>
            <p:ph type="body" orient="vert" idx="1"/>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608400" y="774000"/>
            <a:ext cx="10972800" cy="5482800"/>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2" name="日期占位符 1"/>
          <p:cNvSpPr>
            <a:spLocks noGrp="1"/>
          </p:cNvSpPr>
          <p:nvPr>
            <p:ph type="dt" sz="half" idx="14"/>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3" name="页脚占位符 2"/>
          <p:cNvSpPr>
            <a:spLocks noGrp="1"/>
          </p:cNvSpPr>
          <p:nvPr>
            <p:ph type="ftr" sz="quarter" idx="15"/>
          </p:nvPr>
        </p:nvSpPr>
        <p:spPr/>
        <p:txBody>
          <a:bodyPr/>
          <a:lstStyle/>
          <a:p>
            <a:pPr fontAlgn="auto"/>
            <a:endParaRPr lang="zh-CN" altLang="en-US" strike="noStrike" noProof="1"/>
          </a:p>
        </p:txBody>
      </p:sp>
      <p:sp>
        <p:nvSpPr>
          <p:cNvPr id="4" name="灯片编号占位符 3"/>
          <p:cNvSpPr>
            <a:spLocks noGrp="1"/>
          </p:cNvSpPr>
          <p:nvPr>
            <p:ph type="sldNum" sz="quarter" idx="16"/>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198800" y="2484000"/>
            <a:ext cx="9799200" cy="1018800"/>
          </a:xfrm>
        </p:spPr>
        <p:txBody>
          <a:bodyPr vert="horz" lIns="90000" tIns="46800" rIns="90000" bIns="46800" rtlCol="0" anchor="t" anchorCtr="0">
            <a:normAutofit/>
          </a:bodyPr>
          <a:lstStyle>
            <a:lvl1pPr algn="ctr">
              <a:defRPr sz="6000"/>
            </a:lvl1pPr>
          </a:lstStyle>
          <a:p>
            <a:pPr lvl="0" fontAlgn="auto"/>
            <a:r>
              <a:rPr lang="zh-CN" altLang="en-US" strike="noStrike" noProof="1"/>
              <a:t>单击此处编辑标题</a:t>
            </a:r>
          </a:p>
        </p:txBody>
      </p:sp>
      <p:sp>
        <p:nvSpPr>
          <p:cNvPr id="7" name="文本占位符 6"/>
          <p:cNvSpPr>
            <a:spLocks noGrp="1"/>
          </p:cNvSpPr>
          <p:nvPr>
            <p:ph type="body" sz="quarter" idx="13"/>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fontAlgn="auto"/>
            <a:r>
              <a:rPr lang="zh-CN" altLang="en-US" strike="noStrike" noProof="1"/>
              <a:t>单击此处编辑母版文本样式</a:t>
            </a:r>
          </a:p>
        </p:txBody>
      </p:sp>
      <p:sp>
        <p:nvSpPr>
          <p:cNvPr id="3" name="日期占位符 2"/>
          <p:cNvSpPr>
            <a:spLocks noGrp="1"/>
          </p:cNvSpPr>
          <p:nvPr>
            <p:ph type="dt" sz="half" idx="14"/>
          </p:nvPr>
        </p:nvSpPr>
        <p:spPr/>
        <p:txBody>
          <a:body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4" name="页脚占位符 3"/>
          <p:cNvSpPr>
            <a:spLocks noGrp="1"/>
          </p:cNvSpPr>
          <p:nvPr>
            <p:ph type="ftr" sz="quarter" idx="15"/>
          </p:nvPr>
        </p:nvSpPr>
        <p:spPr/>
        <p:txBody>
          <a:bodyPr/>
          <a:lstStyle/>
          <a:p>
            <a:pPr fontAlgn="auto"/>
            <a:endParaRPr lang="zh-CN" altLang="en-US" strike="noStrike" noProof="1"/>
          </a:p>
        </p:txBody>
      </p:sp>
      <p:sp>
        <p:nvSpPr>
          <p:cNvPr id="5" name="灯片编号占位符 4"/>
          <p:cNvSpPr>
            <a:spLocks noGrp="1"/>
          </p:cNvSpPr>
          <p:nvPr>
            <p:ph type="sldNum" sz="quarter" idx="16"/>
          </p:nvPr>
        </p:nvSpPr>
        <p:spPr/>
        <p:txBody>
          <a:body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5.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4.xml"/><Relationship Id="rId2" Type="http://schemas.openxmlformats.org/officeDocument/2006/relationships/slideLayout" Target="../slideLayouts/slideLayout2.xml"/><Relationship Id="rId16"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ags" Target="../tags/tag7.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17" Type="http://schemas.openxmlformats.org/officeDocument/2006/relationships/tags" Target="../tags/tag11.xml"/><Relationship Id="rId2" Type="http://schemas.openxmlformats.org/officeDocument/2006/relationships/slideLayout" Target="../slideLayouts/slideLayout15.xml"/><Relationship Id="rId16" Type="http://schemas.openxmlformats.org/officeDocument/2006/relationships/tags" Target="../tags/tag10.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ags" Target="../tags/tag9.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026" name="标题占位符 1"/>
          <p:cNvSpPr>
            <a:spLocks noGrp="1"/>
          </p:cNvSpPr>
          <p:nvPr>
            <p:ph type="title"/>
            <p:custDataLst>
              <p:tags r:id="rId15"/>
            </p:custDataLst>
          </p:nvPr>
        </p:nvSpPr>
        <p:spPr>
          <a:xfrm>
            <a:off x="608013" y="608013"/>
            <a:ext cx="10969625" cy="706437"/>
          </a:xfrm>
          <a:prstGeom prst="rect">
            <a:avLst/>
          </a:prstGeom>
          <a:noFill/>
          <a:ln w="9525">
            <a:noFill/>
          </a:ln>
        </p:spPr>
        <p:txBody>
          <a:bodyPr vert="horz" lIns="90170" tIns="46990" rIns="90170" bIns="46990" anchor="ctr" anchorCtr="0"/>
          <a:lstStyle/>
          <a:p>
            <a:pPr lvl="0"/>
            <a:r>
              <a:rPr lang="zh-CN" altLang="en-US" dirty="0"/>
              <a:t>单击此处编辑母版标题样式</a:t>
            </a:r>
          </a:p>
        </p:txBody>
      </p:sp>
      <p:sp>
        <p:nvSpPr>
          <p:cNvPr id="1027" name="文本占位符 2"/>
          <p:cNvSpPr>
            <a:spLocks noGrp="1"/>
          </p:cNvSpPr>
          <p:nvPr>
            <p:ph type="body"/>
            <p:custDataLst>
              <p:tags r:id="rId16"/>
            </p:custDataLst>
          </p:nvPr>
        </p:nvSpPr>
        <p:spPr>
          <a:xfrm>
            <a:off x="608013" y="1490663"/>
            <a:ext cx="10969625" cy="4759325"/>
          </a:xfrm>
          <a:prstGeom prst="rect">
            <a:avLst/>
          </a:prstGeom>
          <a:noFill/>
          <a:ln w="9525">
            <a:noFill/>
          </a:ln>
        </p:spPr>
        <p:txBody>
          <a:bodyPr vert="horz" lIns="90000" tIns="46800" rIns="90000" bIns="46800"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7"/>
            </p:custDataLst>
          </p:nvPr>
        </p:nvSpPr>
        <p:spPr>
          <a:xfrm>
            <a:off x="612775" y="6315075"/>
            <a:ext cx="2698750" cy="315913"/>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3"/>
            <p:custDataLst>
              <p:tags r:id="rId18"/>
            </p:custDataLst>
          </p:nvPr>
        </p:nvSpPr>
        <p:spPr>
          <a:xfrm>
            <a:off x="4116388" y="6315075"/>
            <a:ext cx="3959225" cy="315913"/>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pPr fontAlgn="auto"/>
            <a:endParaRPr lang="zh-CN" altLang="en-US" strike="noStrike" noProof="1"/>
          </a:p>
        </p:txBody>
      </p:sp>
      <p:sp>
        <p:nvSpPr>
          <p:cNvPr id="6" name="灯片编号占位符 5"/>
          <p:cNvSpPr>
            <a:spLocks noGrp="1"/>
          </p:cNvSpPr>
          <p:nvPr>
            <p:ph type="sldNum" sz="quarter" idx="4"/>
            <p:custDataLst>
              <p:tags r:id="rId19"/>
            </p:custDataLst>
          </p:nvPr>
        </p:nvSpPr>
        <p:spPr>
          <a:xfrm>
            <a:off x="8877300" y="6315075"/>
            <a:ext cx="2700338" cy="315913"/>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73" r:id="rId13"/>
  </p:sldLayoutIdLst>
  <p:hf sldNum="0"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2050" name="标题占位符 1"/>
          <p:cNvSpPr>
            <a:spLocks noGrp="1"/>
          </p:cNvSpPr>
          <p:nvPr>
            <p:ph type="title"/>
            <p:custDataLst>
              <p:tags r:id="rId13"/>
            </p:custDataLst>
          </p:nvPr>
        </p:nvSpPr>
        <p:spPr>
          <a:xfrm>
            <a:off x="608013" y="608013"/>
            <a:ext cx="10969625" cy="706437"/>
          </a:xfrm>
          <a:prstGeom prst="rect">
            <a:avLst/>
          </a:prstGeom>
          <a:noFill/>
          <a:ln w="9525">
            <a:noFill/>
          </a:ln>
        </p:spPr>
        <p:txBody>
          <a:bodyPr vert="horz" lIns="90170" tIns="46990" rIns="90170" bIns="46990" anchor="ctr" anchorCtr="0"/>
          <a:lstStyle/>
          <a:p>
            <a:pPr lvl="0"/>
            <a:r>
              <a:rPr lang="zh-CN" altLang="en-US" dirty="0"/>
              <a:t>单击此处编辑母版标题样式</a:t>
            </a:r>
          </a:p>
        </p:txBody>
      </p:sp>
      <p:sp>
        <p:nvSpPr>
          <p:cNvPr id="2051" name="文本占位符 2"/>
          <p:cNvSpPr>
            <a:spLocks noGrp="1"/>
          </p:cNvSpPr>
          <p:nvPr>
            <p:ph type="body"/>
            <p:custDataLst>
              <p:tags r:id="rId14"/>
            </p:custDataLst>
          </p:nvPr>
        </p:nvSpPr>
        <p:spPr>
          <a:xfrm>
            <a:off x="608013" y="1490663"/>
            <a:ext cx="10969625" cy="4759325"/>
          </a:xfrm>
          <a:prstGeom prst="rect">
            <a:avLst/>
          </a:prstGeom>
          <a:noFill/>
          <a:ln w="9525">
            <a:noFill/>
          </a:ln>
        </p:spPr>
        <p:txBody>
          <a:bodyPr vert="horz" lIns="90000" tIns="46800" rIns="90000" bIns="46800"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612775" y="6315075"/>
            <a:ext cx="2698750" cy="315913"/>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pPr fontAlgn="auto"/>
            <a:fld id="{760FBDFE-C587-4B4C-A407-44438C67B59E}" type="datetimeFigureOut">
              <a:rPr lang="zh-CN" altLang="en-US" strike="noStrike" noProof="1" smtClean="0">
                <a:latin typeface="+mn-lt"/>
                <a:ea typeface="+mn-ea"/>
                <a:cs typeface="+mn-cs"/>
              </a:rPr>
              <a:t>2026/7/10</a:t>
            </a:fld>
            <a:endParaRPr lang="zh-CN" altLang="en-US" strike="noStrike" noProof="1"/>
          </a:p>
        </p:txBody>
      </p:sp>
      <p:sp>
        <p:nvSpPr>
          <p:cNvPr id="5" name="页脚占位符 4"/>
          <p:cNvSpPr>
            <a:spLocks noGrp="1"/>
          </p:cNvSpPr>
          <p:nvPr>
            <p:ph type="ftr" sz="quarter" idx="3"/>
            <p:custDataLst>
              <p:tags r:id="rId16"/>
            </p:custDataLst>
          </p:nvPr>
        </p:nvSpPr>
        <p:spPr>
          <a:xfrm>
            <a:off x="4116388" y="6315075"/>
            <a:ext cx="3959225" cy="315913"/>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pPr fontAlgn="auto"/>
            <a:endParaRPr lang="zh-CN" altLang="en-US" strike="noStrike" noProof="1"/>
          </a:p>
        </p:txBody>
      </p:sp>
      <p:sp>
        <p:nvSpPr>
          <p:cNvPr id="6" name="灯片编号占位符 5"/>
          <p:cNvSpPr>
            <a:spLocks noGrp="1"/>
          </p:cNvSpPr>
          <p:nvPr>
            <p:ph type="sldNum" sz="quarter" idx="4"/>
            <p:custDataLst>
              <p:tags r:id="rId17"/>
            </p:custDataLst>
          </p:nvPr>
        </p:nvSpPr>
        <p:spPr>
          <a:xfrm>
            <a:off x="8877300" y="6315075"/>
            <a:ext cx="2700338" cy="315913"/>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pPr fontAlgn="auto"/>
            <a:fld id="{49AE70B2-8BF9-45C0-BB95-33D1B9D3A854}"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tags" Target="../tags/tag14.xml"/><Relationship Id="rId7" Type="http://schemas.openxmlformats.org/officeDocument/2006/relationships/notesSlide" Target="../notesSlides/notesSlide1.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1.xml"/><Relationship Id="rId5" Type="http://schemas.openxmlformats.org/officeDocument/2006/relationships/tags" Target="../tags/tag16.xml"/><Relationship Id="rId4" Type="http://schemas.openxmlformats.org/officeDocument/2006/relationships/tags" Target="../tags/tag15.xml"/><Relationship Id="rId9"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19.xml"/><Relationship Id="rId7" Type="http://schemas.openxmlformats.org/officeDocument/2006/relationships/slideLayout" Target="../slideLayouts/slideLayout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25.xml"/><Relationship Id="rId7" Type="http://schemas.openxmlformats.org/officeDocument/2006/relationships/slideLayout" Target="../slideLayouts/slideLayout3.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10" Type="http://schemas.openxmlformats.org/officeDocument/2006/relationships/chart" Target="../charts/chart1.xml"/><Relationship Id="rId4" Type="http://schemas.openxmlformats.org/officeDocument/2006/relationships/tags" Target="../tags/tag26.xml"/><Relationship Id="rId9" Type="http://schemas.openxmlformats.org/officeDocument/2006/relationships/image" Target="../media/image4.jpe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38.xml"/><Relationship Id="rId7" Type="http://schemas.openxmlformats.org/officeDocument/2006/relationships/slideLayout" Target="../slideLayouts/slideLayout3.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9" Type="http://schemas.openxmlformats.org/officeDocument/2006/relationships/image" Target="../media/image5.jpg"/></Relationships>
</file>

<file path=ppt/slides/_rels/slide6.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image" Target="../media/image8.jpeg"/><Relationship Id="rId3" Type="http://schemas.openxmlformats.org/officeDocument/2006/relationships/tags" Target="../tags/tag44.xml"/><Relationship Id="rId7" Type="http://schemas.openxmlformats.org/officeDocument/2006/relationships/tags" Target="../tags/tag48.xml"/><Relationship Id="rId12" Type="http://schemas.openxmlformats.org/officeDocument/2006/relationships/image" Target="../media/image7.jpeg"/><Relationship Id="rId2" Type="http://schemas.openxmlformats.org/officeDocument/2006/relationships/tags" Target="../tags/tag43.xml"/><Relationship Id="rId16" Type="http://schemas.openxmlformats.org/officeDocument/2006/relationships/image" Target="../media/image11.jpeg"/><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image" Target="../media/image6.jpeg"/><Relationship Id="rId5" Type="http://schemas.openxmlformats.org/officeDocument/2006/relationships/tags" Target="../tags/tag46.xml"/><Relationship Id="rId15" Type="http://schemas.openxmlformats.org/officeDocument/2006/relationships/image" Target="../media/image10.jpeg"/><Relationship Id="rId10" Type="http://schemas.openxmlformats.org/officeDocument/2006/relationships/notesSlide" Target="../notesSlides/notesSlide6.xml"/><Relationship Id="rId4" Type="http://schemas.openxmlformats.org/officeDocument/2006/relationships/tags" Target="../tags/tag45.xml"/><Relationship Id="rId9" Type="http://schemas.openxmlformats.org/officeDocument/2006/relationships/slideLayout" Target="../slideLayouts/slideLayout3.xml"/><Relationship Id="rId14" Type="http://schemas.openxmlformats.org/officeDocument/2006/relationships/image" Target="../media/image9.jpe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52.xml"/><Relationship Id="rId7" Type="http://schemas.openxmlformats.org/officeDocument/2006/relationships/slideLayout" Target="../slideLayouts/slideLayout3.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3" Type="http://schemas.openxmlformats.org/officeDocument/2006/relationships/tags" Target="../tags/tag58.xml"/><Relationship Id="rId7" Type="http://schemas.openxmlformats.org/officeDocument/2006/relationships/slideLayout" Target="../slideLayouts/slideLayout3.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3" Type="http://schemas.openxmlformats.org/officeDocument/2006/relationships/tags" Target="../tags/tag64.xml"/><Relationship Id="rId7" Type="http://schemas.openxmlformats.org/officeDocument/2006/relationships/slideLayout" Target="../slideLayouts/slideLayout3.xml"/><Relationship Id="rId12" Type="http://schemas.openxmlformats.org/officeDocument/2006/relationships/image" Target="../media/image15.jpe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image" Target="../media/image14.jpeg"/><Relationship Id="rId5" Type="http://schemas.openxmlformats.org/officeDocument/2006/relationships/tags" Target="../tags/tag66.xml"/><Relationship Id="rId10" Type="http://schemas.openxmlformats.org/officeDocument/2006/relationships/image" Target="../media/image13.jpeg"/><Relationship Id="rId4" Type="http://schemas.openxmlformats.org/officeDocument/2006/relationships/tags" Target="../tags/tag65.xml"/><Relationship Id="rId9" Type="http://schemas.openxmlformats.org/officeDocument/2006/relationships/image" Target="../media/image12.jpe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3" Type="http://schemas.openxmlformats.org/officeDocument/2006/relationships/tags" Target="../tags/tag70.xml"/><Relationship Id="rId7" Type="http://schemas.openxmlformats.org/officeDocument/2006/relationships/slideLayout" Target="../slideLayouts/slideLayout3.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5" Type="http://schemas.openxmlformats.org/officeDocument/2006/relationships/tags" Target="../tags/tag72.xml"/><Relationship Id="rId10" Type="http://schemas.openxmlformats.org/officeDocument/2006/relationships/image" Target="../media/image17.jpg"/><Relationship Id="rId4" Type="http://schemas.openxmlformats.org/officeDocument/2006/relationships/tags" Target="../tags/tag71.xml"/><Relationship Id="rId9" Type="http://schemas.openxmlformats.org/officeDocument/2006/relationships/image" Target="../media/image16.jp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3" Type="http://schemas.openxmlformats.org/officeDocument/2006/relationships/tags" Target="../tags/tag76.xml"/><Relationship Id="rId7" Type="http://schemas.openxmlformats.org/officeDocument/2006/relationships/slideLayout" Target="../slideLayouts/slideLayout3.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image" Target="../media/image20.jpeg"/><Relationship Id="rId5" Type="http://schemas.openxmlformats.org/officeDocument/2006/relationships/tags" Target="../tags/tag78.xml"/><Relationship Id="rId10" Type="http://schemas.openxmlformats.org/officeDocument/2006/relationships/image" Target="../media/image19.jpeg"/><Relationship Id="rId4" Type="http://schemas.openxmlformats.org/officeDocument/2006/relationships/tags" Target="../tags/tag77.xml"/><Relationship Id="rId9" Type="http://schemas.openxmlformats.org/officeDocument/2006/relationships/image" Target="../media/image18.jpe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3" Type="http://schemas.openxmlformats.org/officeDocument/2006/relationships/tags" Target="../tags/tag82.xml"/><Relationship Id="rId7" Type="http://schemas.openxmlformats.org/officeDocument/2006/relationships/slideLayout" Target="../slideLayouts/slideLayout3.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tags" Target="../tags/tag85.xml"/><Relationship Id="rId5" Type="http://schemas.openxmlformats.org/officeDocument/2006/relationships/tags" Target="../tags/tag84.xml"/><Relationship Id="rId10" Type="http://schemas.openxmlformats.org/officeDocument/2006/relationships/image" Target="../media/image22.jpeg"/><Relationship Id="rId4" Type="http://schemas.openxmlformats.org/officeDocument/2006/relationships/tags" Target="../tags/tag83.xml"/><Relationship Id="rId9" Type="http://schemas.openxmlformats.org/officeDocument/2006/relationships/image" Target="../media/image21.jp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3" Type="http://schemas.openxmlformats.org/officeDocument/2006/relationships/tags" Target="../tags/tag88.xml"/><Relationship Id="rId7" Type="http://schemas.openxmlformats.org/officeDocument/2006/relationships/slideLayout" Target="../slideLayouts/slideLayout3.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5" Type="http://schemas.openxmlformats.org/officeDocument/2006/relationships/tags" Target="../tags/tag90.xml"/><Relationship Id="rId10" Type="http://schemas.openxmlformats.org/officeDocument/2006/relationships/image" Target="../media/image24.jpg"/><Relationship Id="rId4" Type="http://schemas.openxmlformats.org/officeDocument/2006/relationships/tags" Target="../tags/tag89.xml"/><Relationship Id="rId9" Type="http://schemas.openxmlformats.org/officeDocument/2006/relationships/image" Target="../media/image23.jp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3" Type="http://schemas.openxmlformats.org/officeDocument/2006/relationships/tags" Target="../tags/tag94.xml"/><Relationship Id="rId7" Type="http://schemas.openxmlformats.org/officeDocument/2006/relationships/slideLayout" Target="../slideLayouts/slideLayout3.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s>
</file>

<file path=ppt/slides/_rels/slide15.xml.rels><?xml version="1.0" encoding="UTF-8" standalone="yes"?>
<Relationships xmlns="http://schemas.openxmlformats.org/package/2006/relationships"><Relationship Id="rId13" Type="http://schemas.openxmlformats.org/officeDocument/2006/relationships/tags" Target="../tags/tag110.xml"/><Relationship Id="rId18" Type="http://schemas.openxmlformats.org/officeDocument/2006/relationships/tags" Target="../tags/tag115.xml"/><Relationship Id="rId26" Type="http://schemas.openxmlformats.org/officeDocument/2006/relationships/slideLayout" Target="../slideLayouts/slideLayout3.xml"/><Relationship Id="rId3" Type="http://schemas.openxmlformats.org/officeDocument/2006/relationships/tags" Target="../tags/tag100.xml"/><Relationship Id="rId21" Type="http://schemas.openxmlformats.org/officeDocument/2006/relationships/tags" Target="../tags/tag118.xml"/><Relationship Id="rId7" Type="http://schemas.openxmlformats.org/officeDocument/2006/relationships/tags" Target="../tags/tag104.xml"/><Relationship Id="rId12" Type="http://schemas.openxmlformats.org/officeDocument/2006/relationships/tags" Target="../tags/tag109.xml"/><Relationship Id="rId17" Type="http://schemas.openxmlformats.org/officeDocument/2006/relationships/tags" Target="../tags/tag114.xml"/><Relationship Id="rId25" Type="http://schemas.openxmlformats.org/officeDocument/2006/relationships/tags" Target="../tags/tag122.xml"/><Relationship Id="rId33" Type="http://schemas.openxmlformats.org/officeDocument/2006/relationships/image" Target="../media/image30.jpeg"/><Relationship Id="rId2" Type="http://schemas.openxmlformats.org/officeDocument/2006/relationships/tags" Target="../tags/tag99.xml"/><Relationship Id="rId16" Type="http://schemas.openxmlformats.org/officeDocument/2006/relationships/tags" Target="../tags/tag113.xml"/><Relationship Id="rId20" Type="http://schemas.openxmlformats.org/officeDocument/2006/relationships/tags" Target="../tags/tag117.xml"/><Relationship Id="rId29" Type="http://schemas.openxmlformats.org/officeDocument/2006/relationships/image" Target="../media/image26.svg"/><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tags" Target="../tags/tag108.xml"/><Relationship Id="rId24" Type="http://schemas.openxmlformats.org/officeDocument/2006/relationships/tags" Target="../tags/tag121.xml"/><Relationship Id="rId32" Type="http://schemas.openxmlformats.org/officeDocument/2006/relationships/image" Target="../media/image29.jpeg"/><Relationship Id="rId5" Type="http://schemas.openxmlformats.org/officeDocument/2006/relationships/tags" Target="../tags/tag102.xml"/><Relationship Id="rId15" Type="http://schemas.openxmlformats.org/officeDocument/2006/relationships/tags" Target="../tags/tag112.xml"/><Relationship Id="rId23" Type="http://schemas.openxmlformats.org/officeDocument/2006/relationships/tags" Target="../tags/tag120.xml"/><Relationship Id="rId28" Type="http://schemas.openxmlformats.org/officeDocument/2006/relationships/image" Target="../media/image25.svg"/><Relationship Id="rId10" Type="http://schemas.openxmlformats.org/officeDocument/2006/relationships/tags" Target="../tags/tag107.xml"/><Relationship Id="rId19" Type="http://schemas.openxmlformats.org/officeDocument/2006/relationships/tags" Target="../tags/tag116.xml"/><Relationship Id="rId31" Type="http://schemas.openxmlformats.org/officeDocument/2006/relationships/image" Target="../media/image28.jpeg"/><Relationship Id="rId4" Type="http://schemas.openxmlformats.org/officeDocument/2006/relationships/tags" Target="../tags/tag101.xml"/><Relationship Id="rId9" Type="http://schemas.openxmlformats.org/officeDocument/2006/relationships/tags" Target="../tags/tag106.xml"/><Relationship Id="rId14" Type="http://schemas.openxmlformats.org/officeDocument/2006/relationships/tags" Target="../tags/tag111.xml"/><Relationship Id="rId22" Type="http://schemas.openxmlformats.org/officeDocument/2006/relationships/tags" Target="../tags/tag119.xml"/><Relationship Id="rId27" Type="http://schemas.openxmlformats.org/officeDocument/2006/relationships/notesSlide" Target="../notesSlides/notesSlide15.xml"/><Relationship Id="rId30" Type="http://schemas.openxmlformats.org/officeDocument/2006/relationships/image" Target="../media/image27.svg"/><Relationship Id="rId8" Type="http://schemas.openxmlformats.org/officeDocument/2006/relationships/tags" Target="../tags/tag105.xml"/></Relationships>
</file>

<file path=ppt/slides/_rels/slide16.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tags" Target="../tags/tag135.xml"/><Relationship Id="rId18" Type="http://schemas.openxmlformats.org/officeDocument/2006/relationships/tags" Target="../tags/tag140.xml"/><Relationship Id="rId26" Type="http://schemas.openxmlformats.org/officeDocument/2006/relationships/image" Target="../media/image25.svg"/><Relationship Id="rId3" Type="http://schemas.openxmlformats.org/officeDocument/2006/relationships/tags" Target="../tags/tag125.xml"/><Relationship Id="rId21" Type="http://schemas.openxmlformats.org/officeDocument/2006/relationships/tags" Target="../tags/tag143.xml"/><Relationship Id="rId7" Type="http://schemas.openxmlformats.org/officeDocument/2006/relationships/tags" Target="../tags/tag129.xml"/><Relationship Id="rId12" Type="http://schemas.openxmlformats.org/officeDocument/2006/relationships/tags" Target="../tags/tag134.xml"/><Relationship Id="rId17" Type="http://schemas.openxmlformats.org/officeDocument/2006/relationships/tags" Target="../tags/tag139.xml"/><Relationship Id="rId25" Type="http://schemas.openxmlformats.org/officeDocument/2006/relationships/notesSlide" Target="../notesSlides/notesSlide16.xml"/><Relationship Id="rId2" Type="http://schemas.openxmlformats.org/officeDocument/2006/relationships/tags" Target="../tags/tag124.xml"/><Relationship Id="rId16" Type="http://schemas.openxmlformats.org/officeDocument/2006/relationships/tags" Target="../tags/tag138.xml"/><Relationship Id="rId20" Type="http://schemas.openxmlformats.org/officeDocument/2006/relationships/tags" Target="../tags/tag142.xml"/><Relationship Id="rId29" Type="http://schemas.openxmlformats.org/officeDocument/2006/relationships/image" Target="../media/image31.jpg"/><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tags" Target="../tags/tag133.xml"/><Relationship Id="rId24" Type="http://schemas.openxmlformats.org/officeDocument/2006/relationships/slideLayout" Target="../slideLayouts/slideLayout3.xml"/><Relationship Id="rId5" Type="http://schemas.openxmlformats.org/officeDocument/2006/relationships/tags" Target="../tags/tag127.xml"/><Relationship Id="rId15" Type="http://schemas.openxmlformats.org/officeDocument/2006/relationships/tags" Target="../tags/tag137.xml"/><Relationship Id="rId23" Type="http://schemas.openxmlformats.org/officeDocument/2006/relationships/tags" Target="../tags/tag145.xml"/><Relationship Id="rId28" Type="http://schemas.openxmlformats.org/officeDocument/2006/relationships/image" Target="../media/image27.svg"/><Relationship Id="rId10" Type="http://schemas.openxmlformats.org/officeDocument/2006/relationships/tags" Target="../tags/tag132.xml"/><Relationship Id="rId19" Type="http://schemas.openxmlformats.org/officeDocument/2006/relationships/tags" Target="../tags/tag141.xml"/><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tags" Target="../tags/tag136.xml"/><Relationship Id="rId22" Type="http://schemas.openxmlformats.org/officeDocument/2006/relationships/tags" Target="../tags/tag144.xml"/><Relationship Id="rId27" Type="http://schemas.openxmlformats.org/officeDocument/2006/relationships/image" Target="../media/image26.svg"/><Relationship Id="rId30" Type="http://schemas.openxmlformats.org/officeDocument/2006/relationships/image" Target="../media/image32.jp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3" Type="http://schemas.openxmlformats.org/officeDocument/2006/relationships/tags" Target="../tags/tag148.xml"/><Relationship Id="rId7" Type="http://schemas.openxmlformats.org/officeDocument/2006/relationships/slideLayout" Target="../slideLayouts/slideLayout3.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s>
</file>

<file path=ppt/slides/_rels/slide18.xml.rels><?xml version="1.0" encoding="UTF-8" standalone="yes"?>
<Relationships xmlns="http://schemas.openxmlformats.org/package/2006/relationships"><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notesSlide" Target="../notesSlides/notesSlide18.xml"/><Relationship Id="rId5" Type="http://schemas.openxmlformats.org/officeDocument/2006/relationships/slideLayout" Target="../slideLayouts/slideLayout3.xml"/><Relationship Id="rId4" Type="http://schemas.openxmlformats.org/officeDocument/2006/relationships/tags" Target="../tags/tag155.xml"/></Relationships>
</file>

<file path=ppt/slides/_rels/slide19.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tags" Target="../tags/tag158.xml"/><Relationship Id="rId7" Type="http://schemas.openxmlformats.org/officeDocument/2006/relationships/notesSlide" Target="../notesSlides/notesSlide19.xml"/><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slideLayout" Target="../slideLayouts/slideLayout3.xml"/><Relationship Id="rId5" Type="http://schemas.openxmlformats.org/officeDocument/2006/relationships/tags" Target="../tags/tag160.xml"/><Relationship Id="rId4" Type="http://schemas.openxmlformats.org/officeDocument/2006/relationships/tags" Target="../tags/tag15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7" name="图片 3" descr="多彩钢城（徐选摄）"/>
          <p:cNvPicPr>
            <a:picLocks noChangeAspect="1"/>
          </p:cNvPicPr>
          <p:nvPr>
            <p:custDataLst>
              <p:tags r:id="rId2"/>
            </p:custDataLst>
          </p:nvPr>
        </p:nvPicPr>
        <p:blipFill>
          <a:blip r:embed="rId8">
            <a:lum bright="12000"/>
          </a:blip>
          <a:stretch>
            <a:fillRect/>
          </a:stretch>
        </p:blipFill>
        <p:spPr>
          <a:xfrm>
            <a:off x="0" y="0"/>
            <a:ext cx="12192000" cy="6858000"/>
          </a:xfrm>
          <a:prstGeom prst="rect">
            <a:avLst/>
          </a:prstGeom>
          <a:noFill/>
          <a:ln w="9525">
            <a:noFill/>
          </a:ln>
        </p:spPr>
      </p:pic>
      <p:sp>
        <p:nvSpPr>
          <p:cNvPr id="14" name="矩形 13"/>
          <p:cNvSpPr/>
          <p:nvPr>
            <p:custDataLst>
              <p:tags r:id="rId3"/>
            </p:custDataLst>
          </p:nvPr>
        </p:nvSpPr>
        <p:spPr>
          <a:xfrm>
            <a:off x="1" y="17781"/>
            <a:ext cx="12191998" cy="6858000"/>
          </a:xfrm>
          <a:prstGeom prst="rect">
            <a:avLst/>
          </a:prstGeom>
          <a:gradFill>
            <a:gsLst>
              <a:gs pos="27000">
                <a:schemeClr val="bg1">
                  <a:alpha val="97000"/>
                </a:schemeClr>
              </a:gs>
              <a:gs pos="100000">
                <a:schemeClr val="bg1">
                  <a:alpha val="73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8"/>
          <p:cNvSpPr/>
          <p:nvPr/>
        </p:nvSpPr>
        <p:spPr>
          <a:xfrm>
            <a:off x="-4" y="0"/>
            <a:ext cx="5903697" cy="6866650"/>
          </a:xfrm>
          <a:custGeom>
            <a:avLst/>
            <a:gdLst>
              <a:gd name="connsiteX0" fmla="*/ 0 w 5878287"/>
              <a:gd name="connsiteY0" fmla="*/ 0 h 6858000"/>
              <a:gd name="connsiteX1" fmla="*/ 5878287 w 5878287"/>
              <a:gd name="connsiteY1" fmla="*/ 0 h 6858000"/>
              <a:gd name="connsiteX2" fmla="*/ 5878287 w 5878287"/>
              <a:gd name="connsiteY2" fmla="*/ 6858000 h 6858000"/>
              <a:gd name="connsiteX3" fmla="*/ 0 w 5878287"/>
              <a:gd name="connsiteY3" fmla="*/ 6858000 h 6858000"/>
              <a:gd name="connsiteX4" fmla="*/ 0 w 5878287"/>
              <a:gd name="connsiteY4" fmla="*/ 0 h 6858000"/>
              <a:gd name="connsiteX0-1" fmla="*/ 0 w 5878287"/>
              <a:gd name="connsiteY0-2" fmla="*/ 0 h 6858000"/>
              <a:gd name="connsiteX1-3" fmla="*/ 1944916 w 5878287"/>
              <a:gd name="connsiteY1-4" fmla="*/ 0 h 6858000"/>
              <a:gd name="connsiteX2-5" fmla="*/ 5878287 w 5878287"/>
              <a:gd name="connsiteY2-6" fmla="*/ 0 h 6858000"/>
              <a:gd name="connsiteX3-7" fmla="*/ 5878287 w 5878287"/>
              <a:gd name="connsiteY3-8" fmla="*/ 6858000 h 6858000"/>
              <a:gd name="connsiteX4-9" fmla="*/ 0 w 5878287"/>
              <a:gd name="connsiteY4-10" fmla="*/ 6858000 h 6858000"/>
              <a:gd name="connsiteX5" fmla="*/ 0 w 5878287"/>
              <a:gd name="connsiteY5" fmla="*/ 0 h 6858000"/>
              <a:gd name="connsiteX0-11" fmla="*/ 0 w 5878287"/>
              <a:gd name="connsiteY0-12" fmla="*/ 0 h 6858000"/>
              <a:gd name="connsiteX1-13" fmla="*/ 1944916 w 5878287"/>
              <a:gd name="connsiteY1-14" fmla="*/ 0 h 6858000"/>
              <a:gd name="connsiteX2-15" fmla="*/ 5878287 w 5878287"/>
              <a:gd name="connsiteY2-16" fmla="*/ 6858000 h 6858000"/>
              <a:gd name="connsiteX3-17" fmla="*/ 0 w 5878287"/>
              <a:gd name="connsiteY3-18" fmla="*/ 6858000 h 6858000"/>
              <a:gd name="connsiteX4-19" fmla="*/ 0 w 5878287"/>
              <a:gd name="connsiteY4-20" fmla="*/ 0 h 6858000"/>
              <a:gd name="connsiteX0-21" fmla="*/ 0 w 5878287"/>
              <a:gd name="connsiteY0-22" fmla="*/ 0 h 6858000"/>
              <a:gd name="connsiteX1-23" fmla="*/ 1944916 w 5878287"/>
              <a:gd name="connsiteY1-24" fmla="*/ 0 h 6858000"/>
              <a:gd name="connsiteX2-25" fmla="*/ 5878287 w 5878287"/>
              <a:gd name="connsiteY2-26" fmla="*/ 6858000 h 6858000"/>
              <a:gd name="connsiteX3-27" fmla="*/ 0 w 5878287"/>
              <a:gd name="connsiteY3-28" fmla="*/ 6858000 h 6858000"/>
              <a:gd name="connsiteX4-29" fmla="*/ 0 w 5878287"/>
              <a:gd name="connsiteY4-30" fmla="*/ 0 h 6858000"/>
              <a:gd name="connsiteX0-31" fmla="*/ 0 w 5878287"/>
              <a:gd name="connsiteY0-32" fmla="*/ 0 h 6858000"/>
              <a:gd name="connsiteX1-33" fmla="*/ 1944916 w 5878287"/>
              <a:gd name="connsiteY1-34" fmla="*/ 0 h 6858000"/>
              <a:gd name="connsiteX2-35" fmla="*/ 5878287 w 5878287"/>
              <a:gd name="connsiteY2-36" fmla="*/ 6858000 h 6858000"/>
              <a:gd name="connsiteX3-37" fmla="*/ 0 w 5878287"/>
              <a:gd name="connsiteY3-38" fmla="*/ 6858000 h 6858000"/>
              <a:gd name="connsiteX4-39" fmla="*/ 0 w 5878287"/>
              <a:gd name="connsiteY4-40" fmla="*/ 0 h 6858000"/>
              <a:gd name="connsiteX0-41" fmla="*/ 0 w 5878287"/>
              <a:gd name="connsiteY0-42" fmla="*/ 0 h 6858000"/>
              <a:gd name="connsiteX1-43" fmla="*/ 1944916 w 5878287"/>
              <a:gd name="connsiteY1-44" fmla="*/ 0 h 6858000"/>
              <a:gd name="connsiteX2-45" fmla="*/ 5878287 w 5878287"/>
              <a:gd name="connsiteY2-46" fmla="*/ 6858000 h 6858000"/>
              <a:gd name="connsiteX3-47" fmla="*/ 0 w 5878287"/>
              <a:gd name="connsiteY3-48" fmla="*/ 6858000 h 6858000"/>
              <a:gd name="connsiteX4-49" fmla="*/ 0 w 5878287"/>
              <a:gd name="connsiteY4-50" fmla="*/ 0 h 6858000"/>
              <a:gd name="connsiteX0-51" fmla="*/ 0 w 5878287"/>
              <a:gd name="connsiteY0-52" fmla="*/ 0 h 6858000"/>
              <a:gd name="connsiteX1-53" fmla="*/ 1944916 w 5878287"/>
              <a:gd name="connsiteY1-54" fmla="*/ 0 h 6858000"/>
              <a:gd name="connsiteX2-55" fmla="*/ 5878287 w 5878287"/>
              <a:gd name="connsiteY2-56" fmla="*/ 6858000 h 6858000"/>
              <a:gd name="connsiteX3-57" fmla="*/ 0 w 5878287"/>
              <a:gd name="connsiteY3-58" fmla="*/ 6858000 h 6858000"/>
              <a:gd name="connsiteX4-59" fmla="*/ 0 w 5878287"/>
              <a:gd name="connsiteY4-60" fmla="*/ 0 h 6858000"/>
              <a:gd name="connsiteX0-61" fmla="*/ 0 w 5308680"/>
              <a:gd name="connsiteY0-62" fmla="*/ 0 h 6903720"/>
              <a:gd name="connsiteX1-63" fmla="*/ 1944916 w 5308680"/>
              <a:gd name="connsiteY1-64" fmla="*/ 0 h 6903720"/>
              <a:gd name="connsiteX2-65" fmla="*/ 5308680 w 5308680"/>
              <a:gd name="connsiteY2-66" fmla="*/ 6903720 h 6903720"/>
              <a:gd name="connsiteX3-67" fmla="*/ 0 w 5308680"/>
              <a:gd name="connsiteY3-68" fmla="*/ 6858000 h 6903720"/>
              <a:gd name="connsiteX4-69" fmla="*/ 0 w 5308680"/>
              <a:gd name="connsiteY4-70" fmla="*/ 0 h 6903720"/>
              <a:gd name="connsiteX0-71" fmla="*/ 0 w 5297684"/>
              <a:gd name="connsiteY0-72" fmla="*/ 0 h 6866650"/>
              <a:gd name="connsiteX1-73" fmla="*/ 1944916 w 5297684"/>
              <a:gd name="connsiteY1-74" fmla="*/ 0 h 6866650"/>
              <a:gd name="connsiteX2-75" fmla="*/ 5297684 w 5297684"/>
              <a:gd name="connsiteY2-76" fmla="*/ 6866650 h 6866650"/>
              <a:gd name="connsiteX3-77" fmla="*/ 0 w 5297684"/>
              <a:gd name="connsiteY3-78" fmla="*/ 6858000 h 6866650"/>
              <a:gd name="connsiteX4-79" fmla="*/ 0 w 5297684"/>
              <a:gd name="connsiteY4-80" fmla="*/ 0 h 6866650"/>
              <a:gd name="connsiteX0-81" fmla="*/ 0 w 5286688"/>
              <a:gd name="connsiteY0-82" fmla="*/ 0 h 6866650"/>
              <a:gd name="connsiteX1-83" fmla="*/ 1944916 w 5286688"/>
              <a:gd name="connsiteY1-84" fmla="*/ 0 h 6866650"/>
              <a:gd name="connsiteX2-85" fmla="*/ 5286688 w 5286688"/>
              <a:gd name="connsiteY2-86" fmla="*/ 6866650 h 6866650"/>
              <a:gd name="connsiteX3-87" fmla="*/ 0 w 5286688"/>
              <a:gd name="connsiteY3-88" fmla="*/ 6858000 h 6866650"/>
              <a:gd name="connsiteX4-89" fmla="*/ 0 w 5286688"/>
              <a:gd name="connsiteY4-90" fmla="*/ 0 h 6866650"/>
              <a:gd name="connsiteX0-91" fmla="*/ 0 w 5253699"/>
              <a:gd name="connsiteY0-92" fmla="*/ 0 h 6866650"/>
              <a:gd name="connsiteX1-93" fmla="*/ 1944916 w 5253699"/>
              <a:gd name="connsiteY1-94" fmla="*/ 0 h 6866650"/>
              <a:gd name="connsiteX2-95" fmla="*/ 5253699 w 5253699"/>
              <a:gd name="connsiteY2-96" fmla="*/ 6866650 h 6866650"/>
              <a:gd name="connsiteX3-97" fmla="*/ 0 w 5253699"/>
              <a:gd name="connsiteY3-98" fmla="*/ 6858000 h 6866650"/>
              <a:gd name="connsiteX4-99" fmla="*/ 0 w 5253699"/>
              <a:gd name="connsiteY4-100" fmla="*/ 0 h 68666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253699" h="6866650">
                <a:moveTo>
                  <a:pt x="0" y="0"/>
                </a:moveTo>
                <a:lnTo>
                  <a:pt x="1944916" y="0"/>
                </a:lnTo>
                <a:cubicBezTo>
                  <a:pt x="1514326" y="4709886"/>
                  <a:pt x="4740860" y="6540078"/>
                  <a:pt x="5253699" y="6866650"/>
                </a:cubicBezTo>
                <a:lnTo>
                  <a:pt x="0" y="6858000"/>
                </a:lnTo>
                <a:lnTo>
                  <a:pt x="0" y="0"/>
                </a:lnTo>
                <a:close/>
              </a:path>
            </a:pathLst>
          </a:custGeom>
          <a:solidFill>
            <a:schemeClr val="bg1"/>
          </a:solidFill>
          <a:ln>
            <a:noFill/>
          </a:ln>
          <a:effectLst>
            <a:outerShdw blurRad="1905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 y="0"/>
            <a:ext cx="5878287" cy="6858000"/>
          </a:xfrm>
          <a:custGeom>
            <a:avLst/>
            <a:gdLst>
              <a:gd name="connsiteX0" fmla="*/ 0 w 5878287"/>
              <a:gd name="connsiteY0" fmla="*/ 0 h 6858000"/>
              <a:gd name="connsiteX1" fmla="*/ 5878287 w 5878287"/>
              <a:gd name="connsiteY1" fmla="*/ 0 h 6858000"/>
              <a:gd name="connsiteX2" fmla="*/ 5878287 w 5878287"/>
              <a:gd name="connsiteY2" fmla="*/ 6858000 h 6858000"/>
              <a:gd name="connsiteX3" fmla="*/ 0 w 5878287"/>
              <a:gd name="connsiteY3" fmla="*/ 6858000 h 6858000"/>
              <a:gd name="connsiteX4" fmla="*/ 0 w 5878287"/>
              <a:gd name="connsiteY4" fmla="*/ 0 h 6858000"/>
              <a:gd name="connsiteX0-1" fmla="*/ 0 w 5878287"/>
              <a:gd name="connsiteY0-2" fmla="*/ 0 h 6858000"/>
              <a:gd name="connsiteX1-3" fmla="*/ 1944916 w 5878287"/>
              <a:gd name="connsiteY1-4" fmla="*/ 0 h 6858000"/>
              <a:gd name="connsiteX2-5" fmla="*/ 5878287 w 5878287"/>
              <a:gd name="connsiteY2-6" fmla="*/ 0 h 6858000"/>
              <a:gd name="connsiteX3-7" fmla="*/ 5878287 w 5878287"/>
              <a:gd name="connsiteY3-8" fmla="*/ 6858000 h 6858000"/>
              <a:gd name="connsiteX4-9" fmla="*/ 0 w 5878287"/>
              <a:gd name="connsiteY4-10" fmla="*/ 6858000 h 6858000"/>
              <a:gd name="connsiteX5" fmla="*/ 0 w 5878287"/>
              <a:gd name="connsiteY5" fmla="*/ 0 h 6858000"/>
              <a:gd name="connsiteX0-11" fmla="*/ 0 w 5878287"/>
              <a:gd name="connsiteY0-12" fmla="*/ 0 h 6858000"/>
              <a:gd name="connsiteX1-13" fmla="*/ 1944916 w 5878287"/>
              <a:gd name="connsiteY1-14" fmla="*/ 0 h 6858000"/>
              <a:gd name="connsiteX2-15" fmla="*/ 5878287 w 5878287"/>
              <a:gd name="connsiteY2-16" fmla="*/ 6858000 h 6858000"/>
              <a:gd name="connsiteX3-17" fmla="*/ 0 w 5878287"/>
              <a:gd name="connsiteY3-18" fmla="*/ 6858000 h 6858000"/>
              <a:gd name="connsiteX4-19" fmla="*/ 0 w 5878287"/>
              <a:gd name="connsiteY4-20" fmla="*/ 0 h 6858000"/>
              <a:gd name="connsiteX0-21" fmla="*/ 0 w 5878287"/>
              <a:gd name="connsiteY0-22" fmla="*/ 0 h 6858000"/>
              <a:gd name="connsiteX1-23" fmla="*/ 1944916 w 5878287"/>
              <a:gd name="connsiteY1-24" fmla="*/ 0 h 6858000"/>
              <a:gd name="connsiteX2-25" fmla="*/ 5878287 w 5878287"/>
              <a:gd name="connsiteY2-26" fmla="*/ 6858000 h 6858000"/>
              <a:gd name="connsiteX3-27" fmla="*/ 0 w 5878287"/>
              <a:gd name="connsiteY3-28" fmla="*/ 6858000 h 6858000"/>
              <a:gd name="connsiteX4-29" fmla="*/ 0 w 5878287"/>
              <a:gd name="connsiteY4-30" fmla="*/ 0 h 6858000"/>
              <a:gd name="connsiteX0-31" fmla="*/ 0 w 5878287"/>
              <a:gd name="connsiteY0-32" fmla="*/ 0 h 6858000"/>
              <a:gd name="connsiteX1-33" fmla="*/ 1944916 w 5878287"/>
              <a:gd name="connsiteY1-34" fmla="*/ 0 h 6858000"/>
              <a:gd name="connsiteX2-35" fmla="*/ 5878287 w 5878287"/>
              <a:gd name="connsiteY2-36" fmla="*/ 6858000 h 6858000"/>
              <a:gd name="connsiteX3-37" fmla="*/ 0 w 5878287"/>
              <a:gd name="connsiteY3-38" fmla="*/ 6858000 h 6858000"/>
              <a:gd name="connsiteX4-39" fmla="*/ 0 w 5878287"/>
              <a:gd name="connsiteY4-40" fmla="*/ 0 h 6858000"/>
              <a:gd name="connsiteX0-41" fmla="*/ 0 w 5878287"/>
              <a:gd name="connsiteY0-42" fmla="*/ 0 h 6858000"/>
              <a:gd name="connsiteX1-43" fmla="*/ 1944916 w 5878287"/>
              <a:gd name="connsiteY1-44" fmla="*/ 0 h 6858000"/>
              <a:gd name="connsiteX2-45" fmla="*/ 5878287 w 5878287"/>
              <a:gd name="connsiteY2-46" fmla="*/ 6858000 h 6858000"/>
              <a:gd name="connsiteX3-47" fmla="*/ 0 w 5878287"/>
              <a:gd name="connsiteY3-48" fmla="*/ 6858000 h 6858000"/>
              <a:gd name="connsiteX4-49" fmla="*/ 0 w 5878287"/>
              <a:gd name="connsiteY4-50" fmla="*/ 0 h 6858000"/>
              <a:gd name="connsiteX0-51" fmla="*/ 0 w 5878287"/>
              <a:gd name="connsiteY0-52" fmla="*/ 0 h 6858000"/>
              <a:gd name="connsiteX1-53" fmla="*/ 1944916 w 5878287"/>
              <a:gd name="connsiteY1-54" fmla="*/ 0 h 6858000"/>
              <a:gd name="connsiteX2-55" fmla="*/ 5878287 w 5878287"/>
              <a:gd name="connsiteY2-56" fmla="*/ 6858000 h 6858000"/>
              <a:gd name="connsiteX3-57" fmla="*/ 0 w 5878287"/>
              <a:gd name="connsiteY3-58" fmla="*/ 6858000 h 6858000"/>
              <a:gd name="connsiteX4-59" fmla="*/ 0 w 5878287"/>
              <a:gd name="connsiteY4-60" fmla="*/ 0 h 6858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878287" h="6858000">
                <a:moveTo>
                  <a:pt x="0" y="0"/>
                </a:moveTo>
                <a:lnTo>
                  <a:pt x="1944916" y="0"/>
                </a:lnTo>
                <a:cubicBezTo>
                  <a:pt x="1514326" y="4709886"/>
                  <a:pt x="5365448" y="6531428"/>
                  <a:pt x="5878287" y="6858000"/>
                </a:cubicBezTo>
                <a:lnTo>
                  <a:pt x="0" y="6858000"/>
                </a:lnTo>
                <a:lnTo>
                  <a:pt x="0" y="0"/>
                </a:lnTo>
                <a:close/>
              </a:path>
            </a:pathLst>
          </a:custGeom>
          <a:gradFill>
            <a:gsLst>
              <a:gs pos="0">
                <a:srgbClr val="2CA0EB"/>
              </a:gs>
              <a:gs pos="84000">
                <a:srgbClr val="1E53BB"/>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984715" y="4659086"/>
            <a:ext cx="5207285" cy="2198914"/>
          </a:xfrm>
          <a:custGeom>
            <a:avLst/>
            <a:gdLst>
              <a:gd name="connsiteX0" fmla="*/ 0 w 5907314"/>
              <a:gd name="connsiteY0" fmla="*/ 0 h 2198914"/>
              <a:gd name="connsiteX1" fmla="*/ 5907314 w 5907314"/>
              <a:gd name="connsiteY1" fmla="*/ 0 h 2198914"/>
              <a:gd name="connsiteX2" fmla="*/ 5907314 w 5907314"/>
              <a:gd name="connsiteY2" fmla="*/ 2198914 h 2198914"/>
              <a:gd name="connsiteX3" fmla="*/ 0 w 5907314"/>
              <a:gd name="connsiteY3" fmla="*/ 2198914 h 2198914"/>
              <a:gd name="connsiteX4" fmla="*/ 0 w 5907314"/>
              <a:gd name="connsiteY4" fmla="*/ 0 h 2198914"/>
              <a:gd name="connsiteX0-1" fmla="*/ 0 w 5907314"/>
              <a:gd name="connsiteY0-2" fmla="*/ 2198914 h 2198914"/>
              <a:gd name="connsiteX1-3" fmla="*/ 5907314 w 5907314"/>
              <a:gd name="connsiteY1-4" fmla="*/ 0 h 2198914"/>
              <a:gd name="connsiteX2-5" fmla="*/ 5907314 w 5907314"/>
              <a:gd name="connsiteY2-6" fmla="*/ 2198914 h 2198914"/>
              <a:gd name="connsiteX3-7" fmla="*/ 0 w 5907314"/>
              <a:gd name="connsiteY3-8" fmla="*/ 2198914 h 2198914"/>
              <a:gd name="connsiteX0-9" fmla="*/ 0 w 5907314"/>
              <a:gd name="connsiteY0-10" fmla="*/ 2198914 h 2198914"/>
              <a:gd name="connsiteX1-11" fmla="*/ 5907314 w 5907314"/>
              <a:gd name="connsiteY1-12" fmla="*/ 0 h 2198914"/>
              <a:gd name="connsiteX2-13" fmla="*/ 5907314 w 5907314"/>
              <a:gd name="connsiteY2-14" fmla="*/ 2198914 h 2198914"/>
              <a:gd name="connsiteX3-15" fmla="*/ 0 w 5907314"/>
              <a:gd name="connsiteY3-16" fmla="*/ 2198914 h 2198914"/>
              <a:gd name="connsiteX0-17" fmla="*/ 0 w 5907314"/>
              <a:gd name="connsiteY0-18" fmla="*/ 2198914 h 2198914"/>
              <a:gd name="connsiteX1-19" fmla="*/ 5907314 w 5907314"/>
              <a:gd name="connsiteY1-20" fmla="*/ 0 h 2198914"/>
              <a:gd name="connsiteX2-21" fmla="*/ 5907314 w 5907314"/>
              <a:gd name="connsiteY2-22" fmla="*/ 2198914 h 2198914"/>
              <a:gd name="connsiteX3-23" fmla="*/ 0 w 5907314"/>
              <a:gd name="connsiteY3-24" fmla="*/ 2198914 h 2198914"/>
              <a:gd name="connsiteX0-25" fmla="*/ 0 w 5907314"/>
              <a:gd name="connsiteY0-26" fmla="*/ 2198914 h 2198914"/>
              <a:gd name="connsiteX1-27" fmla="*/ 5907314 w 5907314"/>
              <a:gd name="connsiteY1-28" fmla="*/ 0 h 2198914"/>
              <a:gd name="connsiteX2-29" fmla="*/ 5907314 w 5907314"/>
              <a:gd name="connsiteY2-30" fmla="*/ 2198914 h 2198914"/>
              <a:gd name="connsiteX3-31" fmla="*/ 0 w 5907314"/>
              <a:gd name="connsiteY3-32" fmla="*/ 2198914 h 2198914"/>
            </a:gdLst>
            <a:ahLst/>
            <a:cxnLst>
              <a:cxn ang="0">
                <a:pos x="connsiteX0-1" y="connsiteY0-2"/>
              </a:cxn>
              <a:cxn ang="0">
                <a:pos x="connsiteX1-3" y="connsiteY1-4"/>
              </a:cxn>
              <a:cxn ang="0">
                <a:pos x="connsiteX2-5" y="connsiteY2-6"/>
              </a:cxn>
              <a:cxn ang="0">
                <a:pos x="connsiteX3-7" y="connsiteY3-8"/>
              </a:cxn>
            </a:cxnLst>
            <a:rect l="l" t="t" r="r" b="b"/>
            <a:pathLst>
              <a:path w="5907314" h="2198914">
                <a:moveTo>
                  <a:pt x="0" y="2198914"/>
                </a:moveTo>
                <a:cubicBezTo>
                  <a:pt x="1751390" y="1988457"/>
                  <a:pt x="3938209" y="1603828"/>
                  <a:pt x="5907314" y="0"/>
                </a:cubicBezTo>
                <a:lnTo>
                  <a:pt x="5907314" y="2198914"/>
                </a:lnTo>
                <a:lnTo>
                  <a:pt x="0" y="2198914"/>
                </a:lnTo>
                <a:close/>
              </a:path>
            </a:pathLst>
          </a:custGeom>
          <a:solidFill>
            <a:schemeClr val="bg1"/>
          </a:solidFill>
          <a:ln>
            <a:noFill/>
          </a:ln>
          <a:effectLst>
            <a:outerShdw blurRad="101600" dist="63500" dir="13500000" algn="b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0" y="0"/>
            <a:ext cx="3004457" cy="5355771"/>
          </a:xfrm>
          <a:custGeom>
            <a:avLst/>
            <a:gdLst>
              <a:gd name="connsiteX0" fmla="*/ 0 w 3004457"/>
              <a:gd name="connsiteY0" fmla="*/ 0 h 5355771"/>
              <a:gd name="connsiteX1" fmla="*/ 3004457 w 3004457"/>
              <a:gd name="connsiteY1" fmla="*/ 0 h 5355771"/>
              <a:gd name="connsiteX2" fmla="*/ 3004457 w 3004457"/>
              <a:gd name="connsiteY2" fmla="*/ 5355771 h 5355771"/>
              <a:gd name="connsiteX3" fmla="*/ 0 w 3004457"/>
              <a:gd name="connsiteY3" fmla="*/ 5355771 h 5355771"/>
              <a:gd name="connsiteX4" fmla="*/ 0 w 3004457"/>
              <a:gd name="connsiteY4" fmla="*/ 0 h 5355771"/>
              <a:gd name="connsiteX0-1" fmla="*/ 0 w 3004457"/>
              <a:gd name="connsiteY0-2" fmla="*/ 0 h 5355771"/>
              <a:gd name="connsiteX1-3" fmla="*/ 3004457 w 3004457"/>
              <a:gd name="connsiteY1-4" fmla="*/ 0 h 5355771"/>
              <a:gd name="connsiteX2-5" fmla="*/ 0 w 3004457"/>
              <a:gd name="connsiteY2-6" fmla="*/ 5355771 h 5355771"/>
              <a:gd name="connsiteX3-7" fmla="*/ 0 w 3004457"/>
              <a:gd name="connsiteY3-8" fmla="*/ 0 h 5355771"/>
              <a:gd name="connsiteX0-9" fmla="*/ 0 w 3004457"/>
              <a:gd name="connsiteY0-10" fmla="*/ 0 h 5355771"/>
              <a:gd name="connsiteX1-11" fmla="*/ 3004457 w 3004457"/>
              <a:gd name="connsiteY1-12" fmla="*/ 0 h 5355771"/>
              <a:gd name="connsiteX2-13" fmla="*/ 0 w 3004457"/>
              <a:gd name="connsiteY2-14" fmla="*/ 5355771 h 5355771"/>
              <a:gd name="connsiteX3-15" fmla="*/ 0 w 3004457"/>
              <a:gd name="connsiteY3-16" fmla="*/ 0 h 5355771"/>
              <a:gd name="connsiteX0-17" fmla="*/ 0 w 3004457"/>
              <a:gd name="connsiteY0-18" fmla="*/ 0 h 5355771"/>
              <a:gd name="connsiteX1-19" fmla="*/ 3004457 w 3004457"/>
              <a:gd name="connsiteY1-20" fmla="*/ 0 h 5355771"/>
              <a:gd name="connsiteX2-21" fmla="*/ 0 w 3004457"/>
              <a:gd name="connsiteY2-22" fmla="*/ 5355771 h 5355771"/>
              <a:gd name="connsiteX3-23" fmla="*/ 0 w 3004457"/>
              <a:gd name="connsiteY3-24" fmla="*/ 0 h 5355771"/>
              <a:gd name="connsiteX0-25" fmla="*/ 0 w 3004457"/>
              <a:gd name="connsiteY0-26" fmla="*/ 0 h 5355771"/>
              <a:gd name="connsiteX1-27" fmla="*/ 3004457 w 3004457"/>
              <a:gd name="connsiteY1-28" fmla="*/ 0 h 5355771"/>
              <a:gd name="connsiteX2-29" fmla="*/ 0 w 3004457"/>
              <a:gd name="connsiteY2-30" fmla="*/ 5355771 h 5355771"/>
              <a:gd name="connsiteX3-31" fmla="*/ 0 w 3004457"/>
              <a:gd name="connsiteY3-32" fmla="*/ 0 h 5355771"/>
              <a:gd name="connsiteX0-33" fmla="*/ 0 w 3004457"/>
              <a:gd name="connsiteY0-34" fmla="*/ 0 h 5355771"/>
              <a:gd name="connsiteX1-35" fmla="*/ 3004457 w 3004457"/>
              <a:gd name="connsiteY1-36" fmla="*/ 0 h 5355771"/>
              <a:gd name="connsiteX2-37" fmla="*/ 0 w 3004457"/>
              <a:gd name="connsiteY2-38" fmla="*/ 5355771 h 5355771"/>
              <a:gd name="connsiteX3-39" fmla="*/ 0 w 3004457"/>
              <a:gd name="connsiteY3-40" fmla="*/ 0 h 5355771"/>
            </a:gdLst>
            <a:ahLst/>
            <a:cxnLst>
              <a:cxn ang="0">
                <a:pos x="connsiteX0-1" y="connsiteY0-2"/>
              </a:cxn>
              <a:cxn ang="0">
                <a:pos x="connsiteX1-3" y="connsiteY1-4"/>
              </a:cxn>
              <a:cxn ang="0">
                <a:pos x="connsiteX2-5" y="connsiteY2-6"/>
              </a:cxn>
              <a:cxn ang="0">
                <a:pos x="connsiteX3-7" y="connsiteY3-8"/>
              </a:cxn>
            </a:cxnLst>
            <a:rect l="l" t="t" r="r" b="b"/>
            <a:pathLst>
              <a:path w="3004457" h="5355771">
                <a:moveTo>
                  <a:pt x="0" y="0"/>
                </a:moveTo>
                <a:lnTo>
                  <a:pt x="3004457" y="0"/>
                </a:lnTo>
                <a:cubicBezTo>
                  <a:pt x="1756227" y="1030514"/>
                  <a:pt x="449943" y="2888343"/>
                  <a:pt x="0" y="5355771"/>
                </a:cubicBezTo>
                <a:lnTo>
                  <a:pt x="0" y="0"/>
                </a:lnTo>
                <a:close/>
              </a:path>
            </a:pathLst>
          </a:custGeom>
          <a:solidFill>
            <a:schemeClr val="bg1"/>
          </a:solidFill>
          <a:ln>
            <a:noFill/>
          </a:ln>
          <a:effectLst>
            <a:outerShdw blurRad="254000" dist="1143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6"/>
          <p:cNvSpPr/>
          <p:nvPr/>
        </p:nvSpPr>
        <p:spPr>
          <a:xfrm>
            <a:off x="-1" y="1"/>
            <a:ext cx="3004458" cy="4049486"/>
          </a:xfrm>
          <a:custGeom>
            <a:avLst/>
            <a:gdLst>
              <a:gd name="connsiteX0" fmla="*/ 0 w 3004457"/>
              <a:gd name="connsiteY0" fmla="*/ 0 h 5355771"/>
              <a:gd name="connsiteX1" fmla="*/ 3004457 w 3004457"/>
              <a:gd name="connsiteY1" fmla="*/ 0 h 5355771"/>
              <a:gd name="connsiteX2" fmla="*/ 3004457 w 3004457"/>
              <a:gd name="connsiteY2" fmla="*/ 5355771 h 5355771"/>
              <a:gd name="connsiteX3" fmla="*/ 0 w 3004457"/>
              <a:gd name="connsiteY3" fmla="*/ 5355771 h 5355771"/>
              <a:gd name="connsiteX4" fmla="*/ 0 w 3004457"/>
              <a:gd name="connsiteY4" fmla="*/ 0 h 5355771"/>
              <a:gd name="connsiteX0-1" fmla="*/ 0 w 3004457"/>
              <a:gd name="connsiteY0-2" fmla="*/ 0 h 5355771"/>
              <a:gd name="connsiteX1-3" fmla="*/ 3004457 w 3004457"/>
              <a:gd name="connsiteY1-4" fmla="*/ 0 h 5355771"/>
              <a:gd name="connsiteX2-5" fmla="*/ 0 w 3004457"/>
              <a:gd name="connsiteY2-6" fmla="*/ 5355771 h 5355771"/>
              <a:gd name="connsiteX3-7" fmla="*/ 0 w 3004457"/>
              <a:gd name="connsiteY3-8" fmla="*/ 0 h 5355771"/>
              <a:gd name="connsiteX0-9" fmla="*/ 0 w 3004457"/>
              <a:gd name="connsiteY0-10" fmla="*/ 0 h 5355771"/>
              <a:gd name="connsiteX1-11" fmla="*/ 3004457 w 3004457"/>
              <a:gd name="connsiteY1-12" fmla="*/ 0 h 5355771"/>
              <a:gd name="connsiteX2-13" fmla="*/ 0 w 3004457"/>
              <a:gd name="connsiteY2-14" fmla="*/ 5355771 h 5355771"/>
              <a:gd name="connsiteX3-15" fmla="*/ 0 w 3004457"/>
              <a:gd name="connsiteY3-16" fmla="*/ 0 h 5355771"/>
              <a:gd name="connsiteX0-17" fmla="*/ 0 w 3004457"/>
              <a:gd name="connsiteY0-18" fmla="*/ 0 h 5355771"/>
              <a:gd name="connsiteX1-19" fmla="*/ 3004457 w 3004457"/>
              <a:gd name="connsiteY1-20" fmla="*/ 0 h 5355771"/>
              <a:gd name="connsiteX2-21" fmla="*/ 0 w 3004457"/>
              <a:gd name="connsiteY2-22" fmla="*/ 5355771 h 5355771"/>
              <a:gd name="connsiteX3-23" fmla="*/ 0 w 3004457"/>
              <a:gd name="connsiteY3-24" fmla="*/ 0 h 5355771"/>
              <a:gd name="connsiteX0-25" fmla="*/ 0 w 3004457"/>
              <a:gd name="connsiteY0-26" fmla="*/ 0 h 5355771"/>
              <a:gd name="connsiteX1-27" fmla="*/ 3004457 w 3004457"/>
              <a:gd name="connsiteY1-28" fmla="*/ 0 h 5355771"/>
              <a:gd name="connsiteX2-29" fmla="*/ 0 w 3004457"/>
              <a:gd name="connsiteY2-30" fmla="*/ 5355771 h 5355771"/>
              <a:gd name="connsiteX3-31" fmla="*/ 0 w 3004457"/>
              <a:gd name="connsiteY3-32" fmla="*/ 0 h 5355771"/>
              <a:gd name="connsiteX0-33" fmla="*/ 0 w 3004457"/>
              <a:gd name="connsiteY0-34" fmla="*/ 0 h 5355771"/>
              <a:gd name="connsiteX1-35" fmla="*/ 3004457 w 3004457"/>
              <a:gd name="connsiteY1-36" fmla="*/ 0 h 5355771"/>
              <a:gd name="connsiteX2-37" fmla="*/ 0 w 3004457"/>
              <a:gd name="connsiteY2-38" fmla="*/ 5355771 h 5355771"/>
              <a:gd name="connsiteX3-39" fmla="*/ 0 w 3004457"/>
              <a:gd name="connsiteY3-40" fmla="*/ 0 h 5355771"/>
              <a:gd name="connsiteX0-41" fmla="*/ 0 w 3004457"/>
              <a:gd name="connsiteY0-42" fmla="*/ 0 h 5355771"/>
              <a:gd name="connsiteX1-43" fmla="*/ 3004457 w 3004457"/>
              <a:gd name="connsiteY1-44" fmla="*/ 0 h 5355771"/>
              <a:gd name="connsiteX2-45" fmla="*/ 0 w 3004457"/>
              <a:gd name="connsiteY2-46" fmla="*/ 5355771 h 5355771"/>
              <a:gd name="connsiteX3-47" fmla="*/ 0 w 3004457"/>
              <a:gd name="connsiteY3-48" fmla="*/ 0 h 5355771"/>
              <a:gd name="connsiteX0-49" fmla="*/ 0 w 3004457"/>
              <a:gd name="connsiteY0-50" fmla="*/ 0 h 5355771"/>
              <a:gd name="connsiteX1-51" fmla="*/ 3004457 w 3004457"/>
              <a:gd name="connsiteY1-52" fmla="*/ 0 h 5355771"/>
              <a:gd name="connsiteX2-53" fmla="*/ 0 w 3004457"/>
              <a:gd name="connsiteY2-54" fmla="*/ 5355771 h 5355771"/>
              <a:gd name="connsiteX3-55" fmla="*/ 0 w 3004457"/>
              <a:gd name="connsiteY3-56" fmla="*/ 0 h 5355771"/>
            </a:gdLst>
            <a:ahLst/>
            <a:cxnLst>
              <a:cxn ang="0">
                <a:pos x="connsiteX0-1" y="connsiteY0-2"/>
              </a:cxn>
              <a:cxn ang="0">
                <a:pos x="connsiteX1-3" y="connsiteY1-4"/>
              </a:cxn>
              <a:cxn ang="0">
                <a:pos x="connsiteX2-5" y="connsiteY2-6"/>
              </a:cxn>
              <a:cxn ang="0">
                <a:pos x="connsiteX3-7" y="connsiteY3-8"/>
              </a:cxn>
            </a:cxnLst>
            <a:rect l="l" t="t" r="r" b="b"/>
            <a:pathLst>
              <a:path w="3004457" h="5355771">
                <a:moveTo>
                  <a:pt x="0" y="0"/>
                </a:moveTo>
                <a:lnTo>
                  <a:pt x="3004457" y="0"/>
                </a:lnTo>
                <a:cubicBezTo>
                  <a:pt x="1756227" y="1030514"/>
                  <a:pt x="464457" y="3464234"/>
                  <a:pt x="0" y="5355771"/>
                </a:cubicBezTo>
                <a:lnTo>
                  <a:pt x="0" y="0"/>
                </a:lnTo>
                <a:close/>
              </a:path>
            </a:pathLst>
          </a:custGeom>
          <a:solidFill>
            <a:srgbClr val="1F7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9"/>
          <p:cNvSpPr/>
          <p:nvPr/>
        </p:nvSpPr>
        <p:spPr>
          <a:xfrm>
            <a:off x="8331200" y="4760686"/>
            <a:ext cx="3860799" cy="2097314"/>
          </a:xfrm>
          <a:custGeom>
            <a:avLst/>
            <a:gdLst>
              <a:gd name="connsiteX0" fmla="*/ 0 w 5907314"/>
              <a:gd name="connsiteY0" fmla="*/ 0 h 2198914"/>
              <a:gd name="connsiteX1" fmla="*/ 5907314 w 5907314"/>
              <a:gd name="connsiteY1" fmla="*/ 0 h 2198914"/>
              <a:gd name="connsiteX2" fmla="*/ 5907314 w 5907314"/>
              <a:gd name="connsiteY2" fmla="*/ 2198914 h 2198914"/>
              <a:gd name="connsiteX3" fmla="*/ 0 w 5907314"/>
              <a:gd name="connsiteY3" fmla="*/ 2198914 h 2198914"/>
              <a:gd name="connsiteX4" fmla="*/ 0 w 5907314"/>
              <a:gd name="connsiteY4" fmla="*/ 0 h 2198914"/>
              <a:gd name="connsiteX0-1" fmla="*/ 0 w 5907314"/>
              <a:gd name="connsiteY0-2" fmla="*/ 2198914 h 2198914"/>
              <a:gd name="connsiteX1-3" fmla="*/ 5907314 w 5907314"/>
              <a:gd name="connsiteY1-4" fmla="*/ 0 h 2198914"/>
              <a:gd name="connsiteX2-5" fmla="*/ 5907314 w 5907314"/>
              <a:gd name="connsiteY2-6" fmla="*/ 2198914 h 2198914"/>
              <a:gd name="connsiteX3-7" fmla="*/ 0 w 5907314"/>
              <a:gd name="connsiteY3-8" fmla="*/ 2198914 h 2198914"/>
              <a:gd name="connsiteX0-9" fmla="*/ 0 w 5907314"/>
              <a:gd name="connsiteY0-10" fmla="*/ 2198914 h 2198914"/>
              <a:gd name="connsiteX1-11" fmla="*/ 5907314 w 5907314"/>
              <a:gd name="connsiteY1-12" fmla="*/ 0 h 2198914"/>
              <a:gd name="connsiteX2-13" fmla="*/ 5907314 w 5907314"/>
              <a:gd name="connsiteY2-14" fmla="*/ 2198914 h 2198914"/>
              <a:gd name="connsiteX3-15" fmla="*/ 0 w 5907314"/>
              <a:gd name="connsiteY3-16" fmla="*/ 2198914 h 2198914"/>
              <a:gd name="connsiteX0-17" fmla="*/ 0 w 5907314"/>
              <a:gd name="connsiteY0-18" fmla="*/ 2198914 h 2198914"/>
              <a:gd name="connsiteX1-19" fmla="*/ 5907314 w 5907314"/>
              <a:gd name="connsiteY1-20" fmla="*/ 0 h 2198914"/>
              <a:gd name="connsiteX2-21" fmla="*/ 5907314 w 5907314"/>
              <a:gd name="connsiteY2-22" fmla="*/ 2198914 h 2198914"/>
              <a:gd name="connsiteX3-23" fmla="*/ 0 w 5907314"/>
              <a:gd name="connsiteY3-24" fmla="*/ 2198914 h 2198914"/>
              <a:gd name="connsiteX0-25" fmla="*/ 0 w 5907314"/>
              <a:gd name="connsiteY0-26" fmla="*/ 2198914 h 2198914"/>
              <a:gd name="connsiteX1-27" fmla="*/ 5907314 w 5907314"/>
              <a:gd name="connsiteY1-28" fmla="*/ 0 h 2198914"/>
              <a:gd name="connsiteX2-29" fmla="*/ 5907314 w 5907314"/>
              <a:gd name="connsiteY2-30" fmla="*/ 2198914 h 2198914"/>
              <a:gd name="connsiteX3-31" fmla="*/ 0 w 5907314"/>
              <a:gd name="connsiteY3-32" fmla="*/ 2198914 h 2198914"/>
              <a:gd name="connsiteX0-33" fmla="*/ 0 w 5907314"/>
              <a:gd name="connsiteY0-34" fmla="*/ 2198914 h 2198914"/>
              <a:gd name="connsiteX1-35" fmla="*/ 5907314 w 5907314"/>
              <a:gd name="connsiteY1-36" fmla="*/ 0 h 2198914"/>
              <a:gd name="connsiteX2-37" fmla="*/ 5907314 w 5907314"/>
              <a:gd name="connsiteY2-38" fmla="*/ 2198914 h 2198914"/>
              <a:gd name="connsiteX3-39" fmla="*/ 0 w 5907314"/>
              <a:gd name="connsiteY3-40" fmla="*/ 2198914 h 2198914"/>
              <a:gd name="connsiteX0-41" fmla="*/ 0 w 5907314"/>
              <a:gd name="connsiteY0-42" fmla="*/ 2198914 h 2198914"/>
              <a:gd name="connsiteX1-43" fmla="*/ 5907314 w 5907314"/>
              <a:gd name="connsiteY1-44" fmla="*/ 0 h 2198914"/>
              <a:gd name="connsiteX2-45" fmla="*/ 5907314 w 5907314"/>
              <a:gd name="connsiteY2-46" fmla="*/ 2198914 h 2198914"/>
              <a:gd name="connsiteX3-47" fmla="*/ 0 w 5907314"/>
              <a:gd name="connsiteY3-48" fmla="*/ 2198914 h 2198914"/>
              <a:gd name="connsiteX0-49" fmla="*/ 0 w 5907314"/>
              <a:gd name="connsiteY0-50" fmla="*/ 2198914 h 2198914"/>
              <a:gd name="connsiteX1-51" fmla="*/ 5907314 w 5907314"/>
              <a:gd name="connsiteY1-52" fmla="*/ 0 h 2198914"/>
              <a:gd name="connsiteX2-53" fmla="*/ 5907314 w 5907314"/>
              <a:gd name="connsiteY2-54" fmla="*/ 2198914 h 2198914"/>
              <a:gd name="connsiteX3-55" fmla="*/ 0 w 5907314"/>
              <a:gd name="connsiteY3-56" fmla="*/ 2198914 h 2198914"/>
              <a:gd name="connsiteX0-57" fmla="*/ 0 w 5907314"/>
              <a:gd name="connsiteY0-58" fmla="*/ 2198914 h 2198914"/>
              <a:gd name="connsiteX1-59" fmla="*/ 5907314 w 5907314"/>
              <a:gd name="connsiteY1-60" fmla="*/ 0 h 2198914"/>
              <a:gd name="connsiteX2-61" fmla="*/ 5907314 w 5907314"/>
              <a:gd name="connsiteY2-62" fmla="*/ 2198914 h 2198914"/>
              <a:gd name="connsiteX3-63" fmla="*/ 0 w 5907314"/>
              <a:gd name="connsiteY3-64" fmla="*/ 2198914 h 2198914"/>
            </a:gdLst>
            <a:ahLst/>
            <a:cxnLst>
              <a:cxn ang="0">
                <a:pos x="connsiteX0-1" y="connsiteY0-2"/>
              </a:cxn>
              <a:cxn ang="0">
                <a:pos x="connsiteX1-3" y="connsiteY1-4"/>
              </a:cxn>
              <a:cxn ang="0">
                <a:pos x="connsiteX2-5" y="connsiteY2-6"/>
              </a:cxn>
              <a:cxn ang="0">
                <a:pos x="connsiteX3-7" y="connsiteY3-8"/>
              </a:cxn>
            </a:cxnLst>
            <a:rect l="l" t="t" r="r" b="b"/>
            <a:pathLst>
              <a:path w="5907314" h="2198914">
                <a:moveTo>
                  <a:pt x="0" y="2198914"/>
                </a:moveTo>
                <a:cubicBezTo>
                  <a:pt x="1640351" y="1927587"/>
                  <a:pt x="4094237" y="1208176"/>
                  <a:pt x="5907314" y="0"/>
                </a:cubicBezTo>
                <a:lnTo>
                  <a:pt x="5907314" y="2198914"/>
                </a:lnTo>
                <a:lnTo>
                  <a:pt x="0" y="2198914"/>
                </a:lnTo>
                <a:close/>
              </a:path>
            </a:pathLst>
          </a:custGeom>
          <a:solidFill>
            <a:srgbClr val="1F7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6"/>
          <p:cNvSpPr/>
          <p:nvPr/>
        </p:nvSpPr>
        <p:spPr>
          <a:xfrm>
            <a:off x="-1" y="1"/>
            <a:ext cx="3004458" cy="3102700"/>
          </a:xfrm>
          <a:custGeom>
            <a:avLst/>
            <a:gdLst>
              <a:gd name="connsiteX0" fmla="*/ 0 w 3004457"/>
              <a:gd name="connsiteY0" fmla="*/ 0 h 5355771"/>
              <a:gd name="connsiteX1" fmla="*/ 3004457 w 3004457"/>
              <a:gd name="connsiteY1" fmla="*/ 0 h 5355771"/>
              <a:gd name="connsiteX2" fmla="*/ 3004457 w 3004457"/>
              <a:gd name="connsiteY2" fmla="*/ 5355771 h 5355771"/>
              <a:gd name="connsiteX3" fmla="*/ 0 w 3004457"/>
              <a:gd name="connsiteY3" fmla="*/ 5355771 h 5355771"/>
              <a:gd name="connsiteX4" fmla="*/ 0 w 3004457"/>
              <a:gd name="connsiteY4" fmla="*/ 0 h 5355771"/>
              <a:gd name="connsiteX0-1" fmla="*/ 0 w 3004457"/>
              <a:gd name="connsiteY0-2" fmla="*/ 0 h 5355771"/>
              <a:gd name="connsiteX1-3" fmla="*/ 3004457 w 3004457"/>
              <a:gd name="connsiteY1-4" fmla="*/ 0 h 5355771"/>
              <a:gd name="connsiteX2-5" fmla="*/ 0 w 3004457"/>
              <a:gd name="connsiteY2-6" fmla="*/ 5355771 h 5355771"/>
              <a:gd name="connsiteX3-7" fmla="*/ 0 w 3004457"/>
              <a:gd name="connsiteY3-8" fmla="*/ 0 h 5355771"/>
              <a:gd name="connsiteX0-9" fmla="*/ 0 w 3004457"/>
              <a:gd name="connsiteY0-10" fmla="*/ 0 h 5355771"/>
              <a:gd name="connsiteX1-11" fmla="*/ 3004457 w 3004457"/>
              <a:gd name="connsiteY1-12" fmla="*/ 0 h 5355771"/>
              <a:gd name="connsiteX2-13" fmla="*/ 0 w 3004457"/>
              <a:gd name="connsiteY2-14" fmla="*/ 5355771 h 5355771"/>
              <a:gd name="connsiteX3-15" fmla="*/ 0 w 3004457"/>
              <a:gd name="connsiteY3-16" fmla="*/ 0 h 5355771"/>
              <a:gd name="connsiteX0-17" fmla="*/ 0 w 3004457"/>
              <a:gd name="connsiteY0-18" fmla="*/ 0 h 5355771"/>
              <a:gd name="connsiteX1-19" fmla="*/ 3004457 w 3004457"/>
              <a:gd name="connsiteY1-20" fmla="*/ 0 h 5355771"/>
              <a:gd name="connsiteX2-21" fmla="*/ 0 w 3004457"/>
              <a:gd name="connsiteY2-22" fmla="*/ 5355771 h 5355771"/>
              <a:gd name="connsiteX3-23" fmla="*/ 0 w 3004457"/>
              <a:gd name="connsiteY3-24" fmla="*/ 0 h 5355771"/>
              <a:gd name="connsiteX0-25" fmla="*/ 0 w 3004457"/>
              <a:gd name="connsiteY0-26" fmla="*/ 0 h 5355771"/>
              <a:gd name="connsiteX1-27" fmla="*/ 3004457 w 3004457"/>
              <a:gd name="connsiteY1-28" fmla="*/ 0 h 5355771"/>
              <a:gd name="connsiteX2-29" fmla="*/ 0 w 3004457"/>
              <a:gd name="connsiteY2-30" fmla="*/ 5355771 h 5355771"/>
              <a:gd name="connsiteX3-31" fmla="*/ 0 w 3004457"/>
              <a:gd name="connsiteY3-32" fmla="*/ 0 h 5355771"/>
              <a:gd name="connsiteX0-33" fmla="*/ 0 w 3004457"/>
              <a:gd name="connsiteY0-34" fmla="*/ 0 h 5355771"/>
              <a:gd name="connsiteX1-35" fmla="*/ 3004457 w 3004457"/>
              <a:gd name="connsiteY1-36" fmla="*/ 0 h 5355771"/>
              <a:gd name="connsiteX2-37" fmla="*/ 0 w 3004457"/>
              <a:gd name="connsiteY2-38" fmla="*/ 5355771 h 5355771"/>
              <a:gd name="connsiteX3-39" fmla="*/ 0 w 3004457"/>
              <a:gd name="connsiteY3-40" fmla="*/ 0 h 5355771"/>
              <a:gd name="connsiteX0-41" fmla="*/ 0 w 3004457"/>
              <a:gd name="connsiteY0-42" fmla="*/ 0 h 5355771"/>
              <a:gd name="connsiteX1-43" fmla="*/ 3004457 w 3004457"/>
              <a:gd name="connsiteY1-44" fmla="*/ 0 h 5355771"/>
              <a:gd name="connsiteX2-45" fmla="*/ 0 w 3004457"/>
              <a:gd name="connsiteY2-46" fmla="*/ 5355771 h 5355771"/>
              <a:gd name="connsiteX3-47" fmla="*/ 0 w 3004457"/>
              <a:gd name="connsiteY3-48" fmla="*/ 0 h 5355771"/>
              <a:gd name="connsiteX0-49" fmla="*/ 0 w 3004457"/>
              <a:gd name="connsiteY0-50" fmla="*/ 0 h 5355771"/>
              <a:gd name="connsiteX1-51" fmla="*/ 3004457 w 3004457"/>
              <a:gd name="connsiteY1-52" fmla="*/ 0 h 5355771"/>
              <a:gd name="connsiteX2-53" fmla="*/ 0 w 3004457"/>
              <a:gd name="connsiteY2-54" fmla="*/ 5355771 h 5355771"/>
              <a:gd name="connsiteX3-55" fmla="*/ 0 w 3004457"/>
              <a:gd name="connsiteY3-56" fmla="*/ 0 h 5355771"/>
            </a:gdLst>
            <a:ahLst/>
            <a:cxnLst>
              <a:cxn ang="0">
                <a:pos x="connsiteX0-1" y="connsiteY0-2"/>
              </a:cxn>
              <a:cxn ang="0">
                <a:pos x="connsiteX1-3" y="connsiteY1-4"/>
              </a:cxn>
              <a:cxn ang="0">
                <a:pos x="connsiteX2-5" y="connsiteY2-6"/>
              </a:cxn>
              <a:cxn ang="0">
                <a:pos x="connsiteX3-7" y="connsiteY3-8"/>
              </a:cxn>
            </a:cxnLst>
            <a:rect l="l" t="t" r="r" b="b"/>
            <a:pathLst>
              <a:path w="3004457" h="5355771">
                <a:moveTo>
                  <a:pt x="0" y="0"/>
                </a:moveTo>
                <a:lnTo>
                  <a:pt x="3004457" y="0"/>
                </a:lnTo>
                <a:cubicBezTo>
                  <a:pt x="1756227" y="1030514"/>
                  <a:pt x="464457" y="3464234"/>
                  <a:pt x="0" y="5355771"/>
                </a:cubicBezTo>
                <a:lnTo>
                  <a:pt x="0" y="0"/>
                </a:lnTo>
                <a:close/>
              </a:path>
            </a:pathLst>
          </a:custGeom>
          <a:solidFill>
            <a:srgbClr val="2CA0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9"/>
          <p:cNvSpPr/>
          <p:nvPr/>
        </p:nvSpPr>
        <p:spPr>
          <a:xfrm>
            <a:off x="9199984" y="4786092"/>
            <a:ext cx="2992015" cy="2079591"/>
          </a:xfrm>
          <a:custGeom>
            <a:avLst/>
            <a:gdLst>
              <a:gd name="connsiteX0" fmla="*/ 0 w 5907314"/>
              <a:gd name="connsiteY0" fmla="*/ 0 h 2198914"/>
              <a:gd name="connsiteX1" fmla="*/ 5907314 w 5907314"/>
              <a:gd name="connsiteY1" fmla="*/ 0 h 2198914"/>
              <a:gd name="connsiteX2" fmla="*/ 5907314 w 5907314"/>
              <a:gd name="connsiteY2" fmla="*/ 2198914 h 2198914"/>
              <a:gd name="connsiteX3" fmla="*/ 0 w 5907314"/>
              <a:gd name="connsiteY3" fmla="*/ 2198914 h 2198914"/>
              <a:gd name="connsiteX4" fmla="*/ 0 w 5907314"/>
              <a:gd name="connsiteY4" fmla="*/ 0 h 2198914"/>
              <a:gd name="connsiteX0-1" fmla="*/ 0 w 5907314"/>
              <a:gd name="connsiteY0-2" fmla="*/ 2198914 h 2198914"/>
              <a:gd name="connsiteX1-3" fmla="*/ 5907314 w 5907314"/>
              <a:gd name="connsiteY1-4" fmla="*/ 0 h 2198914"/>
              <a:gd name="connsiteX2-5" fmla="*/ 5907314 w 5907314"/>
              <a:gd name="connsiteY2-6" fmla="*/ 2198914 h 2198914"/>
              <a:gd name="connsiteX3-7" fmla="*/ 0 w 5907314"/>
              <a:gd name="connsiteY3-8" fmla="*/ 2198914 h 2198914"/>
              <a:gd name="connsiteX0-9" fmla="*/ 0 w 5907314"/>
              <a:gd name="connsiteY0-10" fmla="*/ 2198914 h 2198914"/>
              <a:gd name="connsiteX1-11" fmla="*/ 5907314 w 5907314"/>
              <a:gd name="connsiteY1-12" fmla="*/ 0 h 2198914"/>
              <a:gd name="connsiteX2-13" fmla="*/ 5907314 w 5907314"/>
              <a:gd name="connsiteY2-14" fmla="*/ 2198914 h 2198914"/>
              <a:gd name="connsiteX3-15" fmla="*/ 0 w 5907314"/>
              <a:gd name="connsiteY3-16" fmla="*/ 2198914 h 2198914"/>
              <a:gd name="connsiteX0-17" fmla="*/ 0 w 5907314"/>
              <a:gd name="connsiteY0-18" fmla="*/ 2198914 h 2198914"/>
              <a:gd name="connsiteX1-19" fmla="*/ 5907314 w 5907314"/>
              <a:gd name="connsiteY1-20" fmla="*/ 0 h 2198914"/>
              <a:gd name="connsiteX2-21" fmla="*/ 5907314 w 5907314"/>
              <a:gd name="connsiteY2-22" fmla="*/ 2198914 h 2198914"/>
              <a:gd name="connsiteX3-23" fmla="*/ 0 w 5907314"/>
              <a:gd name="connsiteY3-24" fmla="*/ 2198914 h 2198914"/>
              <a:gd name="connsiteX0-25" fmla="*/ 0 w 5907314"/>
              <a:gd name="connsiteY0-26" fmla="*/ 2198914 h 2198914"/>
              <a:gd name="connsiteX1-27" fmla="*/ 5907314 w 5907314"/>
              <a:gd name="connsiteY1-28" fmla="*/ 0 h 2198914"/>
              <a:gd name="connsiteX2-29" fmla="*/ 5907314 w 5907314"/>
              <a:gd name="connsiteY2-30" fmla="*/ 2198914 h 2198914"/>
              <a:gd name="connsiteX3-31" fmla="*/ 0 w 5907314"/>
              <a:gd name="connsiteY3-32" fmla="*/ 2198914 h 2198914"/>
              <a:gd name="connsiteX0-33" fmla="*/ 0 w 5907314"/>
              <a:gd name="connsiteY0-34" fmla="*/ 2198914 h 2198914"/>
              <a:gd name="connsiteX1-35" fmla="*/ 5907314 w 5907314"/>
              <a:gd name="connsiteY1-36" fmla="*/ 0 h 2198914"/>
              <a:gd name="connsiteX2-37" fmla="*/ 5907314 w 5907314"/>
              <a:gd name="connsiteY2-38" fmla="*/ 2198914 h 2198914"/>
              <a:gd name="connsiteX3-39" fmla="*/ 0 w 5907314"/>
              <a:gd name="connsiteY3-40" fmla="*/ 2198914 h 2198914"/>
              <a:gd name="connsiteX0-41" fmla="*/ 0 w 5907314"/>
              <a:gd name="connsiteY0-42" fmla="*/ 2198914 h 2198914"/>
              <a:gd name="connsiteX1-43" fmla="*/ 5907314 w 5907314"/>
              <a:gd name="connsiteY1-44" fmla="*/ 0 h 2198914"/>
              <a:gd name="connsiteX2-45" fmla="*/ 5907314 w 5907314"/>
              <a:gd name="connsiteY2-46" fmla="*/ 2198914 h 2198914"/>
              <a:gd name="connsiteX3-47" fmla="*/ 0 w 5907314"/>
              <a:gd name="connsiteY3-48" fmla="*/ 2198914 h 2198914"/>
              <a:gd name="connsiteX0-49" fmla="*/ 0 w 5907314"/>
              <a:gd name="connsiteY0-50" fmla="*/ 2198914 h 2198914"/>
              <a:gd name="connsiteX1-51" fmla="*/ 5907314 w 5907314"/>
              <a:gd name="connsiteY1-52" fmla="*/ 0 h 2198914"/>
              <a:gd name="connsiteX2-53" fmla="*/ 5907314 w 5907314"/>
              <a:gd name="connsiteY2-54" fmla="*/ 2198914 h 2198914"/>
              <a:gd name="connsiteX3-55" fmla="*/ 0 w 5907314"/>
              <a:gd name="connsiteY3-56" fmla="*/ 2198914 h 2198914"/>
              <a:gd name="connsiteX0-57" fmla="*/ 0 w 5907314"/>
              <a:gd name="connsiteY0-58" fmla="*/ 2198914 h 2198914"/>
              <a:gd name="connsiteX1-59" fmla="*/ 5907314 w 5907314"/>
              <a:gd name="connsiteY1-60" fmla="*/ 0 h 2198914"/>
              <a:gd name="connsiteX2-61" fmla="*/ 5907314 w 5907314"/>
              <a:gd name="connsiteY2-62" fmla="*/ 2198914 h 2198914"/>
              <a:gd name="connsiteX3-63" fmla="*/ 0 w 5907314"/>
              <a:gd name="connsiteY3-64" fmla="*/ 2198914 h 2198914"/>
              <a:gd name="connsiteX0-65" fmla="*/ 0 w 5907314"/>
              <a:gd name="connsiteY0-66" fmla="*/ 2198914 h 2198914"/>
              <a:gd name="connsiteX1-67" fmla="*/ 5907314 w 5907314"/>
              <a:gd name="connsiteY1-68" fmla="*/ 0 h 2198914"/>
              <a:gd name="connsiteX2-69" fmla="*/ 5907314 w 5907314"/>
              <a:gd name="connsiteY2-70" fmla="*/ 2198914 h 2198914"/>
              <a:gd name="connsiteX3-71" fmla="*/ 0 w 5907314"/>
              <a:gd name="connsiteY3-72" fmla="*/ 2198914 h 2198914"/>
              <a:gd name="connsiteX0-73" fmla="*/ 0 w 5907314"/>
              <a:gd name="connsiteY0-74" fmla="*/ 2198914 h 2198914"/>
              <a:gd name="connsiteX1-75" fmla="*/ 5907314 w 5907314"/>
              <a:gd name="connsiteY1-76" fmla="*/ 0 h 2198914"/>
              <a:gd name="connsiteX2-77" fmla="*/ 5907314 w 5907314"/>
              <a:gd name="connsiteY2-78" fmla="*/ 2198914 h 2198914"/>
              <a:gd name="connsiteX3-79" fmla="*/ 0 w 5907314"/>
              <a:gd name="connsiteY3-80" fmla="*/ 2198914 h 2198914"/>
              <a:gd name="connsiteX0-81" fmla="*/ 0 w 5907314"/>
              <a:gd name="connsiteY0-82" fmla="*/ 2198914 h 2198914"/>
              <a:gd name="connsiteX1-83" fmla="*/ 5907314 w 5907314"/>
              <a:gd name="connsiteY1-84" fmla="*/ 0 h 2198914"/>
              <a:gd name="connsiteX2-85" fmla="*/ 5907314 w 5907314"/>
              <a:gd name="connsiteY2-86" fmla="*/ 2198914 h 2198914"/>
              <a:gd name="connsiteX3-87" fmla="*/ 0 w 5907314"/>
              <a:gd name="connsiteY3-88" fmla="*/ 2198914 h 2198914"/>
              <a:gd name="connsiteX0-89" fmla="*/ 0 w 5907314"/>
              <a:gd name="connsiteY0-90" fmla="*/ 2198914 h 2198914"/>
              <a:gd name="connsiteX1-91" fmla="*/ 5907314 w 5907314"/>
              <a:gd name="connsiteY1-92" fmla="*/ 0 h 2198914"/>
              <a:gd name="connsiteX2-93" fmla="*/ 5907314 w 5907314"/>
              <a:gd name="connsiteY2-94" fmla="*/ 2198914 h 2198914"/>
              <a:gd name="connsiteX3-95" fmla="*/ 0 w 5907314"/>
              <a:gd name="connsiteY3-96" fmla="*/ 2198914 h 2198914"/>
              <a:gd name="connsiteX0-97" fmla="*/ 0 w 5907314"/>
              <a:gd name="connsiteY0-98" fmla="*/ 2198914 h 2198914"/>
              <a:gd name="connsiteX1-99" fmla="*/ 5907314 w 5907314"/>
              <a:gd name="connsiteY1-100" fmla="*/ 0 h 2198914"/>
              <a:gd name="connsiteX2-101" fmla="*/ 5907314 w 5907314"/>
              <a:gd name="connsiteY2-102" fmla="*/ 2198914 h 2198914"/>
              <a:gd name="connsiteX3-103" fmla="*/ 0 w 5907314"/>
              <a:gd name="connsiteY3-104" fmla="*/ 2198914 h 2198914"/>
              <a:gd name="connsiteX0-105" fmla="*/ 0 w 5907314"/>
              <a:gd name="connsiteY0-106" fmla="*/ 2198914 h 2198914"/>
              <a:gd name="connsiteX1-107" fmla="*/ 5907314 w 5907314"/>
              <a:gd name="connsiteY1-108" fmla="*/ 0 h 2198914"/>
              <a:gd name="connsiteX2-109" fmla="*/ 5907314 w 5907314"/>
              <a:gd name="connsiteY2-110" fmla="*/ 2198914 h 2198914"/>
              <a:gd name="connsiteX3-111" fmla="*/ 0 w 5907314"/>
              <a:gd name="connsiteY3-112" fmla="*/ 2198914 h 2198914"/>
            </a:gdLst>
            <a:ahLst/>
            <a:cxnLst>
              <a:cxn ang="0">
                <a:pos x="connsiteX0-1" y="connsiteY0-2"/>
              </a:cxn>
              <a:cxn ang="0">
                <a:pos x="connsiteX1-3" y="connsiteY1-4"/>
              </a:cxn>
              <a:cxn ang="0">
                <a:pos x="connsiteX2-5" y="connsiteY2-6"/>
              </a:cxn>
              <a:cxn ang="0">
                <a:pos x="connsiteX3-7" y="connsiteY3-8"/>
              </a:cxn>
            </a:cxnLst>
            <a:rect l="l" t="t" r="r" b="b"/>
            <a:pathLst>
              <a:path w="5907314" h="2198914">
                <a:moveTo>
                  <a:pt x="0" y="2198914"/>
                </a:moveTo>
                <a:cubicBezTo>
                  <a:pt x="1902987" y="1876241"/>
                  <a:pt x="4637881" y="870431"/>
                  <a:pt x="5907314" y="0"/>
                </a:cubicBezTo>
                <a:lnTo>
                  <a:pt x="5907314" y="2198914"/>
                </a:lnTo>
                <a:lnTo>
                  <a:pt x="0" y="2198914"/>
                </a:lnTo>
                <a:close/>
              </a:path>
            </a:pathLst>
          </a:custGeom>
          <a:gradFill>
            <a:gsLst>
              <a:gs pos="46000">
                <a:srgbClr val="2CA0EB"/>
              </a:gs>
              <a:gs pos="100000">
                <a:srgbClr val="8BCEFA"/>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5" name="图片 34"/>
          <p:cNvPicPr>
            <a:picLocks noChangeAspect="1"/>
          </p:cNvPicPr>
          <p:nvPr/>
        </p:nvPicPr>
        <p:blipFill>
          <a:blip r:embed="rId9" cstate="print">
            <a:biLevel thresh="25000"/>
            <a:extLst>
              <a:ext uri="{28A0092B-C50C-407E-A947-70E740481C1C}">
                <a14:useLocalDpi xmlns:a14="http://schemas.microsoft.com/office/drawing/2010/main" val="0"/>
              </a:ext>
            </a:extLst>
          </a:blip>
          <a:stretch>
            <a:fillRect/>
          </a:stretch>
        </p:blipFill>
        <p:spPr>
          <a:xfrm>
            <a:off x="-298582" y="5141124"/>
            <a:ext cx="4240661" cy="2123899"/>
          </a:xfrm>
          <a:prstGeom prst="rect">
            <a:avLst/>
          </a:prstGeom>
        </p:spPr>
      </p:pic>
      <p:sp>
        <p:nvSpPr>
          <p:cNvPr id="2" name="矩形 1"/>
          <p:cNvSpPr/>
          <p:nvPr>
            <p:custDataLst>
              <p:tags r:id="rId4"/>
            </p:custDataLst>
          </p:nvPr>
        </p:nvSpPr>
        <p:spPr>
          <a:xfrm>
            <a:off x="1993900" y="1136650"/>
            <a:ext cx="10311130" cy="1037207"/>
          </a:xfrm>
          <a:prstGeom prst="rect">
            <a:avLst/>
          </a:prstGeom>
          <a:noFill/>
          <a:ln>
            <a:noFill/>
          </a:ln>
        </p:spPr>
        <p:txBody>
          <a:bodyPr wrap="square" rtlCol="0" anchor="t">
            <a:spAutoFit/>
          </a:bodyPr>
          <a:lstStyle/>
          <a:p>
            <a:pPr algn="ctr" fontAlgn="auto" latinLnBrk="1">
              <a:lnSpc>
                <a:spcPct val="110000"/>
              </a:lnSpc>
              <a:spcBef>
                <a:spcPct val="70000"/>
              </a:spcBef>
              <a:buClr>
                <a:schemeClr val="tx1"/>
              </a:buClr>
              <a:buFont typeface="Wingdings" panose="05000000000000000000" pitchFamily="2" charset="2"/>
            </a:pPr>
            <a:r>
              <a:rPr lang="zh-CN" altLang="en-US" sz="6000" b="1" noProof="1">
                <a:ln w="9525">
                  <a:solidFill>
                    <a:schemeClr val="bg1"/>
                  </a:solidFill>
                  <a:prstDash val="solid"/>
                </a:ln>
                <a:effectLst>
                  <a:outerShdw blurRad="12700" dist="38100" dir="2700000" algn="tl" rotWithShape="0">
                    <a:schemeClr val="bg1">
                      <a:lumMod val="50000"/>
                    </a:schemeClr>
                  </a:outerShdw>
                </a:effectLst>
                <a:latin typeface="+mj-ea"/>
                <a:ea typeface="+mj-ea"/>
                <a:cs typeface="+mj-ea"/>
                <a:sym typeface="+mn-ea"/>
              </a:rPr>
              <a:t>降低</a:t>
            </a:r>
            <a:r>
              <a:rPr lang="zh-CN" altLang="en-US" sz="6000" b="1" strike="noStrike" noProof="1">
                <a:ln w="9525">
                  <a:solidFill>
                    <a:schemeClr val="bg1"/>
                  </a:solidFill>
                  <a:prstDash val="solid"/>
                </a:ln>
                <a:solidFill>
                  <a:schemeClr val="tx1"/>
                </a:solidFill>
                <a:effectLst>
                  <a:outerShdw blurRad="12700" dist="38100" dir="2700000" algn="tl" rotWithShape="0">
                    <a:schemeClr val="bg1">
                      <a:lumMod val="50000"/>
                    </a:schemeClr>
                  </a:outerShdw>
                </a:effectLst>
                <a:latin typeface="+mj-ea"/>
                <a:ea typeface="+mj-ea"/>
                <a:cs typeface="+mj-ea"/>
                <a:sym typeface="+mn-ea"/>
              </a:rPr>
              <a:t>三棒煤气消耗</a:t>
            </a:r>
          </a:p>
        </p:txBody>
      </p:sp>
      <p:sp>
        <p:nvSpPr>
          <p:cNvPr id="19" name="矩形 18"/>
          <p:cNvSpPr/>
          <p:nvPr>
            <p:custDataLst>
              <p:tags r:id="rId5"/>
            </p:custDataLst>
          </p:nvPr>
        </p:nvSpPr>
        <p:spPr>
          <a:xfrm>
            <a:off x="5878195" y="3899535"/>
            <a:ext cx="5469255" cy="2044700"/>
          </a:xfrm>
          <a:prstGeom prst="rect">
            <a:avLst/>
          </a:prstGeom>
          <a:noFill/>
          <a:ln>
            <a:noFill/>
          </a:ln>
        </p:spPr>
        <p:txBody>
          <a:bodyPr wrap="none" rtlCol="0" anchor="t">
            <a:noAutofit/>
            <a:scene3d>
              <a:camera prst="orthographicFront"/>
              <a:lightRig rig="threePt" dir="t"/>
            </a:scene3d>
          </a:bodyPr>
          <a:lstStyle/>
          <a:p>
            <a:pPr indent="0" algn="dist" fontAlgn="auto">
              <a:lnSpc>
                <a:spcPts val="4500"/>
              </a:lnSpc>
            </a:pPr>
            <a:r>
              <a:rPr lang="zh-CN" sz="2800" b="1" strike="noStrike" noProof="1">
                <a:ln w="9525">
                  <a:solidFill>
                    <a:schemeClr val="bg1"/>
                  </a:solidFill>
                  <a:prstDash val="solid"/>
                </a:ln>
                <a:solidFill>
                  <a:schemeClr val="tx1"/>
                </a:solidFill>
                <a:effectLst>
                  <a:outerShdw blurRad="12700" dist="38100" dir="2700000" algn="tl" rotWithShape="0">
                    <a:schemeClr val="bg1">
                      <a:lumMod val="50000"/>
                    </a:schemeClr>
                  </a:outerShdw>
                </a:effectLst>
                <a:latin typeface="+mj-ea"/>
                <a:ea typeface="+mj-ea"/>
                <a:cs typeface="+mj-ea"/>
              </a:rPr>
              <a:t>单</a:t>
            </a:r>
            <a:r>
              <a:rPr lang="en-US" altLang="zh-CN" sz="2800" b="1" strike="noStrike" noProof="1">
                <a:ln w="9525">
                  <a:solidFill>
                    <a:schemeClr val="bg1"/>
                  </a:solidFill>
                  <a:prstDash val="solid"/>
                </a:ln>
                <a:solidFill>
                  <a:schemeClr val="tx1"/>
                </a:solidFill>
                <a:effectLst>
                  <a:outerShdw blurRad="12700" dist="38100" dir="2700000" algn="tl" rotWithShape="0">
                    <a:schemeClr val="bg1">
                      <a:lumMod val="50000"/>
                    </a:schemeClr>
                  </a:outerShdw>
                </a:effectLst>
                <a:latin typeface="+mj-ea"/>
                <a:ea typeface="+mj-ea"/>
                <a:cs typeface="+mj-ea"/>
              </a:rPr>
              <a:t>   </a:t>
            </a:r>
            <a:r>
              <a:rPr lang="zh-CN" sz="2800" b="1" strike="noStrike" noProof="1">
                <a:ln w="9525">
                  <a:solidFill>
                    <a:schemeClr val="bg1"/>
                  </a:solidFill>
                  <a:prstDash val="solid"/>
                </a:ln>
                <a:solidFill>
                  <a:schemeClr val="tx1"/>
                </a:solidFill>
                <a:effectLst>
                  <a:outerShdw blurRad="12700" dist="38100" dir="2700000" algn="tl" rotWithShape="0">
                    <a:schemeClr val="bg1">
                      <a:lumMod val="50000"/>
                    </a:schemeClr>
                  </a:outerShdw>
                </a:effectLst>
                <a:latin typeface="+mj-ea"/>
                <a:ea typeface="+mj-ea"/>
                <a:cs typeface="+mj-ea"/>
              </a:rPr>
              <a:t>位：钢轧事业部</a:t>
            </a:r>
          </a:p>
          <a:p>
            <a:pPr indent="0" algn="l" fontAlgn="auto">
              <a:lnSpc>
                <a:spcPts val="4500"/>
              </a:lnSpc>
            </a:pPr>
            <a:r>
              <a:rPr lang="zh-CN" sz="2800" b="1" strike="noStrike" noProof="1">
                <a:ln w="9525">
                  <a:solidFill>
                    <a:schemeClr val="bg1"/>
                  </a:solidFill>
                  <a:prstDash val="solid"/>
                </a:ln>
                <a:solidFill>
                  <a:schemeClr val="tx1"/>
                </a:solidFill>
                <a:effectLst>
                  <a:outerShdw blurRad="12700" dist="38100" dir="2700000" algn="tl" rotWithShape="0">
                    <a:schemeClr val="bg1">
                      <a:lumMod val="50000"/>
                    </a:schemeClr>
                  </a:outerShdw>
                </a:effectLst>
                <a:latin typeface="+mj-ea"/>
                <a:ea typeface="+mj-ea"/>
                <a:cs typeface="+mj-ea"/>
              </a:rPr>
              <a:t>改善人：</a:t>
            </a:r>
            <a:r>
              <a:rPr lang="zh-CN" altLang="en-US" sz="2800" b="1" strike="noStrike" noProof="1">
                <a:ln w="9525">
                  <a:solidFill>
                    <a:schemeClr val="bg1"/>
                  </a:solidFill>
                  <a:prstDash val="solid"/>
                </a:ln>
                <a:solidFill>
                  <a:schemeClr val="tx1"/>
                </a:solidFill>
                <a:effectLst>
                  <a:outerShdw blurRad="12700" dist="38100" dir="2700000" algn="tl" rotWithShape="0">
                    <a:schemeClr val="bg1">
                      <a:lumMod val="50000"/>
                    </a:schemeClr>
                  </a:outerShdw>
                </a:effectLst>
                <a:latin typeface="+mj-ea"/>
                <a:ea typeface="+mj-ea"/>
                <a:cs typeface="+mj-ea"/>
              </a:rPr>
              <a:t>李响</a:t>
            </a:r>
            <a:endParaRPr lang="zh-CN" altLang="en-US" sz="2800" dirty="0">
              <a:latin typeface="Gulim" panose="020B0600000101010101" pitchFamily="34" charset="-127"/>
              <a:ea typeface="+mn-ea"/>
              <a:sym typeface="+mn-ea"/>
            </a:endParaRPr>
          </a:p>
          <a:p>
            <a:pPr indent="0" algn="l" fontAlgn="auto">
              <a:lnSpc>
                <a:spcPts val="4500"/>
              </a:lnSpc>
            </a:pPr>
            <a:endParaRPr lang="zh-CN" sz="2800" b="1" strike="noStrike" noProof="1">
              <a:ln w="9525">
                <a:solidFill>
                  <a:schemeClr val="bg1"/>
                </a:solidFill>
                <a:prstDash val="solid"/>
              </a:ln>
              <a:solidFill>
                <a:schemeClr val="tx1"/>
              </a:solidFill>
              <a:effectLst>
                <a:outerShdw blurRad="12700" dist="38100" dir="2700000" algn="tl" rotWithShape="0">
                  <a:schemeClr val="bg1">
                    <a:lumMod val="50000"/>
                  </a:schemeClr>
                </a:outerShdw>
              </a:effectLst>
              <a:latin typeface="+mj-ea"/>
              <a:ea typeface="+mj-ea"/>
              <a:cs typeface="+mj-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4FC26-C384-BA25-4BB3-04F064734F6F}"/>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E0D8DC0C-7E43-B99E-6BE9-A2993B9C716F}"/>
              </a:ext>
            </a:extLst>
          </p:cNvPr>
          <p:cNvSpPr/>
          <p:nvPr>
            <p:custDataLst>
              <p:tags r:id="rId2"/>
            </p:custDataLst>
          </p:nvPr>
        </p:nvSpPr>
        <p:spPr>
          <a:xfrm flipV="1">
            <a:off x="1628775" y="639763"/>
            <a:ext cx="10160000" cy="36513"/>
          </a:xfrm>
          <a:prstGeom prst="rect">
            <a:avLst/>
          </a:prstGeom>
          <a:gradFill>
            <a:gsLst>
              <a:gs pos="0">
                <a:schemeClr val="accent1">
                  <a:lumMod val="110000"/>
                  <a:satMod val="105000"/>
                  <a:tint val="67000"/>
                </a:schemeClr>
              </a:gs>
              <a:gs pos="65000">
                <a:schemeClr val="accent1">
                  <a:lumMod val="105000"/>
                  <a:satMod val="103000"/>
                  <a:tint val="73000"/>
                </a:schemeClr>
              </a:gs>
              <a:gs pos="100000">
                <a:schemeClr val="accent1">
                  <a:lumMod val="105000"/>
                  <a:satMod val="109000"/>
                  <a:tint val="81000"/>
                </a:schemeClr>
              </a:gs>
              <a:gs pos="0">
                <a:srgbClr val="D9272D"/>
              </a:gs>
              <a:gs pos="100000">
                <a:srgbClr val="832B2B"/>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fontAlgn="auto"/>
            <a:endParaRPr lang="zh-CN" altLang="en-US" strike="noStrike" noProof="1"/>
          </a:p>
        </p:txBody>
      </p:sp>
      <p:sp>
        <p:nvSpPr>
          <p:cNvPr id="1048722" name="任意多边形 9">
            <a:extLst>
              <a:ext uri="{FF2B5EF4-FFF2-40B4-BE49-F238E27FC236}">
                <a16:creationId xmlns:a16="http://schemas.microsoft.com/office/drawing/2014/main" id="{1AEC8BBF-7365-95CD-06D4-8F80A1B0199F}"/>
              </a:ext>
            </a:extLst>
          </p:cNvPr>
          <p:cNvSpPr/>
          <p:nvPr>
            <p:custDataLst>
              <p:tags r:id="rId3"/>
            </p:custDataLst>
          </p:nvPr>
        </p:nvSpPr>
        <p:spPr bwMode="auto">
          <a:xfrm>
            <a:off x="417195" y="834033"/>
            <a:ext cx="1632423" cy="518679"/>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25" name="文本框 3">
            <a:extLst>
              <a:ext uri="{FF2B5EF4-FFF2-40B4-BE49-F238E27FC236}">
                <a16:creationId xmlns:a16="http://schemas.microsoft.com/office/drawing/2014/main" id="{1E25B6E7-FB99-7C53-9431-AEABD5D1C9DF}"/>
              </a:ext>
            </a:extLst>
          </p:cNvPr>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计划</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726" name="燕尾形箭头 27">
            <a:extLst>
              <a:ext uri="{FF2B5EF4-FFF2-40B4-BE49-F238E27FC236}">
                <a16:creationId xmlns:a16="http://schemas.microsoft.com/office/drawing/2014/main" id="{7477C787-EA01-86A7-9575-6C56B24914B1}"/>
              </a:ext>
            </a:extLst>
          </p:cNvPr>
          <p:cNvSpPr/>
          <p:nvPr>
            <p:custDataLst>
              <p:tags r:id="rId5"/>
            </p:custDataLst>
          </p:nvPr>
        </p:nvSpPr>
        <p:spPr bwMode="auto">
          <a:xfrm>
            <a:off x="2074545" y="833755"/>
            <a:ext cx="2449195" cy="518795"/>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35" name="文本框 28">
            <a:extLst>
              <a:ext uri="{FF2B5EF4-FFF2-40B4-BE49-F238E27FC236}">
                <a16:creationId xmlns:a16="http://schemas.microsoft.com/office/drawing/2014/main" id="{80FD4182-BF00-5610-D7B4-4FE43F12B597}"/>
              </a:ext>
            </a:extLst>
          </p:cNvPr>
          <p:cNvSpPr txBox="1"/>
          <p:nvPr>
            <p:custDataLst>
              <p:tags r:id="rId6"/>
            </p:custDataLst>
          </p:nvPr>
        </p:nvSpPr>
        <p:spPr>
          <a:xfrm>
            <a:off x="2239645" y="904875"/>
            <a:ext cx="2230755" cy="398780"/>
          </a:xfrm>
          <a:prstGeom prst="rect">
            <a:avLst/>
          </a:prstGeom>
          <a:noFill/>
        </p:spPr>
        <p:txBody>
          <a:bodyPr wrap="square" rtlCol="0">
            <a:sp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选择课题</a:t>
            </a:r>
          </a:p>
        </p:txBody>
      </p:sp>
      <p:sp>
        <p:nvSpPr>
          <p:cNvPr id="4" name="文本框 3">
            <a:extLst>
              <a:ext uri="{FF2B5EF4-FFF2-40B4-BE49-F238E27FC236}">
                <a16:creationId xmlns:a16="http://schemas.microsoft.com/office/drawing/2014/main" id="{704EF3CB-800D-C105-1008-3C5995943B64}"/>
              </a:ext>
            </a:extLst>
          </p:cNvPr>
          <p:cNvSpPr txBox="1"/>
          <p:nvPr/>
        </p:nvSpPr>
        <p:spPr>
          <a:xfrm>
            <a:off x="742964" y="1649108"/>
            <a:ext cx="10706072" cy="5016758"/>
          </a:xfrm>
          <a:prstGeom prst="rect">
            <a:avLst/>
          </a:prstGeom>
          <a:noFill/>
        </p:spPr>
        <p:txBody>
          <a:bodyPr wrap="square">
            <a:spAutoFit/>
          </a:bodyPr>
          <a:lstStyle/>
          <a:p>
            <a:pPr indent="266700" algn="just">
              <a:buNone/>
            </a:pPr>
            <a:r>
              <a:rPr lang="zh-CN" altLang="zh-CN" sz="2000" b="1" dirty="0">
                <a:latin typeface="宋体" panose="02010600030101010101" pitchFamily="2" charset="-122"/>
                <a:ea typeface="宋体" panose="02010600030101010101" pitchFamily="2" charset="-122"/>
              </a:rPr>
              <a:t>在现代钢铁制造企业中，三棒棒材产线的加热炉作为轧钢工序的核心热工设备，其能源消耗在整个轧钢厂的总能耗中占据了极大比例。加热炉的主要作用是将连铸钢坯加热至具备良好塑性的轧制温度（通常在</a:t>
            </a:r>
            <a:r>
              <a:rPr lang="en-US" altLang="zh-CN" sz="2000" b="1" dirty="0">
                <a:latin typeface="宋体" panose="02010600030101010101" pitchFamily="2" charset="-122"/>
                <a:ea typeface="宋体" panose="02010600030101010101" pitchFamily="2" charset="-122"/>
              </a:rPr>
              <a:t> 1050</a:t>
            </a:r>
            <a:r>
              <a:rPr lang="zh-CN" altLang="zh-CN"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C </a:t>
            </a:r>
            <a:r>
              <a:rPr lang="zh-CN" altLang="zh-CN" sz="2000" b="1" dirty="0">
                <a:latin typeface="宋体" panose="02010600030101010101" pitchFamily="2" charset="-122"/>
                <a:ea typeface="宋体" panose="02010600030101010101" pitchFamily="2" charset="-122"/>
              </a:rPr>
              <a:t>至</a:t>
            </a:r>
            <a:r>
              <a:rPr lang="en-US" altLang="zh-CN" sz="2000" b="1" dirty="0">
                <a:latin typeface="宋体" panose="02010600030101010101" pitchFamily="2" charset="-122"/>
                <a:ea typeface="宋体" panose="02010600030101010101" pitchFamily="2" charset="-122"/>
              </a:rPr>
              <a:t> 1150</a:t>
            </a:r>
            <a:r>
              <a:rPr lang="zh-CN" altLang="zh-CN"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C </a:t>
            </a:r>
            <a:r>
              <a:rPr lang="zh-CN" altLang="zh-CN" sz="2000" b="1" dirty="0">
                <a:latin typeface="宋体" panose="02010600030101010101" pitchFamily="2" charset="-122"/>
                <a:ea typeface="宋体" panose="02010600030101010101" pitchFamily="2" charset="-122"/>
              </a:rPr>
              <a:t>之间），从而保证出钢质量与后续轧制工艺的顺利进行。然而，受限于传统的燃烧控制手段与多变的生产工况，加热炉往往存在煤气消耗过高、钢坯氧化烧损严重等问题，这不仅大幅增加了生产成本，也与当前钢铁行业提倡的低碳、节能减排发展趋势相悖。</a:t>
            </a:r>
          </a:p>
          <a:p>
            <a:pPr indent="266700" algn="just">
              <a:buNone/>
            </a:pPr>
            <a:r>
              <a:rPr lang="zh-CN" altLang="zh-CN" sz="2000" b="1" dirty="0">
                <a:latin typeface="宋体" panose="02010600030101010101" pitchFamily="2" charset="-122"/>
                <a:ea typeface="宋体" panose="02010600030101010101" pitchFamily="2" charset="-122"/>
              </a:rPr>
              <a:t>研究指出，蓄热式加热炉的炉温控制系统具备多变量、时变、非线性、强耦合、大惯性及纯滞后等复杂动态特性。传统依赖人工凭经验手动调节空气与煤气流量的方式，或者仅依赖简单的常规比例</a:t>
            </a:r>
            <a:r>
              <a:rPr lang="en-US" altLang="zh-CN" sz="2000" b="1" dirty="0">
                <a:latin typeface="宋体" panose="02010600030101010101" pitchFamily="2" charset="-122"/>
                <a:ea typeface="宋体" panose="02010600030101010101" pitchFamily="2" charset="-122"/>
              </a:rPr>
              <a:t>-</a:t>
            </a:r>
            <a:r>
              <a:rPr lang="zh-CN" altLang="zh-CN" sz="2000" b="1" dirty="0">
                <a:latin typeface="宋体" panose="02010600030101010101" pitchFamily="2" charset="-122"/>
                <a:ea typeface="宋体" panose="02010600030101010101" pitchFamily="2" charset="-122"/>
              </a:rPr>
              <a:t>积分</a:t>
            </a:r>
            <a:r>
              <a:rPr lang="en-US" altLang="zh-CN" sz="2000" b="1" dirty="0">
                <a:latin typeface="宋体" panose="02010600030101010101" pitchFamily="2" charset="-122"/>
                <a:ea typeface="宋体" panose="02010600030101010101" pitchFamily="2" charset="-122"/>
              </a:rPr>
              <a:t>-</a:t>
            </a:r>
            <a:r>
              <a:rPr lang="zh-CN" altLang="zh-CN" sz="2000" b="1" dirty="0">
                <a:latin typeface="宋体" panose="02010600030101010101" pitchFamily="2" charset="-122"/>
                <a:ea typeface="宋体" panose="02010600030101010101" pitchFamily="2" charset="-122"/>
              </a:rPr>
              <a:t>微分（</a:t>
            </a:r>
            <a:r>
              <a:rPr lang="en-US" altLang="zh-CN" sz="2000" b="1" dirty="0">
                <a:latin typeface="宋体" panose="02010600030101010101" pitchFamily="2" charset="-122"/>
                <a:ea typeface="宋体" panose="02010600030101010101" pitchFamily="2" charset="-122"/>
              </a:rPr>
              <a:t>PID</a:t>
            </a:r>
            <a:r>
              <a:rPr lang="zh-CN" altLang="zh-CN" sz="2000" b="1" dirty="0">
                <a:latin typeface="宋体" panose="02010600030101010101" pitchFamily="2" charset="-122"/>
                <a:ea typeface="宋体" panose="02010600030101010101" pitchFamily="2" charset="-122"/>
              </a:rPr>
              <a:t>）串级控制，往往无法兼顾燃料流量副回路与炉膛温度副回路的各类干扰，导致空燃比经常处于失调状态。空燃比过高时，炉内形成强氧化性气氛，加剧钢坯表面的氧化烧损，降低金属收得率；空燃比过低时，则会导致煤气燃烧不充分，烟气中一氧化碳含量增加，既浪费能源又污染环境。</a:t>
            </a:r>
          </a:p>
          <a:p>
            <a:pPr indent="266700" algn="just">
              <a:buNone/>
            </a:pPr>
            <a:r>
              <a:rPr lang="zh-CN" altLang="zh-CN" sz="2000" b="1" dirty="0">
                <a:latin typeface="宋体" panose="02010600030101010101" pitchFamily="2" charset="-122"/>
                <a:ea typeface="宋体" panose="02010600030101010101" pitchFamily="2" charset="-122"/>
              </a:rPr>
              <a:t>为此，项目团队严格遵循</a:t>
            </a:r>
            <a:r>
              <a:rPr lang="en-US" altLang="zh-CN" sz="2000" b="1" dirty="0">
                <a:latin typeface="宋体" panose="02010600030101010101" pitchFamily="2" charset="-122"/>
                <a:ea typeface="宋体" panose="02010600030101010101" pitchFamily="2" charset="-122"/>
              </a:rPr>
              <a:t> PDCA</a:t>
            </a:r>
            <a:r>
              <a:rPr lang="zh-CN" altLang="zh-CN" sz="2000" b="1" dirty="0">
                <a:latin typeface="宋体" panose="02010600030101010101" pitchFamily="2" charset="-122"/>
                <a:ea typeface="宋体" panose="02010600030101010101" pitchFamily="2" charset="-122"/>
              </a:rPr>
              <a:t>质量管理循环，以「降低三棒加热炉煤气消耗」为核心课题开展技术攻关。本课题旨在透过引入可编程逻辑控制器（</a:t>
            </a:r>
            <a:r>
              <a:rPr lang="en-US" altLang="zh-CN" sz="2000" b="1" dirty="0">
                <a:latin typeface="宋体" panose="02010600030101010101" pitchFamily="2" charset="-122"/>
                <a:ea typeface="宋体" panose="02010600030101010101" pitchFamily="2" charset="-122"/>
              </a:rPr>
              <a:t>PLC</a:t>
            </a:r>
            <a:r>
              <a:rPr lang="zh-CN" altLang="zh-CN" sz="2000" b="1" dirty="0">
                <a:latin typeface="宋体" panose="02010600030101010101" pitchFamily="2" charset="-122"/>
                <a:ea typeface="宋体" panose="02010600030101010101" pitchFamily="2" charset="-122"/>
              </a:rPr>
              <a:t>）系统中的先进控制算法，实现温度、空气量、煤气量等多个变量的协同优化控制，确保在燃烧效率最大化的前提下，达成最佳的出钢质量与最低的能源单耗。</a:t>
            </a:r>
          </a:p>
        </p:txBody>
      </p:sp>
    </p:spTree>
    <p:custDataLst>
      <p:tags r:id="rId1"/>
    </p:custDataLst>
    <p:extLst>
      <p:ext uri="{BB962C8B-B14F-4D97-AF65-F5344CB8AC3E}">
        <p14:creationId xmlns:p14="http://schemas.microsoft.com/office/powerpoint/2010/main" val="389684051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custDataLst>
              <p:tags r:id="rId2"/>
            </p:custDataLst>
          </p:nvPr>
        </p:nvSpPr>
        <p:spPr>
          <a:xfrm flipV="1">
            <a:off x="1628775" y="639763"/>
            <a:ext cx="10160000" cy="36513"/>
          </a:xfrm>
          <a:prstGeom prst="rect">
            <a:avLst/>
          </a:prstGeom>
          <a:gradFill>
            <a:gsLst>
              <a:gs pos="0">
                <a:schemeClr val="accent1">
                  <a:lumMod val="110000"/>
                  <a:satMod val="105000"/>
                  <a:tint val="67000"/>
                </a:schemeClr>
              </a:gs>
              <a:gs pos="65000">
                <a:schemeClr val="accent1">
                  <a:lumMod val="105000"/>
                  <a:satMod val="103000"/>
                  <a:tint val="73000"/>
                </a:schemeClr>
              </a:gs>
              <a:gs pos="100000">
                <a:schemeClr val="accent1">
                  <a:lumMod val="105000"/>
                  <a:satMod val="109000"/>
                  <a:tint val="81000"/>
                </a:schemeClr>
              </a:gs>
              <a:gs pos="0">
                <a:srgbClr val="D9272D"/>
              </a:gs>
              <a:gs pos="100000">
                <a:srgbClr val="832B2B"/>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fontAlgn="auto"/>
            <a:endParaRPr lang="zh-CN" altLang="en-US" strike="noStrike" noProof="1"/>
          </a:p>
        </p:txBody>
      </p:sp>
      <p:pic>
        <p:nvPicPr>
          <p:cNvPr id="6" name="图片 5"/>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8296275" y="2772891"/>
            <a:ext cx="3316605" cy="2486968"/>
          </a:xfrm>
          <a:prstGeom prst="rect">
            <a:avLst/>
          </a:prstGeom>
        </p:spPr>
      </p:pic>
      <p:sp>
        <p:nvSpPr>
          <p:cNvPr id="1048722" name="任意多边形 9"/>
          <p:cNvSpPr/>
          <p:nvPr>
            <p:custDataLst>
              <p:tags r:id="rId3"/>
            </p:custDataLst>
          </p:nvPr>
        </p:nvSpPr>
        <p:spPr bwMode="auto">
          <a:xfrm>
            <a:off x="417195" y="834033"/>
            <a:ext cx="1632423" cy="518679"/>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25" name="文本框 3"/>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计划</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726" name="燕尾形箭头 27"/>
          <p:cNvSpPr/>
          <p:nvPr>
            <p:custDataLst>
              <p:tags r:id="rId5"/>
            </p:custDataLst>
          </p:nvPr>
        </p:nvSpPr>
        <p:spPr bwMode="auto">
          <a:xfrm>
            <a:off x="2074545" y="833755"/>
            <a:ext cx="2449195" cy="518795"/>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35" name="文本框 28"/>
          <p:cNvSpPr txBox="1"/>
          <p:nvPr>
            <p:custDataLst>
              <p:tags r:id="rId6"/>
            </p:custDataLst>
          </p:nvPr>
        </p:nvSpPr>
        <p:spPr>
          <a:xfrm>
            <a:off x="2239645" y="904875"/>
            <a:ext cx="2230755" cy="398780"/>
          </a:xfrm>
          <a:prstGeom prst="rect">
            <a:avLst/>
          </a:prstGeom>
          <a:noFill/>
        </p:spPr>
        <p:txBody>
          <a:bodyPr wrap="square" rtlCol="0">
            <a:sp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课题背景</a:t>
            </a:r>
          </a:p>
        </p:txBody>
      </p:sp>
      <p:graphicFrame>
        <p:nvGraphicFramePr>
          <p:cNvPr id="11" name="图表 10">
            <a:extLst>
              <a:ext uri="{FF2B5EF4-FFF2-40B4-BE49-F238E27FC236}">
                <a16:creationId xmlns:a16="http://schemas.microsoft.com/office/drawing/2014/main" id="{4AA6AEE7-56E3-B67B-E991-BD053F19466C}"/>
              </a:ext>
            </a:extLst>
          </p:cNvPr>
          <p:cNvGraphicFramePr/>
          <p:nvPr>
            <p:extLst>
              <p:ext uri="{D42A27DB-BD31-4B8C-83A1-F6EECF244321}">
                <p14:modId xmlns:p14="http://schemas.microsoft.com/office/powerpoint/2010/main" val="157028882"/>
              </p:ext>
            </p:extLst>
          </p:nvPr>
        </p:nvGraphicFramePr>
        <p:xfrm>
          <a:off x="417195" y="1667034"/>
          <a:ext cx="7271596" cy="4698682"/>
        </p:xfrm>
        <a:graphic>
          <a:graphicData uri="http://schemas.openxmlformats.org/drawingml/2006/chart">
            <c:chart xmlns:c="http://schemas.openxmlformats.org/drawingml/2006/chart" xmlns:r="http://schemas.openxmlformats.org/officeDocument/2006/relationships" r:id="rId10"/>
          </a:graphicData>
        </a:graphic>
      </p:graphicFrame>
    </p:spTree>
    <p:custDataLst>
      <p:tags r:id="rId1"/>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custDataLst>
              <p:tags r:id="rId2"/>
            </p:custDataLst>
          </p:nvPr>
        </p:nvSpPr>
        <p:spPr>
          <a:xfrm flipV="1">
            <a:off x="1628775" y="639763"/>
            <a:ext cx="10160000" cy="36513"/>
          </a:xfrm>
          <a:prstGeom prst="rect">
            <a:avLst/>
          </a:prstGeom>
          <a:gradFill>
            <a:gsLst>
              <a:gs pos="0">
                <a:schemeClr val="accent1">
                  <a:lumMod val="110000"/>
                  <a:satMod val="105000"/>
                  <a:tint val="67000"/>
                </a:schemeClr>
              </a:gs>
              <a:gs pos="65000">
                <a:schemeClr val="accent1">
                  <a:lumMod val="105000"/>
                  <a:satMod val="103000"/>
                  <a:tint val="73000"/>
                </a:schemeClr>
              </a:gs>
              <a:gs pos="100000">
                <a:schemeClr val="accent1">
                  <a:lumMod val="105000"/>
                  <a:satMod val="109000"/>
                  <a:tint val="81000"/>
                </a:schemeClr>
              </a:gs>
              <a:gs pos="0">
                <a:srgbClr val="D9272D"/>
              </a:gs>
              <a:gs pos="100000">
                <a:srgbClr val="832B2B"/>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fontAlgn="auto"/>
            <a:endParaRPr lang="zh-CN" altLang="en-US" strike="noStrike" noProof="1"/>
          </a:p>
        </p:txBody>
      </p:sp>
      <p:sp>
        <p:nvSpPr>
          <p:cNvPr id="1048775" name="矩形 17"/>
          <p:cNvSpPr/>
          <p:nvPr>
            <p:custDataLst>
              <p:tags r:id="rId3"/>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824" name="任意多边形 9"/>
          <p:cNvSpPr/>
          <p:nvPr>
            <p:custDataLst>
              <p:tags r:id="rId4"/>
            </p:custDataLst>
          </p:nvPr>
        </p:nvSpPr>
        <p:spPr bwMode="auto">
          <a:xfrm>
            <a:off x="417195" y="840740"/>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27" name="文本框 3"/>
          <p:cNvSpPr txBox="1"/>
          <p:nvPr>
            <p:custDataLst>
              <p:tags r:id="rId5"/>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计划阶段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828" name="燕尾形箭头 27"/>
          <p:cNvSpPr/>
          <p:nvPr>
            <p:custDataLst>
              <p:tags r:id="rId6"/>
            </p:custDataLst>
          </p:nvPr>
        </p:nvSpPr>
        <p:spPr bwMode="auto">
          <a:xfrm>
            <a:off x="2053273" y="840740"/>
            <a:ext cx="1611313" cy="511972"/>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37" name="文本框 28"/>
          <p:cNvSpPr txBox="1"/>
          <p:nvPr>
            <p:custDataLst>
              <p:tags r:id="rId7"/>
            </p:custDataLst>
          </p:nvPr>
        </p:nvSpPr>
        <p:spPr>
          <a:xfrm>
            <a:off x="2239645" y="904875"/>
            <a:ext cx="1285875" cy="41275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sym typeface="+mn-ea"/>
              </a:rPr>
              <a:t>分析原因</a:t>
            </a:r>
            <a:endPar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p:txBody>
      </p:sp>
      <p:grpSp>
        <p:nvGrpSpPr>
          <p:cNvPr id="26" name="组合 25">
            <a:extLst>
              <a:ext uri="{FF2B5EF4-FFF2-40B4-BE49-F238E27FC236}">
                <a16:creationId xmlns:a16="http://schemas.microsoft.com/office/drawing/2014/main" id="{5308D80D-C911-04D3-3233-CDDF4BACC766}"/>
              </a:ext>
            </a:extLst>
          </p:cNvPr>
          <p:cNvGrpSpPr/>
          <p:nvPr/>
        </p:nvGrpSpPr>
        <p:grpSpPr>
          <a:xfrm>
            <a:off x="914629" y="1697296"/>
            <a:ext cx="9770430" cy="2233382"/>
            <a:chOff x="894751" y="3407870"/>
            <a:chExt cx="9770430" cy="2233382"/>
          </a:xfrm>
        </p:grpSpPr>
        <p:grpSp>
          <p:nvGrpSpPr>
            <p:cNvPr id="32" name="组合 31">
              <a:extLst>
                <a:ext uri="{FF2B5EF4-FFF2-40B4-BE49-F238E27FC236}">
                  <a16:creationId xmlns:a16="http://schemas.microsoft.com/office/drawing/2014/main" id="{CDE6D402-94CC-2236-2AE6-05EAC1724AEC}"/>
                </a:ext>
              </a:extLst>
            </p:cNvPr>
            <p:cNvGrpSpPr/>
            <p:nvPr/>
          </p:nvGrpSpPr>
          <p:grpSpPr>
            <a:xfrm>
              <a:off x="894751" y="3407870"/>
              <a:ext cx="3124200" cy="2233382"/>
              <a:chOff x="894751" y="3407870"/>
              <a:chExt cx="3124200" cy="2233382"/>
            </a:xfrm>
          </p:grpSpPr>
          <p:sp>
            <p:nvSpPr>
              <p:cNvPr id="1048772" name="圆角矩形 11">
                <a:extLst>
                  <a:ext uri="{FF2B5EF4-FFF2-40B4-BE49-F238E27FC236}">
                    <a16:creationId xmlns:a16="http://schemas.microsoft.com/office/drawing/2014/main" id="{C7FE672C-02A8-ADCE-7376-B00B69D3E734}"/>
                  </a:ext>
                </a:extLst>
              </p:cNvPr>
              <p:cNvSpPr/>
              <p:nvPr/>
            </p:nvSpPr>
            <p:spPr>
              <a:xfrm>
                <a:off x="894751" y="4187567"/>
                <a:ext cx="3124200" cy="1416633"/>
              </a:xfrm>
              <a:prstGeom prst="roundRect">
                <a:avLst>
                  <a:gd name="adj" fmla="val 7400"/>
                </a:avLst>
              </a:prstGeom>
              <a:solidFill>
                <a:srgbClr val="FFFFFF"/>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p>
            </p:txBody>
          </p:sp>
          <p:sp>
            <p:nvSpPr>
              <p:cNvPr id="1048774" name="文本框 1048773">
                <a:extLst>
                  <a:ext uri="{FF2B5EF4-FFF2-40B4-BE49-F238E27FC236}">
                    <a16:creationId xmlns:a16="http://schemas.microsoft.com/office/drawing/2014/main" id="{F25F223D-9270-CB89-AD4D-E186493E2E4C}"/>
                  </a:ext>
                </a:extLst>
              </p:cNvPr>
              <p:cNvSpPr txBox="1"/>
              <p:nvPr/>
            </p:nvSpPr>
            <p:spPr>
              <a:xfrm>
                <a:off x="1014430" y="4681630"/>
                <a:ext cx="2921028" cy="959622"/>
              </a:xfrm>
              <a:prstGeom prst="rect">
                <a:avLst/>
              </a:prstGeom>
              <a:noFill/>
            </p:spPr>
            <p:txBody>
              <a:bodyPr wrap="square" rtlCol="0">
                <a:spAutoFit/>
              </a:bodyPr>
              <a:lstStyle/>
              <a:p>
                <a:pPr>
                  <a:lnSpc>
                    <a:spcPct val="120000"/>
                  </a:lnSpc>
                </a:pPr>
                <a:r>
                  <a:rPr lang="zh-CN" altLang="en-US" sz="1200" dirty="0">
                    <a:solidFill>
                      <a:schemeClr val="bg2">
                        <a:lumMod val="10000"/>
                      </a:schemeClr>
                    </a:solidFill>
                  </a:rPr>
                  <a:t>缺乏自动化模型，操作员完全凭经验手动调节且调整滞后；因抱有“宁过烧、不欠烧”的保守心理，盲目开大助燃风，导致炉内严重过氧化。</a:t>
                </a:r>
              </a:p>
            </p:txBody>
          </p:sp>
          <p:grpSp>
            <p:nvGrpSpPr>
              <p:cNvPr id="1048776" name="组合 1048775">
                <a:extLst>
                  <a:ext uri="{FF2B5EF4-FFF2-40B4-BE49-F238E27FC236}">
                    <a16:creationId xmlns:a16="http://schemas.microsoft.com/office/drawing/2014/main" id="{3D02E7F8-65BD-7C68-772E-6ED3936A9071}"/>
                  </a:ext>
                </a:extLst>
              </p:cNvPr>
              <p:cNvGrpSpPr/>
              <p:nvPr/>
            </p:nvGrpSpPr>
            <p:grpSpPr>
              <a:xfrm>
                <a:off x="1014427" y="3407870"/>
                <a:ext cx="500759" cy="500756"/>
                <a:chOff x="5472389" y="2794007"/>
                <a:chExt cx="444222" cy="444220"/>
              </a:xfrm>
            </p:grpSpPr>
            <p:sp>
              <p:nvSpPr>
                <p:cNvPr id="1048777" name="圆角矩形 18">
                  <a:extLst>
                    <a:ext uri="{FF2B5EF4-FFF2-40B4-BE49-F238E27FC236}">
                      <a16:creationId xmlns:a16="http://schemas.microsoft.com/office/drawing/2014/main" id="{0E6B6E89-40F6-1EBB-A6E4-DC60F566BCB1}"/>
                    </a:ext>
                  </a:extLst>
                </p:cNvPr>
                <p:cNvSpPr/>
                <p:nvPr/>
              </p:nvSpPr>
              <p:spPr>
                <a:xfrm>
                  <a:off x="5472389" y="2794007"/>
                  <a:ext cx="444222" cy="444220"/>
                </a:xfrm>
                <a:prstGeom prst="roundRect">
                  <a:avLst/>
                </a:prstGeom>
                <a:solidFill>
                  <a:schemeClr val="accent3"/>
                </a:solidFill>
                <a:ln w="12700" cap="rnd">
                  <a:noFill/>
                  <a:prstDash val="solid"/>
                  <a:round/>
                  <a:headEnd/>
                  <a:tailE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1048778" name="任意多边形 19">
                  <a:extLst>
                    <a:ext uri="{FF2B5EF4-FFF2-40B4-BE49-F238E27FC236}">
                      <a16:creationId xmlns:a16="http://schemas.microsoft.com/office/drawing/2014/main" id="{C8E0EB75-C6A4-975F-8383-83E4D0293900}"/>
                    </a:ext>
                  </a:extLst>
                </p:cNvPr>
                <p:cNvSpPr/>
                <p:nvPr/>
              </p:nvSpPr>
              <p:spPr bwMode="auto">
                <a:xfrm>
                  <a:off x="5591719" y="2922514"/>
                  <a:ext cx="205561" cy="187207"/>
                </a:xfrm>
                <a:custGeom>
                  <a:avLst/>
                  <a:gdLst>
                    <a:gd name="connsiteX0" fmla="*/ 125329 w 533400"/>
                    <a:gd name="connsiteY0" fmla="*/ 229221 h 485775"/>
                    <a:gd name="connsiteX1" fmla="*/ 125329 w 533400"/>
                    <a:gd name="connsiteY1" fmla="*/ 276846 h 485775"/>
                    <a:gd name="connsiteX2" fmla="*/ 144379 w 533400"/>
                    <a:gd name="connsiteY2" fmla="*/ 276846 h 485775"/>
                    <a:gd name="connsiteX3" fmla="*/ 144379 w 533400"/>
                    <a:gd name="connsiteY3" fmla="*/ 229221 h 485775"/>
                    <a:gd name="connsiteX4" fmla="*/ 392029 w 533400"/>
                    <a:gd name="connsiteY4" fmla="*/ 229221 h 485775"/>
                    <a:gd name="connsiteX5" fmla="*/ 392029 w 533400"/>
                    <a:gd name="connsiteY5" fmla="*/ 276846 h 485775"/>
                    <a:gd name="connsiteX6" fmla="*/ 411079 w 533400"/>
                    <a:gd name="connsiteY6" fmla="*/ 276846 h 485775"/>
                    <a:gd name="connsiteX7" fmla="*/ 411079 w 533400"/>
                    <a:gd name="connsiteY7" fmla="*/ 229221 h 485775"/>
                    <a:gd name="connsiteX8" fmla="*/ 534904 w 533400"/>
                    <a:gd name="connsiteY8" fmla="*/ 229221 h 485775"/>
                    <a:gd name="connsiteX9" fmla="*/ 534904 w 533400"/>
                    <a:gd name="connsiteY9" fmla="*/ 457821 h 485775"/>
                    <a:gd name="connsiteX10" fmla="*/ 506329 w 533400"/>
                    <a:gd name="connsiteY10" fmla="*/ 486396 h 485775"/>
                    <a:gd name="connsiteX11" fmla="*/ 30079 w 533400"/>
                    <a:gd name="connsiteY11" fmla="*/ 486396 h 485775"/>
                    <a:gd name="connsiteX12" fmla="*/ 1504 w 533400"/>
                    <a:gd name="connsiteY12" fmla="*/ 457821 h 485775"/>
                    <a:gd name="connsiteX13" fmla="*/ 1504 w 533400"/>
                    <a:gd name="connsiteY13" fmla="*/ 229221 h 485775"/>
                    <a:gd name="connsiteX14" fmla="*/ 125329 w 533400"/>
                    <a:gd name="connsiteY14" fmla="*/ 229221 h 485775"/>
                    <a:gd name="connsiteX15" fmla="*/ 372979 w 533400"/>
                    <a:gd name="connsiteY15" fmla="*/ 621 h 485775"/>
                    <a:gd name="connsiteX16" fmla="*/ 411079 w 533400"/>
                    <a:gd name="connsiteY16" fmla="*/ 36816 h 485775"/>
                    <a:gd name="connsiteX17" fmla="*/ 411079 w 533400"/>
                    <a:gd name="connsiteY17" fmla="*/ 38721 h 485775"/>
                    <a:gd name="connsiteX18" fmla="*/ 411079 w 533400"/>
                    <a:gd name="connsiteY18" fmla="*/ 114921 h 485775"/>
                    <a:gd name="connsiteX19" fmla="*/ 506329 w 533400"/>
                    <a:gd name="connsiteY19" fmla="*/ 114921 h 485775"/>
                    <a:gd name="connsiteX20" fmla="*/ 534904 w 533400"/>
                    <a:gd name="connsiteY20" fmla="*/ 143496 h 485775"/>
                    <a:gd name="connsiteX21" fmla="*/ 534904 w 533400"/>
                    <a:gd name="connsiteY21" fmla="*/ 210171 h 485775"/>
                    <a:gd name="connsiteX22" fmla="*/ 1504 w 533400"/>
                    <a:gd name="connsiteY22" fmla="*/ 210171 h 485775"/>
                    <a:gd name="connsiteX23" fmla="*/ 1504 w 533400"/>
                    <a:gd name="connsiteY23" fmla="*/ 143496 h 485775"/>
                    <a:gd name="connsiteX24" fmla="*/ 30079 w 533400"/>
                    <a:gd name="connsiteY24" fmla="*/ 114921 h 485775"/>
                    <a:gd name="connsiteX25" fmla="*/ 125329 w 533400"/>
                    <a:gd name="connsiteY25" fmla="*/ 114921 h 485775"/>
                    <a:gd name="connsiteX26" fmla="*/ 125329 w 533400"/>
                    <a:gd name="connsiteY26" fmla="*/ 38721 h 485775"/>
                    <a:gd name="connsiteX27" fmla="*/ 161524 w 533400"/>
                    <a:gd name="connsiteY27" fmla="*/ 621 h 485775"/>
                    <a:gd name="connsiteX28" fmla="*/ 163429 w 533400"/>
                    <a:gd name="connsiteY28" fmla="*/ 621 h 485775"/>
                    <a:gd name="connsiteX29" fmla="*/ 372979 w 533400"/>
                    <a:gd name="connsiteY29" fmla="*/ 621 h 485775"/>
                    <a:gd name="connsiteX30" fmla="*/ 372979 w 533400"/>
                    <a:gd name="connsiteY30" fmla="*/ 19671 h 485775"/>
                    <a:gd name="connsiteX31" fmla="*/ 163429 w 533400"/>
                    <a:gd name="connsiteY31" fmla="*/ 19671 h 485775"/>
                    <a:gd name="connsiteX32" fmla="*/ 144474 w 533400"/>
                    <a:gd name="connsiteY32" fmla="*/ 37292 h 485775"/>
                    <a:gd name="connsiteX33" fmla="*/ 144379 w 533400"/>
                    <a:gd name="connsiteY33" fmla="*/ 38721 h 485775"/>
                    <a:gd name="connsiteX34" fmla="*/ 144379 w 533400"/>
                    <a:gd name="connsiteY34" fmla="*/ 114921 h 485775"/>
                    <a:gd name="connsiteX35" fmla="*/ 392029 w 533400"/>
                    <a:gd name="connsiteY35" fmla="*/ 114921 h 485775"/>
                    <a:gd name="connsiteX36" fmla="*/ 392029 w 533400"/>
                    <a:gd name="connsiteY36" fmla="*/ 38721 h 485775"/>
                    <a:gd name="connsiteX37" fmla="*/ 375836 w 533400"/>
                    <a:gd name="connsiteY37" fmla="*/ 19862 h 485775"/>
                    <a:gd name="connsiteX38" fmla="*/ 374408 w 533400"/>
                    <a:gd name="connsiteY38" fmla="*/ 19671 h 485775"/>
                    <a:gd name="connsiteX39" fmla="*/ 372979 w 533400"/>
                    <a:gd name="connsiteY39" fmla="*/ 1967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33400" h="485775">
                      <a:moveTo>
                        <a:pt x="125329" y="229221"/>
                      </a:moveTo>
                      <a:lnTo>
                        <a:pt x="125329" y="276846"/>
                      </a:lnTo>
                      <a:lnTo>
                        <a:pt x="144379" y="276846"/>
                      </a:lnTo>
                      <a:lnTo>
                        <a:pt x="144379" y="229221"/>
                      </a:lnTo>
                      <a:lnTo>
                        <a:pt x="392029" y="229221"/>
                      </a:lnTo>
                      <a:lnTo>
                        <a:pt x="392029" y="276846"/>
                      </a:lnTo>
                      <a:lnTo>
                        <a:pt x="411079" y="276846"/>
                      </a:lnTo>
                      <a:lnTo>
                        <a:pt x="411079" y="229221"/>
                      </a:lnTo>
                      <a:lnTo>
                        <a:pt x="534904" y="229221"/>
                      </a:lnTo>
                      <a:lnTo>
                        <a:pt x="534904" y="457821"/>
                      </a:lnTo>
                      <a:cubicBezTo>
                        <a:pt x="534904" y="473632"/>
                        <a:pt x="522141" y="486396"/>
                        <a:pt x="506329" y="486396"/>
                      </a:cubicBezTo>
                      <a:lnTo>
                        <a:pt x="30079" y="486396"/>
                      </a:lnTo>
                      <a:cubicBezTo>
                        <a:pt x="14267" y="486396"/>
                        <a:pt x="1504" y="473632"/>
                        <a:pt x="1504" y="457821"/>
                      </a:cubicBezTo>
                      <a:lnTo>
                        <a:pt x="1504" y="229221"/>
                      </a:lnTo>
                      <a:lnTo>
                        <a:pt x="125329" y="229221"/>
                      </a:lnTo>
                      <a:close/>
                      <a:moveTo>
                        <a:pt x="372979" y="621"/>
                      </a:moveTo>
                      <a:cubicBezTo>
                        <a:pt x="393363" y="621"/>
                        <a:pt x="410031" y="16623"/>
                        <a:pt x="411079" y="36816"/>
                      </a:cubicBezTo>
                      <a:lnTo>
                        <a:pt x="411079" y="38721"/>
                      </a:lnTo>
                      <a:lnTo>
                        <a:pt x="411079" y="114921"/>
                      </a:lnTo>
                      <a:lnTo>
                        <a:pt x="506329" y="114921"/>
                      </a:lnTo>
                      <a:cubicBezTo>
                        <a:pt x="522141" y="114921"/>
                        <a:pt x="534904" y="127685"/>
                        <a:pt x="534904" y="143496"/>
                      </a:cubicBezTo>
                      <a:lnTo>
                        <a:pt x="534904" y="210171"/>
                      </a:lnTo>
                      <a:lnTo>
                        <a:pt x="1504" y="210171"/>
                      </a:lnTo>
                      <a:lnTo>
                        <a:pt x="1504" y="143496"/>
                      </a:lnTo>
                      <a:cubicBezTo>
                        <a:pt x="1504" y="127685"/>
                        <a:pt x="14267" y="114921"/>
                        <a:pt x="30079" y="114921"/>
                      </a:cubicBezTo>
                      <a:lnTo>
                        <a:pt x="125329" y="114921"/>
                      </a:lnTo>
                      <a:lnTo>
                        <a:pt x="125329" y="38721"/>
                      </a:lnTo>
                      <a:cubicBezTo>
                        <a:pt x="125329" y="18337"/>
                        <a:pt x="141331" y="1669"/>
                        <a:pt x="161524" y="621"/>
                      </a:cubicBezTo>
                      <a:lnTo>
                        <a:pt x="163429" y="621"/>
                      </a:lnTo>
                      <a:lnTo>
                        <a:pt x="372979" y="621"/>
                      </a:lnTo>
                      <a:close/>
                      <a:moveTo>
                        <a:pt x="372979" y="19671"/>
                      </a:moveTo>
                      <a:lnTo>
                        <a:pt x="163429" y="19671"/>
                      </a:lnTo>
                      <a:cubicBezTo>
                        <a:pt x="153428" y="19671"/>
                        <a:pt x="145141" y="27482"/>
                        <a:pt x="144474" y="37292"/>
                      </a:cubicBezTo>
                      <a:lnTo>
                        <a:pt x="144379" y="38721"/>
                      </a:lnTo>
                      <a:lnTo>
                        <a:pt x="144379" y="114921"/>
                      </a:lnTo>
                      <a:lnTo>
                        <a:pt x="392029" y="114921"/>
                      </a:lnTo>
                      <a:lnTo>
                        <a:pt x="392029" y="38721"/>
                      </a:lnTo>
                      <a:cubicBezTo>
                        <a:pt x="392029" y="29196"/>
                        <a:pt x="384981" y="21290"/>
                        <a:pt x="375836" y="19862"/>
                      </a:cubicBezTo>
                      <a:lnTo>
                        <a:pt x="374408" y="19671"/>
                      </a:lnTo>
                      <a:lnTo>
                        <a:pt x="372979" y="1967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nvGrpSpPr>
            <p:cNvPr id="37" name="组合 36">
              <a:extLst>
                <a:ext uri="{FF2B5EF4-FFF2-40B4-BE49-F238E27FC236}">
                  <a16:creationId xmlns:a16="http://schemas.microsoft.com/office/drawing/2014/main" id="{8FE5A3B1-A2CB-4408-911C-A4C310425380}"/>
                </a:ext>
              </a:extLst>
            </p:cNvPr>
            <p:cNvGrpSpPr/>
            <p:nvPr/>
          </p:nvGrpSpPr>
          <p:grpSpPr>
            <a:xfrm>
              <a:off x="4217866" y="3407870"/>
              <a:ext cx="3124200" cy="2233382"/>
              <a:chOff x="4830530" y="3407870"/>
              <a:chExt cx="3124200" cy="2233382"/>
            </a:xfrm>
          </p:grpSpPr>
          <p:sp>
            <p:nvSpPr>
              <p:cNvPr id="62" name="圆角矩形 14">
                <a:extLst>
                  <a:ext uri="{FF2B5EF4-FFF2-40B4-BE49-F238E27FC236}">
                    <a16:creationId xmlns:a16="http://schemas.microsoft.com/office/drawing/2014/main" id="{3423C857-BF5A-9D42-55C5-01EEA73BF1A7}"/>
                  </a:ext>
                </a:extLst>
              </p:cNvPr>
              <p:cNvSpPr/>
              <p:nvPr/>
            </p:nvSpPr>
            <p:spPr>
              <a:xfrm>
                <a:off x="4830530" y="4187567"/>
                <a:ext cx="3124200" cy="1416633"/>
              </a:xfrm>
              <a:prstGeom prst="roundRect">
                <a:avLst>
                  <a:gd name="adj" fmla="val 7400"/>
                </a:avLst>
              </a:prstGeom>
              <a:solidFill>
                <a:srgbClr val="FFFFFF"/>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p>
            </p:txBody>
          </p:sp>
          <p:sp>
            <p:nvSpPr>
              <p:cNvPr id="1048768" name="文本框 1048767">
                <a:extLst>
                  <a:ext uri="{FF2B5EF4-FFF2-40B4-BE49-F238E27FC236}">
                    <a16:creationId xmlns:a16="http://schemas.microsoft.com/office/drawing/2014/main" id="{65D0E38C-56DF-D603-41E8-2E312B9A3F36}"/>
                  </a:ext>
                </a:extLst>
              </p:cNvPr>
              <p:cNvSpPr txBox="1"/>
              <p:nvPr/>
            </p:nvSpPr>
            <p:spPr>
              <a:xfrm>
                <a:off x="4950209" y="4681630"/>
                <a:ext cx="2921028" cy="959622"/>
              </a:xfrm>
              <a:prstGeom prst="rect">
                <a:avLst/>
              </a:prstGeom>
              <a:noFill/>
            </p:spPr>
            <p:txBody>
              <a:bodyPr wrap="square" rtlCol="0">
                <a:spAutoFit/>
              </a:bodyPr>
              <a:lstStyle/>
              <a:p>
                <a:pPr>
                  <a:lnSpc>
                    <a:spcPct val="120000"/>
                  </a:lnSpc>
                </a:pPr>
                <a:r>
                  <a:rPr lang="zh-CN" altLang="en-US" sz="1200" dirty="0">
                    <a:solidFill>
                      <a:schemeClr val="bg2">
                        <a:lumMod val="10000"/>
                      </a:schemeClr>
                    </a:solidFill>
                  </a:rPr>
                  <a:t>阀门磨损存在死区，实际开度与指令不符；且旧 </a:t>
                </a:r>
                <a:r>
                  <a:rPr lang="en-US" altLang="zh-CN" sz="1200" dirty="0">
                    <a:solidFill>
                      <a:schemeClr val="bg2">
                        <a:lumMod val="10000"/>
                      </a:schemeClr>
                    </a:solidFill>
                  </a:rPr>
                  <a:t>PLC </a:t>
                </a:r>
                <a:r>
                  <a:rPr lang="zh-CN" altLang="en-US" sz="1200" dirty="0">
                    <a:solidFill>
                      <a:schemeClr val="bg2">
                        <a:lumMod val="10000"/>
                      </a:schemeClr>
                    </a:solidFill>
                  </a:rPr>
                  <a:t>架构老化，仅有基础 </a:t>
                </a:r>
                <a:r>
                  <a:rPr lang="en-US" altLang="zh-CN" sz="1200" dirty="0">
                    <a:solidFill>
                      <a:schemeClr val="bg2">
                        <a:lumMod val="10000"/>
                      </a:schemeClr>
                    </a:solidFill>
                  </a:rPr>
                  <a:t>PID </a:t>
                </a:r>
                <a:r>
                  <a:rPr lang="zh-CN" altLang="en-US" sz="1200" dirty="0">
                    <a:solidFill>
                      <a:schemeClr val="bg2">
                        <a:lumMod val="10000"/>
                      </a:schemeClr>
                    </a:solidFill>
                  </a:rPr>
                  <a:t>控制，无法处理温、压、流的复杂耦合关系。</a:t>
                </a:r>
              </a:p>
            </p:txBody>
          </p:sp>
          <p:grpSp>
            <p:nvGrpSpPr>
              <p:cNvPr id="1048769" name="组合 1048768">
                <a:extLst>
                  <a:ext uri="{FF2B5EF4-FFF2-40B4-BE49-F238E27FC236}">
                    <a16:creationId xmlns:a16="http://schemas.microsoft.com/office/drawing/2014/main" id="{0EC60466-F212-E133-314A-7098D7D3FF5D}"/>
                  </a:ext>
                </a:extLst>
              </p:cNvPr>
              <p:cNvGrpSpPr/>
              <p:nvPr/>
            </p:nvGrpSpPr>
            <p:grpSpPr>
              <a:xfrm>
                <a:off x="4966855" y="3407870"/>
                <a:ext cx="500759" cy="500756"/>
                <a:chOff x="7881396" y="2794007"/>
                <a:chExt cx="444222" cy="444220"/>
              </a:xfrm>
            </p:grpSpPr>
            <p:sp>
              <p:nvSpPr>
                <p:cNvPr id="1048770" name="圆角矩形 21">
                  <a:extLst>
                    <a:ext uri="{FF2B5EF4-FFF2-40B4-BE49-F238E27FC236}">
                      <a16:creationId xmlns:a16="http://schemas.microsoft.com/office/drawing/2014/main" id="{AF3DEFA2-18FF-C0D7-9EF5-2A29009E1E5A}"/>
                    </a:ext>
                  </a:extLst>
                </p:cNvPr>
                <p:cNvSpPr/>
                <p:nvPr/>
              </p:nvSpPr>
              <p:spPr>
                <a:xfrm>
                  <a:off x="7881396" y="2794007"/>
                  <a:ext cx="444222" cy="444220"/>
                </a:xfrm>
                <a:prstGeom prst="roundRect">
                  <a:avLst/>
                </a:prstGeom>
                <a:solidFill>
                  <a:schemeClr val="accent6"/>
                </a:solidFill>
                <a:ln w="12700" cap="rnd">
                  <a:noFill/>
                  <a:prstDash val="solid"/>
                  <a:round/>
                  <a:headEnd/>
                  <a:tailEnd/>
                </a:ln>
                <a:effectLst>
                  <a:outerShdw blurRad="254000" dist="127000" algn="ctr" rotWithShape="0">
                    <a:schemeClr val="accent6">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1048771" name="任意多边形 22">
                  <a:extLst>
                    <a:ext uri="{FF2B5EF4-FFF2-40B4-BE49-F238E27FC236}">
                      <a16:creationId xmlns:a16="http://schemas.microsoft.com/office/drawing/2014/main" id="{CCF5A79C-D1F7-4070-BD3B-C309C25B1CA4}"/>
                    </a:ext>
                  </a:extLst>
                </p:cNvPr>
                <p:cNvSpPr/>
                <p:nvPr/>
              </p:nvSpPr>
              <p:spPr bwMode="auto">
                <a:xfrm>
                  <a:off x="8019080" y="2913337"/>
                  <a:ext cx="168853" cy="205561"/>
                </a:xfrm>
                <a:custGeom>
                  <a:avLst/>
                  <a:gdLst>
                    <a:gd name="connsiteX0" fmla="*/ 283816 w 438150"/>
                    <a:gd name="connsiteY0" fmla="*/ 621 h 533400"/>
                    <a:gd name="connsiteX1" fmla="*/ 286102 w 438150"/>
                    <a:gd name="connsiteY1" fmla="*/ 716 h 533400"/>
                    <a:gd name="connsiteX2" fmla="*/ 286102 w 438150"/>
                    <a:gd name="connsiteY2" fmla="*/ 124446 h 533400"/>
                    <a:gd name="connsiteX3" fmla="*/ 286197 w 438150"/>
                    <a:gd name="connsiteY3" fmla="*/ 126160 h 533400"/>
                    <a:gd name="connsiteX4" fmla="*/ 314677 w 438150"/>
                    <a:gd name="connsiteY4" fmla="*/ 153021 h 533400"/>
                    <a:gd name="connsiteX5" fmla="*/ 314677 w 438150"/>
                    <a:gd name="connsiteY5" fmla="*/ 153021 h 533400"/>
                    <a:gd name="connsiteX6" fmla="*/ 438407 w 438150"/>
                    <a:gd name="connsiteY6" fmla="*/ 153021 h 533400"/>
                    <a:gd name="connsiteX7" fmla="*/ 438502 w 438150"/>
                    <a:gd name="connsiteY7" fmla="*/ 155307 h 533400"/>
                    <a:gd name="connsiteX8" fmla="*/ 438502 w 438150"/>
                    <a:gd name="connsiteY8" fmla="*/ 505446 h 533400"/>
                    <a:gd name="connsiteX9" fmla="*/ 409927 w 438150"/>
                    <a:gd name="connsiteY9" fmla="*/ 534021 h 533400"/>
                    <a:gd name="connsiteX10" fmla="*/ 28927 w 438150"/>
                    <a:gd name="connsiteY10" fmla="*/ 534021 h 533400"/>
                    <a:gd name="connsiteX11" fmla="*/ 352 w 438150"/>
                    <a:gd name="connsiteY11" fmla="*/ 505446 h 533400"/>
                    <a:gd name="connsiteX12" fmla="*/ 352 w 438150"/>
                    <a:gd name="connsiteY12" fmla="*/ 29196 h 533400"/>
                    <a:gd name="connsiteX13" fmla="*/ 28927 w 438150"/>
                    <a:gd name="connsiteY13" fmla="*/ 621 h 533400"/>
                    <a:gd name="connsiteX14" fmla="*/ 283816 w 438150"/>
                    <a:gd name="connsiteY14" fmla="*/ 621 h 533400"/>
                    <a:gd name="connsiteX15" fmla="*/ 248002 w 438150"/>
                    <a:gd name="connsiteY15" fmla="*/ 200646 h 533400"/>
                    <a:gd name="connsiteX16" fmla="*/ 152752 w 438150"/>
                    <a:gd name="connsiteY16" fmla="*/ 200646 h 533400"/>
                    <a:gd name="connsiteX17" fmla="*/ 152752 w 438150"/>
                    <a:gd name="connsiteY17" fmla="*/ 410196 h 533400"/>
                    <a:gd name="connsiteX18" fmla="*/ 171802 w 438150"/>
                    <a:gd name="connsiteY18" fmla="*/ 410196 h 533400"/>
                    <a:gd name="connsiteX19" fmla="*/ 171802 w 438150"/>
                    <a:gd name="connsiteY19" fmla="*/ 314946 h 533400"/>
                    <a:gd name="connsiteX20" fmla="*/ 248002 w 438150"/>
                    <a:gd name="connsiteY20" fmla="*/ 314946 h 533400"/>
                    <a:gd name="connsiteX21" fmla="*/ 250098 w 438150"/>
                    <a:gd name="connsiteY21" fmla="*/ 314946 h 533400"/>
                    <a:gd name="connsiteX22" fmla="*/ 305152 w 438150"/>
                    <a:gd name="connsiteY22" fmla="*/ 257796 h 533400"/>
                    <a:gd name="connsiteX23" fmla="*/ 248002 w 438150"/>
                    <a:gd name="connsiteY23" fmla="*/ 200646 h 533400"/>
                    <a:gd name="connsiteX24" fmla="*/ 248002 w 438150"/>
                    <a:gd name="connsiteY24" fmla="*/ 200646 h 533400"/>
                    <a:gd name="connsiteX25" fmla="*/ 248002 w 438150"/>
                    <a:gd name="connsiteY25" fmla="*/ 219696 h 533400"/>
                    <a:gd name="connsiteX26" fmla="*/ 286102 w 438150"/>
                    <a:gd name="connsiteY26" fmla="*/ 257796 h 533400"/>
                    <a:gd name="connsiteX27" fmla="*/ 248002 w 438150"/>
                    <a:gd name="connsiteY27" fmla="*/ 295896 h 533400"/>
                    <a:gd name="connsiteX28" fmla="*/ 248002 w 438150"/>
                    <a:gd name="connsiteY28" fmla="*/ 295896 h 533400"/>
                    <a:gd name="connsiteX29" fmla="*/ 171802 w 438150"/>
                    <a:gd name="connsiteY29" fmla="*/ 295896 h 533400"/>
                    <a:gd name="connsiteX30" fmla="*/ 171802 w 438150"/>
                    <a:gd name="connsiteY30" fmla="*/ 219696 h 533400"/>
                    <a:gd name="connsiteX31" fmla="*/ 248002 w 438150"/>
                    <a:gd name="connsiteY31" fmla="*/ 219696 h 533400"/>
                    <a:gd name="connsiteX32" fmla="*/ 428977 w 438150"/>
                    <a:gd name="connsiteY32" fmla="*/ 133971 h 533400"/>
                    <a:gd name="connsiteX33" fmla="*/ 314677 w 438150"/>
                    <a:gd name="connsiteY33" fmla="*/ 133971 h 533400"/>
                    <a:gd name="connsiteX34" fmla="*/ 313534 w 438150"/>
                    <a:gd name="connsiteY34" fmla="*/ 133876 h 533400"/>
                    <a:gd name="connsiteX35" fmla="*/ 305152 w 438150"/>
                    <a:gd name="connsiteY35" fmla="*/ 124446 h 533400"/>
                    <a:gd name="connsiteX36" fmla="*/ 305152 w 438150"/>
                    <a:gd name="connsiteY36" fmla="*/ 124446 h 533400"/>
                    <a:gd name="connsiteX37" fmla="*/ 305152 w 438150"/>
                    <a:gd name="connsiteY37" fmla="*/ 10146 h 533400"/>
                    <a:gd name="connsiteX38" fmla="*/ 428977 w 438150"/>
                    <a:gd name="connsiteY38" fmla="*/ 133971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38150" h="533400">
                      <a:moveTo>
                        <a:pt x="283816" y="621"/>
                      </a:moveTo>
                      <a:cubicBezTo>
                        <a:pt x="284578" y="621"/>
                        <a:pt x="285340" y="621"/>
                        <a:pt x="286102" y="716"/>
                      </a:cubicBezTo>
                      <a:lnTo>
                        <a:pt x="286102" y="124446"/>
                      </a:lnTo>
                      <a:lnTo>
                        <a:pt x="286197" y="126160"/>
                      </a:lnTo>
                      <a:cubicBezTo>
                        <a:pt x="287055" y="141115"/>
                        <a:pt x="299532" y="153021"/>
                        <a:pt x="314677" y="153021"/>
                      </a:cubicBezTo>
                      <a:lnTo>
                        <a:pt x="314677" y="153021"/>
                      </a:lnTo>
                      <a:lnTo>
                        <a:pt x="438407" y="153021"/>
                      </a:lnTo>
                      <a:cubicBezTo>
                        <a:pt x="438502" y="153783"/>
                        <a:pt x="438502" y="154545"/>
                        <a:pt x="438502" y="155307"/>
                      </a:cubicBezTo>
                      <a:lnTo>
                        <a:pt x="438502" y="505446"/>
                      </a:lnTo>
                      <a:cubicBezTo>
                        <a:pt x="438502" y="521257"/>
                        <a:pt x="425739" y="534021"/>
                        <a:pt x="409927" y="534021"/>
                      </a:cubicBezTo>
                      <a:lnTo>
                        <a:pt x="28927" y="534021"/>
                      </a:lnTo>
                      <a:cubicBezTo>
                        <a:pt x="13115" y="534021"/>
                        <a:pt x="352" y="521257"/>
                        <a:pt x="352" y="505446"/>
                      </a:cubicBezTo>
                      <a:lnTo>
                        <a:pt x="352" y="29196"/>
                      </a:lnTo>
                      <a:cubicBezTo>
                        <a:pt x="352" y="13385"/>
                        <a:pt x="13115" y="621"/>
                        <a:pt x="28927" y="621"/>
                      </a:cubicBezTo>
                      <a:lnTo>
                        <a:pt x="283816" y="621"/>
                      </a:lnTo>
                      <a:close/>
                      <a:moveTo>
                        <a:pt x="248002" y="200646"/>
                      </a:moveTo>
                      <a:lnTo>
                        <a:pt x="152752" y="200646"/>
                      </a:lnTo>
                      <a:lnTo>
                        <a:pt x="152752" y="410196"/>
                      </a:lnTo>
                      <a:lnTo>
                        <a:pt x="171802" y="410196"/>
                      </a:lnTo>
                      <a:lnTo>
                        <a:pt x="171802" y="314946"/>
                      </a:lnTo>
                      <a:lnTo>
                        <a:pt x="248002" y="314946"/>
                      </a:lnTo>
                      <a:lnTo>
                        <a:pt x="250098" y="314946"/>
                      </a:lnTo>
                      <a:cubicBezTo>
                        <a:pt x="280673" y="313803"/>
                        <a:pt x="305152" y="288657"/>
                        <a:pt x="305152" y="257796"/>
                      </a:cubicBezTo>
                      <a:cubicBezTo>
                        <a:pt x="305152" y="226268"/>
                        <a:pt x="279530" y="200646"/>
                        <a:pt x="248002" y="200646"/>
                      </a:cubicBezTo>
                      <a:lnTo>
                        <a:pt x="248002" y="200646"/>
                      </a:lnTo>
                      <a:close/>
                      <a:moveTo>
                        <a:pt x="248002" y="219696"/>
                      </a:moveTo>
                      <a:cubicBezTo>
                        <a:pt x="269052" y="219696"/>
                        <a:pt x="286102" y="236746"/>
                        <a:pt x="286102" y="257796"/>
                      </a:cubicBezTo>
                      <a:cubicBezTo>
                        <a:pt x="286102" y="278846"/>
                        <a:pt x="269052" y="295896"/>
                        <a:pt x="248002" y="295896"/>
                      </a:cubicBezTo>
                      <a:lnTo>
                        <a:pt x="248002" y="295896"/>
                      </a:lnTo>
                      <a:lnTo>
                        <a:pt x="171802" y="295896"/>
                      </a:lnTo>
                      <a:lnTo>
                        <a:pt x="171802" y="219696"/>
                      </a:lnTo>
                      <a:lnTo>
                        <a:pt x="248002" y="219696"/>
                      </a:lnTo>
                      <a:close/>
                      <a:moveTo>
                        <a:pt x="428977" y="133971"/>
                      </a:moveTo>
                      <a:lnTo>
                        <a:pt x="314677" y="133971"/>
                      </a:lnTo>
                      <a:lnTo>
                        <a:pt x="313534" y="133876"/>
                      </a:lnTo>
                      <a:cubicBezTo>
                        <a:pt x="308772" y="133304"/>
                        <a:pt x="305152" y="129304"/>
                        <a:pt x="305152" y="124446"/>
                      </a:cubicBezTo>
                      <a:lnTo>
                        <a:pt x="305152" y="124446"/>
                      </a:lnTo>
                      <a:lnTo>
                        <a:pt x="305152" y="10146"/>
                      </a:lnTo>
                      <a:lnTo>
                        <a:pt x="428977" y="13397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nvGrpSpPr>
            <p:cNvPr id="38" name="组合 37">
              <a:extLst>
                <a:ext uri="{FF2B5EF4-FFF2-40B4-BE49-F238E27FC236}">
                  <a16:creationId xmlns:a16="http://schemas.microsoft.com/office/drawing/2014/main" id="{DDBCBC80-B05D-D5E3-72EE-49F0C19724E3}"/>
                </a:ext>
              </a:extLst>
            </p:cNvPr>
            <p:cNvGrpSpPr/>
            <p:nvPr/>
          </p:nvGrpSpPr>
          <p:grpSpPr>
            <a:xfrm>
              <a:off x="7540981" y="3407870"/>
              <a:ext cx="3124200" cy="2194834"/>
              <a:chOff x="8394700" y="3407870"/>
              <a:chExt cx="3124200" cy="2194834"/>
            </a:xfrm>
          </p:grpSpPr>
          <p:sp>
            <p:nvSpPr>
              <p:cNvPr id="40" name="圆角矩形 23">
                <a:extLst>
                  <a:ext uri="{FF2B5EF4-FFF2-40B4-BE49-F238E27FC236}">
                    <a16:creationId xmlns:a16="http://schemas.microsoft.com/office/drawing/2014/main" id="{AE2CE338-9471-36CB-1AA1-8AA18A5A6612}"/>
                  </a:ext>
                </a:extLst>
              </p:cNvPr>
              <p:cNvSpPr/>
              <p:nvPr/>
            </p:nvSpPr>
            <p:spPr>
              <a:xfrm>
                <a:off x="8394700" y="4186071"/>
                <a:ext cx="3124200" cy="1416633"/>
              </a:xfrm>
              <a:prstGeom prst="roundRect">
                <a:avLst>
                  <a:gd name="adj" fmla="val 7400"/>
                </a:avLst>
              </a:prstGeom>
              <a:solidFill>
                <a:srgbClr val="FFFFFF"/>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p>
            </p:txBody>
          </p:sp>
          <p:sp>
            <p:nvSpPr>
              <p:cNvPr id="49" name="文本框 48">
                <a:extLst>
                  <a:ext uri="{FF2B5EF4-FFF2-40B4-BE49-F238E27FC236}">
                    <a16:creationId xmlns:a16="http://schemas.microsoft.com/office/drawing/2014/main" id="{C4A42283-804E-0F85-B949-BD242DF28050}"/>
                  </a:ext>
                </a:extLst>
              </p:cNvPr>
              <p:cNvSpPr txBox="1"/>
              <p:nvPr/>
            </p:nvSpPr>
            <p:spPr>
              <a:xfrm>
                <a:off x="8514379" y="4680134"/>
                <a:ext cx="2921028" cy="738023"/>
              </a:xfrm>
              <a:prstGeom prst="rect">
                <a:avLst/>
              </a:prstGeom>
              <a:noFill/>
            </p:spPr>
            <p:txBody>
              <a:bodyPr wrap="square" rtlCol="0">
                <a:spAutoFit/>
              </a:bodyPr>
              <a:lstStyle/>
              <a:p>
                <a:pPr>
                  <a:lnSpc>
                    <a:spcPct val="120000"/>
                  </a:lnSpc>
                </a:pPr>
                <a:r>
                  <a:rPr lang="zh-CN" altLang="en-US" sz="1200" dirty="0">
                    <a:solidFill>
                      <a:schemeClr val="bg2">
                        <a:lumMod val="10000"/>
                      </a:schemeClr>
                    </a:solidFill>
                  </a:rPr>
                  <a:t>全炉仅烟道尾部有一处残氧仪，响应慢、纯滞后大；且无法测出各段的真实燃烧工况，缺乏代表性。</a:t>
                </a:r>
              </a:p>
            </p:txBody>
          </p:sp>
          <p:grpSp>
            <p:nvGrpSpPr>
              <p:cNvPr id="50" name="组合 49">
                <a:extLst>
                  <a:ext uri="{FF2B5EF4-FFF2-40B4-BE49-F238E27FC236}">
                    <a16:creationId xmlns:a16="http://schemas.microsoft.com/office/drawing/2014/main" id="{88A4B105-0C6A-DE32-B8E8-517101E9DFA2}"/>
                  </a:ext>
                </a:extLst>
              </p:cNvPr>
              <p:cNvGrpSpPr/>
              <p:nvPr/>
            </p:nvGrpSpPr>
            <p:grpSpPr>
              <a:xfrm>
                <a:off x="8514374" y="3407870"/>
                <a:ext cx="500759" cy="500756"/>
                <a:chOff x="3866383" y="2794007"/>
                <a:chExt cx="444222" cy="444220"/>
              </a:xfrm>
            </p:grpSpPr>
            <p:sp>
              <p:nvSpPr>
                <p:cNvPr id="51" name="圆角矩形 27">
                  <a:extLst>
                    <a:ext uri="{FF2B5EF4-FFF2-40B4-BE49-F238E27FC236}">
                      <a16:creationId xmlns:a16="http://schemas.microsoft.com/office/drawing/2014/main" id="{249ED168-539A-0C33-FE0B-8E169C16F048}"/>
                    </a:ext>
                  </a:extLst>
                </p:cNvPr>
                <p:cNvSpPr/>
                <p:nvPr/>
              </p:nvSpPr>
              <p:spPr>
                <a:xfrm>
                  <a:off x="3866383" y="2794007"/>
                  <a:ext cx="444222" cy="444220"/>
                </a:xfrm>
                <a:prstGeom prst="roundRect">
                  <a:avLst/>
                </a:prstGeom>
                <a:solidFill>
                  <a:schemeClr val="accent1"/>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59" name="任意多边形 28">
                  <a:extLst>
                    <a:ext uri="{FF2B5EF4-FFF2-40B4-BE49-F238E27FC236}">
                      <a16:creationId xmlns:a16="http://schemas.microsoft.com/office/drawing/2014/main" id="{6BF8E13A-8F6E-5D64-C4D0-4F25C77D283F}"/>
                    </a:ext>
                  </a:extLst>
                </p:cNvPr>
                <p:cNvSpPr/>
                <p:nvPr/>
              </p:nvSpPr>
              <p:spPr bwMode="auto">
                <a:xfrm>
                  <a:off x="3985714" y="2939032"/>
                  <a:ext cx="205561" cy="154170"/>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419 w 533400"/>
                    <a:gd name="connsiteY9" fmla="*/ 198646 h 400050"/>
                    <a:gd name="connsiteX10" fmla="*/ 351414 w 533400"/>
                    <a:gd name="connsiteY10" fmla="*/ 204170 h 400050"/>
                    <a:gd name="connsiteX11" fmla="*/ 351414 w 533400"/>
                    <a:gd name="connsiteY11" fmla="*/ 204170 h 400050"/>
                    <a:gd name="connsiteX12" fmla="*/ 267118 w 533400"/>
                    <a:gd name="connsiteY12" fmla="*/ 315613 h 400050"/>
                    <a:gd name="connsiteX13" fmla="*/ 264641 w 533400"/>
                    <a:gd name="connsiteY13" fmla="*/ 318470 h 400050"/>
                    <a:gd name="connsiteX14" fmla="*/ 224255 w 533400"/>
                    <a:gd name="connsiteY14" fmla="*/ 318756 h 400050"/>
                    <a:gd name="connsiteX15" fmla="*/ 224255 w 533400"/>
                    <a:gd name="connsiteY15" fmla="*/ 318756 h 400050"/>
                    <a:gd name="connsiteX16" fmla="*/ 162152 w 533400"/>
                    <a:gd name="connsiteY16" fmla="*/ 257415 h 400050"/>
                    <a:gd name="connsiteX17" fmla="*/ 160247 w 533400"/>
                    <a:gd name="connsiteY17" fmla="*/ 255701 h 400050"/>
                    <a:gd name="connsiteX18" fmla="*/ 120052 w 533400"/>
                    <a:gd name="connsiteY18" fmla="*/ 259606 h 400050"/>
                    <a:gd name="connsiteX19" fmla="*/ 120052 w 533400"/>
                    <a:gd name="connsiteY19" fmla="*/ 259606 h 400050"/>
                    <a:gd name="connsiteX20" fmla="*/ 32517 w 533400"/>
                    <a:gd name="connsiteY20" fmla="*/ 366095 h 400050"/>
                    <a:gd name="connsiteX21" fmla="*/ 30326 w 533400"/>
                    <a:gd name="connsiteY21" fmla="*/ 372096 h 400050"/>
                    <a:gd name="connsiteX22" fmla="*/ 39851 w 533400"/>
                    <a:gd name="connsiteY22" fmla="*/ 381621 h 400050"/>
                    <a:gd name="connsiteX23" fmla="*/ 39851 w 533400"/>
                    <a:gd name="connsiteY23" fmla="*/ 381621 h 400050"/>
                    <a:gd name="connsiteX24" fmla="*/ 497242 w 533400"/>
                    <a:gd name="connsiteY24" fmla="*/ 381621 h 400050"/>
                    <a:gd name="connsiteX25" fmla="*/ 502480 w 533400"/>
                    <a:gd name="connsiteY25" fmla="*/ 380002 h 400050"/>
                    <a:gd name="connsiteX26" fmla="*/ 505147 w 533400"/>
                    <a:gd name="connsiteY26" fmla="*/ 366762 h 400050"/>
                    <a:gd name="connsiteX27" fmla="*/ 505147 w 533400"/>
                    <a:gd name="connsiteY27" fmla="*/ 366762 h 400050"/>
                    <a:gd name="connsiteX28" fmla="*/ 397991 w 533400"/>
                    <a:gd name="connsiteY28" fmla="*/ 205504 h 400050"/>
                    <a:gd name="connsiteX29" fmla="*/ 391419 w 533400"/>
                    <a:gd name="connsiteY29" fmla="*/ 198646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a:noFill/>
                </a:ln>
              </p:spPr>
              <p:txBody>
                <a:bodyPr/>
                <a:lstStyle/>
                <a:p>
                  <a:endParaRPr lang="zh-CN" altLang="en-US" dirty="0"/>
                </a:p>
              </p:txBody>
            </p:sp>
          </p:grpSp>
        </p:grpSp>
      </p:grpSp>
      <p:grpSp>
        <p:nvGrpSpPr>
          <p:cNvPr id="1048779" name="组合 1048778">
            <a:extLst>
              <a:ext uri="{FF2B5EF4-FFF2-40B4-BE49-F238E27FC236}">
                <a16:creationId xmlns:a16="http://schemas.microsoft.com/office/drawing/2014/main" id="{1D473006-F35A-C8BC-4A66-AA5B9E65840D}"/>
              </a:ext>
            </a:extLst>
          </p:cNvPr>
          <p:cNvGrpSpPr/>
          <p:nvPr/>
        </p:nvGrpSpPr>
        <p:grpSpPr>
          <a:xfrm>
            <a:off x="1034305" y="4261462"/>
            <a:ext cx="9770430" cy="2196330"/>
            <a:chOff x="894751" y="3407870"/>
            <a:chExt cx="9770430" cy="2196330"/>
          </a:xfrm>
        </p:grpSpPr>
        <p:grpSp>
          <p:nvGrpSpPr>
            <p:cNvPr id="1048780" name="组合 1048779">
              <a:extLst>
                <a:ext uri="{FF2B5EF4-FFF2-40B4-BE49-F238E27FC236}">
                  <a16:creationId xmlns:a16="http://schemas.microsoft.com/office/drawing/2014/main" id="{B5653740-364F-2BB8-FF75-544147AEB593}"/>
                </a:ext>
              </a:extLst>
            </p:cNvPr>
            <p:cNvGrpSpPr/>
            <p:nvPr/>
          </p:nvGrpSpPr>
          <p:grpSpPr>
            <a:xfrm>
              <a:off x="894751" y="3407870"/>
              <a:ext cx="3124200" cy="2196330"/>
              <a:chOff x="894751" y="3407870"/>
              <a:chExt cx="3124200" cy="2196330"/>
            </a:xfrm>
          </p:grpSpPr>
          <p:sp>
            <p:nvSpPr>
              <p:cNvPr id="1048795" name="圆角矩形 11">
                <a:extLst>
                  <a:ext uri="{FF2B5EF4-FFF2-40B4-BE49-F238E27FC236}">
                    <a16:creationId xmlns:a16="http://schemas.microsoft.com/office/drawing/2014/main" id="{90862DB7-A4EF-2BB0-4557-302DF1F26F30}"/>
                  </a:ext>
                </a:extLst>
              </p:cNvPr>
              <p:cNvSpPr/>
              <p:nvPr/>
            </p:nvSpPr>
            <p:spPr>
              <a:xfrm>
                <a:off x="894751" y="4187567"/>
                <a:ext cx="3124200" cy="1416633"/>
              </a:xfrm>
              <a:prstGeom prst="roundRect">
                <a:avLst>
                  <a:gd name="adj" fmla="val 7400"/>
                </a:avLst>
              </a:prstGeom>
              <a:solidFill>
                <a:srgbClr val="FFFFFF"/>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p>
            </p:txBody>
          </p:sp>
          <p:sp>
            <p:nvSpPr>
              <p:cNvPr id="1048797" name="文本框 1048796">
                <a:extLst>
                  <a:ext uri="{FF2B5EF4-FFF2-40B4-BE49-F238E27FC236}">
                    <a16:creationId xmlns:a16="http://schemas.microsoft.com/office/drawing/2014/main" id="{53F56ECC-A3D9-3940-B191-E4821D8E9DFB}"/>
                  </a:ext>
                </a:extLst>
              </p:cNvPr>
              <p:cNvSpPr txBox="1"/>
              <p:nvPr/>
            </p:nvSpPr>
            <p:spPr>
              <a:xfrm>
                <a:off x="1014430" y="4681630"/>
                <a:ext cx="2921028" cy="738023"/>
              </a:xfrm>
              <a:prstGeom prst="rect">
                <a:avLst/>
              </a:prstGeom>
              <a:noFill/>
            </p:spPr>
            <p:txBody>
              <a:bodyPr wrap="square" rtlCol="0">
                <a:spAutoFit/>
              </a:bodyPr>
              <a:lstStyle/>
              <a:p>
                <a:pPr>
                  <a:lnSpc>
                    <a:spcPct val="120000"/>
                  </a:lnSpc>
                </a:pPr>
                <a:r>
                  <a:rPr lang="zh-CN" altLang="en-US" sz="1200" dirty="0">
                    <a:solidFill>
                      <a:schemeClr val="bg2">
                        <a:lumMod val="10000"/>
                      </a:schemeClr>
                    </a:solidFill>
                  </a:rPr>
                  <a:t>混合煤气配比、热值及水分频繁波动，固定流量设定无法应对源头不稳定，导致炉温难以平衡。</a:t>
                </a:r>
              </a:p>
            </p:txBody>
          </p:sp>
          <p:grpSp>
            <p:nvGrpSpPr>
              <p:cNvPr id="1048798" name="组合 1048797">
                <a:extLst>
                  <a:ext uri="{FF2B5EF4-FFF2-40B4-BE49-F238E27FC236}">
                    <a16:creationId xmlns:a16="http://schemas.microsoft.com/office/drawing/2014/main" id="{C8E6BBA8-D6BB-2EC8-9E26-3EF207D25FB7}"/>
                  </a:ext>
                </a:extLst>
              </p:cNvPr>
              <p:cNvGrpSpPr/>
              <p:nvPr/>
            </p:nvGrpSpPr>
            <p:grpSpPr>
              <a:xfrm>
                <a:off x="1014429" y="3407870"/>
                <a:ext cx="500759" cy="500756"/>
                <a:chOff x="5472394" y="2794005"/>
                <a:chExt cx="444222" cy="444220"/>
              </a:xfrm>
            </p:grpSpPr>
            <p:sp>
              <p:nvSpPr>
                <p:cNvPr id="1048799" name="圆角矩形 18">
                  <a:extLst>
                    <a:ext uri="{FF2B5EF4-FFF2-40B4-BE49-F238E27FC236}">
                      <a16:creationId xmlns:a16="http://schemas.microsoft.com/office/drawing/2014/main" id="{14584911-E303-8876-C73E-6A691E5586B8}"/>
                    </a:ext>
                  </a:extLst>
                </p:cNvPr>
                <p:cNvSpPr/>
                <p:nvPr/>
              </p:nvSpPr>
              <p:spPr>
                <a:xfrm>
                  <a:off x="5472394" y="2794005"/>
                  <a:ext cx="444222" cy="444220"/>
                </a:xfrm>
                <a:prstGeom prst="roundRect">
                  <a:avLst/>
                </a:prstGeom>
                <a:solidFill>
                  <a:schemeClr val="accent3"/>
                </a:solidFill>
                <a:ln w="12700" cap="rnd">
                  <a:noFill/>
                  <a:prstDash val="solid"/>
                  <a:round/>
                  <a:headEnd/>
                  <a:tailE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1048800" name="任意多边形 19">
                  <a:extLst>
                    <a:ext uri="{FF2B5EF4-FFF2-40B4-BE49-F238E27FC236}">
                      <a16:creationId xmlns:a16="http://schemas.microsoft.com/office/drawing/2014/main" id="{B91372EC-F66B-F5C6-DC5C-F993EA4BEC03}"/>
                    </a:ext>
                  </a:extLst>
                </p:cNvPr>
                <p:cNvSpPr/>
                <p:nvPr/>
              </p:nvSpPr>
              <p:spPr bwMode="auto">
                <a:xfrm>
                  <a:off x="5591720" y="2922512"/>
                  <a:ext cx="205561" cy="187207"/>
                </a:xfrm>
                <a:custGeom>
                  <a:avLst/>
                  <a:gdLst>
                    <a:gd name="connsiteX0" fmla="*/ 125329 w 533400"/>
                    <a:gd name="connsiteY0" fmla="*/ 229221 h 485775"/>
                    <a:gd name="connsiteX1" fmla="*/ 125329 w 533400"/>
                    <a:gd name="connsiteY1" fmla="*/ 276846 h 485775"/>
                    <a:gd name="connsiteX2" fmla="*/ 144379 w 533400"/>
                    <a:gd name="connsiteY2" fmla="*/ 276846 h 485775"/>
                    <a:gd name="connsiteX3" fmla="*/ 144379 w 533400"/>
                    <a:gd name="connsiteY3" fmla="*/ 229221 h 485775"/>
                    <a:gd name="connsiteX4" fmla="*/ 392029 w 533400"/>
                    <a:gd name="connsiteY4" fmla="*/ 229221 h 485775"/>
                    <a:gd name="connsiteX5" fmla="*/ 392029 w 533400"/>
                    <a:gd name="connsiteY5" fmla="*/ 276846 h 485775"/>
                    <a:gd name="connsiteX6" fmla="*/ 411079 w 533400"/>
                    <a:gd name="connsiteY6" fmla="*/ 276846 h 485775"/>
                    <a:gd name="connsiteX7" fmla="*/ 411079 w 533400"/>
                    <a:gd name="connsiteY7" fmla="*/ 229221 h 485775"/>
                    <a:gd name="connsiteX8" fmla="*/ 534904 w 533400"/>
                    <a:gd name="connsiteY8" fmla="*/ 229221 h 485775"/>
                    <a:gd name="connsiteX9" fmla="*/ 534904 w 533400"/>
                    <a:gd name="connsiteY9" fmla="*/ 457821 h 485775"/>
                    <a:gd name="connsiteX10" fmla="*/ 506329 w 533400"/>
                    <a:gd name="connsiteY10" fmla="*/ 486396 h 485775"/>
                    <a:gd name="connsiteX11" fmla="*/ 30079 w 533400"/>
                    <a:gd name="connsiteY11" fmla="*/ 486396 h 485775"/>
                    <a:gd name="connsiteX12" fmla="*/ 1504 w 533400"/>
                    <a:gd name="connsiteY12" fmla="*/ 457821 h 485775"/>
                    <a:gd name="connsiteX13" fmla="*/ 1504 w 533400"/>
                    <a:gd name="connsiteY13" fmla="*/ 229221 h 485775"/>
                    <a:gd name="connsiteX14" fmla="*/ 125329 w 533400"/>
                    <a:gd name="connsiteY14" fmla="*/ 229221 h 485775"/>
                    <a:gd name="connsiteX15" fmla="*/ 372979 w 533400"/>
                    <a:gd name="connsiteY15" fmla="*/ 621 h 485775"/>
                    <a:gd name="connsiteX16" fmla="*/ 411079 w 533400"/>
                    <a:gd name="connsiteY16" fmla="*/ 36816 h 485775"/>
                    <a:gd name="connsiteX17" fmla="*/ 411079 w 533400"/>
                    <a:gd name="connsiteY17" fmla="*/ 38721 h 485775"/>
                    <a:gd name="connsiteX18" fmla="*/ 411079 w 533400"/>
                    <a:gd name="connsiteY18" fmla="*/ 114921 h 485775"/>
                    <a:gd name="connsiteX19" fmla="*/ 506329 w 533400"/>
                    <a:gd name="connsiteY19" fmla="*/ 114921 h 485775"/>
                    <a:gd name="connsiteX20" fmla="*/ 534904 w 533400"/>
                    <a:gd name="connsiteY20" fmla="*/ 143496 h 485775"/>
                    <a:gd name="connsiteX21" fmla="*/ 534904 w 533400"/>
                    <a:gd name="connsiteY21" fmla="*/ 210171 h 485775"/>
                    <a:gd name="connsiteX22" fmla="*/ 1504 w 533400"/>
                    <a:gd name="connsiteY22" fmla="*/ 210171 h 485775"/>
                    <a:gd name="connsiteX23" fmla="*/ 1504 w 533400"/>
                    <a:gd name="connsiteY23" fmla="*/ 143496 h 485775"/>
                    <a:gd name="connsiteX24" fmla="*/ 30079 w 533400"/>
                    <a:gd name="connsiteY24" fmla="*/ 114921 h 485775"/>
                    <a:gd name="connsiteX25" fmla="*/ 125329 w 533400"/>
                    <a:gd name="connsiteY25" fmla="*/ 114921 h 485775"/>
                    <a:gd name="connsiteX26" fmla="*/ 125329 w 533400"/>
                    <a:gd name="connsiteY26" fmla="*/ 38721 h 485775"/>
                    <a:gd name="connsiteX27" fmla="*/ 161524 w 533400"/>
                    <a:gd name="connsiteY27" fmla="*/ 621 h 485775"/>
                    <a:gd name="connsiteX28" fmla="*/ 163429 w 533400"/>
                    <a:gd name="connsiteY28" fmla="*/ 621 h 485775"/>
                    <a:gd name="connsiteX29" fmla="*/ 372979 w 533400"/>
                    <a:gd name="connsiteY29" fmla="*/ 621 h 485775"/>
                    <a:gd name="connsiteX30" fmla="*/ 372979 w 533400"/>
                    <a:gd name="connsiteY30" fmla="*/ 19671 h 485775"/>
                    <a:gd name="connsiteX31" fmla="*/ 163429 w 533400"/>
                    <a:gd name="connsiteY31" fmla="*/ 19671 h 485775"/>
                    <a:gd name="connsiteX32" fmla="*/ 144474 w 533400"/>
                    <a:gd name="connsiteY32" fmla="*/ 37292 h 485775"/>
                    <a:gd name="connsiteX33" fmla="*/ 144379 w 533400"/>
                    <a:gd name="connsiteY33" fmla="*/ 38721 h 485775"/>
                    <a:gd name="connsiteX34" fmla="*/ 144379 w 533400"/>
                    <a:gd name="connsiteY34" fmla="*/ 114921 h 485775"/>
                    <a:gd name="connsiteX35" fmla="*/ 392029 w 533400"/>
                    <a:gd name="connsiteY35" fmla="*/ 114921 h 485775"/>
                    <a:gd name="connsiteX36" fmla="*/ 392029 w 533400"/>
                    <a:gd name="connsiteY36" fmla="*/ 38721 h 485775"/>
                    <a:gd name="connsiteX37" fmla="*/ 375836 w 533400"/>
                    <a:gd name="connsiteY37" fmla="*/ 19862 h 485775"/>
                    <a:gd name="connsiteX38" fmla="*/ 374408 w 533400"/>
                    <a:gd name="connsiteY38" fmla="*/ 19671 h 485775"/>
                    <a:gd name="connsiteX39" fmla="*/ 372979 w 533400"/>
                    <a:gd name="connsiteY39" fmla="*/ 1967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33400" h="485775">
                      <a:moveTo>
                        <a:pt x="125329" y="229221"/>
                      </a:moveTo>
                      <a:lnTo>
                        <a:pt x="125329" y="276846"/>
                      </a:lnTo>
                      <a:lnTo>
                        <a:pt x="144379" y="276846"/>
                      </a:lnTo>
                      <a:lnTo>
                        <a:pt x="144379" y="229221"/>
                      </a:lnTo>
                      <a:lnTo>
                        <a:pt x="392029" y="229221"/>
                      </a:lnTo>
                      <a:lnTo>
                        <a:pt x="392029" y="276846"/>
                      </a:lnTo>
                      <a:lnTo>
                        <a:pt x="411079" y="276846"/>
                      </a:lnTo>
                      <a:lnTo>
                        <a:pt x="411079" y="229221"/>
                      </a:lnTo>
                      <a:lnTo>
                        <a:pt x="534904" y="229221"/>
                      </a:lnTo>
                      <a:lnTo>
                        <a:pt x="534904" y="457821"/>
                      </a:lnTo>
                      <a:cubicBezTo>
                        <a:pt x="534904" y="473632"/>
                        <a:pt x="522141" y="486396"/>
                        <a:pt x="506329" y="486396"/>
                      </a:cubicBezTo>
                      <a:lnTo>
                        <a:pt x="30079" y="486396"/>
                      </a:lnTo>
                      <a:cubicBezTo>
                        <a:pt x="14267" y="486396"/>
                        <a:pt x="1504" y="473632"/>
                        <a:pt x="1504" y="457821"/>
                      </a:cubicBezTo>
                      <a:lnTo>
                        <a:pt x="1504" y="229221"/>
                      </a:lnTo>
                      <a:lnTo>
                        <a:pt x="125329" y="229221"/>
                      </a:lnTo>
                      <a:close/>
                      <a:moveTo>
                        <a:pt x="372979" y="621"/>
                      </a:moveTo>
                      <a:cubicBezTo>
                        <a:pt x="393363" y="621"/>
                        <a:pt x="410031" y="16623"/>
                        <a:pt x="411079" y="36816"/>
                      </a:cubicBezTo>
                      <a:lnTo>
                        <a:pt x="411079" y="38721"/>
                      </a:lnTo>
                      <a:lnTo>
                        <a:pt x="411079" y="114921"/>
                      </a:lnTo>
                      <a:lnTo>
                        <a:pt x="506329" y="114921"/>
                      </a:lnTo>
                      <a:cubicBezTo>
                        <a:pt x="522141" y="114921"/>
                        <a:pt x="534904" y="127685"/>
                        <a:pt x="534904" y="143496"/>
                      </a:cubicBezTo>
                      <a:lnTo>
                        <a:pt x="534904" y="210171"/>
                      </a:lnTo>
                      <a:lnTo>
                        <a:pt x="1504" y="210171"/>
                      </a:lnTo>
                      <a:lnTo>
                        <a:pt x="1504" y="143496"/>
                      </a:lnTo>
                      <a:cubicBezTo>
                        <a:pt x="1504" y="127685"/>
                        <a:pt x="14267" y="114921"/>
                        <a:pt x="30079" y="114921"/>
                      </a:cubicBezTo>
                      <a:lnTo>
                        <a:pt x="125329" y="114921"/>
                      </a:lnTo>
                      <a:lnTo>
                        <a:pt x="125329" y="38721"/>
                      </a:lnTo>
                      <a:cubicBezTo>
                        <a:pt x="125329" y="18337"/>
                        <a:pt x="141331" y="1669"/>
                        <a:pt x="161524" y="621"/>
                      </a:cubicBezTo>
                      <a:lnTo>
                        <a:pt x="163429" y="621"/>
                      </a:lnTo>
                      <a:lnTo>
                        <a:pt x="372979" y="621"/>
                      </a:lnTo>
                      <a:close/>
                      <a:moveTo>
                        <a:pt x="372979" y="19671"/>
                      </a:moveTo>
                      <a:lnTo>
                        <a:pt x="163429" y="19671"/>
                      </a:lnTo>
                      <a:cubicBezTo>
                        <a:pt x="153428" y="19671"/>
                        <a:pt x="145141" y="27482"/>
                        <a:pt x="144474" y="37292"/>
                      </a:cubicBezTo>
                      <a:lnTo>
                        <a:pt x="144379" y="38721"/>
                      </a:lnTo>
                      <a:lnTo>
                        <a:pt x="144379" y="114921"/>
                      </a:lnTo>
                      <a:lnTo>
                        <a:pt x="392029" y="114921"/>
                      </a:lnTo>
                      <a:lnTo>
                        <a:pt x="392029" y="38721"/>
                      </a:lnTo>
                      <a:cubicBezTo>
                        <a:pt x="392029" y="29196"/>
                        <a:pt x="384981" y="21290"/>
                        <a:pt x="375836" y="19862"/>
                      </a:cubicBezTo>
                      <a:lnTo>
                        <a:pt x="374408" y="19671"/>
                      </a:lnTo>
                      <a:lnTo>
                        <a:pt x="372979" y="1967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nvGrpSpPr>
            <p:cNvPr id="1048781" name="组合 1048780">
              <a:extLst>
                <a:ext uri="{FF2B5EF4-FFF2-40B4-BE49-F238E27FC236}">
                  <a16:creationId xmlns:a16="http://schemas.microsoft.com/office/drawing/2014/main" id="{13AAB03B-C73C-9C41-B880-77B143C0BAE0}"/>
                </a:ext>
              </a:extLst>
            </p:cNvPr>
            <p:cNvGrpSpPr/>
            <p:nvPr/>
          </p:nvGrpSpPr>
          <p:grpSpPr>
            <a:xfrm>
              <a:off x="4217866" y="3407870"/>
              <a:ext cx="3124200" cy="2196330"/>
              <a:chOff x="4830530" y="3407870"/>
              <a:chExt cx="3124200" cy="2196330"/>
            </a:xfrm>
          </p:grpSpPr>
          <p:sp>
            <p:nvSpPr>
              <p:cNvPr id="1048789" name="圆角矩形 14">
                <a:extLst>
                  <a:ext uri="{FF2B5EF4-FFF2-40B4-BE49-F238E27FC236}">
                    <a16:creationId xmlns:a16="http://schemas.microsoft.com/office/drawing/2014/main" id="{8D314AB4-57CC-8B05-6A59-D09E1535B659}"/>
                  </a:ext>
                </a:extLst>
              </p:cNvPr>
              <p:cNvSpPr/>
              <p:nvPr/>
            </p:nvSpPr>
            <p:spPr>
              <a:xfrm>
                <a:off x="4830530" y="4187567"/>
                <a:ext cx="3124200" cy="1416633"/>
              </a:xfrm>
              <a:prstGeom prst="roundRect">
                <a:avLst>
                  <a:gd name="adj" fmla="val 7400"/>
                </a:avLst>
              </a:prstGeom>
              <a:solidFill>
                <a:srgbClr val="FFFFFF"/>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p>
            </p:txBody>
          </p:sp>
          <p:sp>
            <p:nvSpPr>
              <p:cNvPr id="1048791" name="文本框 1048790">
                <a:extLst>
                  <a:ext uri="{FF2B5EF4-FFF2-40B4-BE49-F238E27FC236}">
                    <a16:creationId xmlns:a16="http://schemas.microsoft.com/office/drawing/2014/main" id="{45BE8035-67D4-D152-9947-25A1F6BEAE4C}"/>
                  </a:ext>
                </a:extLst>
              </p:cNvPr>
              <p:cNvSpPr txBox="1"/>
              <p:nvPr/>
            </p:nvSpPr>
            <p:spPr>
              <a:xfrm>
                <a:off x="4950209" y="4681630"/>
                <a:ext cx="2921028" cy="738023"/>
              </a:xfrm>
              <a:prstGeom prst="rect">
                <a:avLst/>
              </a:prstGeom>
              <a:noFill/>
            </p:spPr>
            <p:txBody>
              <a:bodyPr wrap="square" rtlCol="0">
                <a:spAutoFit/>
              </a:bodyPr>
              <a:lstStyle/>
              <a:p>
                <a:pPr>
                  <a:lnSpc>
                    <a:spcPct val="120000"/>
                  </a:lnSpc>
                </a:pPr>
                <a:r>
                  <a:rPr lang="zh-CN" altLang="en-US" sz="1200" dirty="0">
                    <a:solidFill>
                      <a:schemeClr val="bg2">
                        <a:lumMod val="10000"/>
                      </a:schemeClr>
                    </a:solidFill>
                  </a:rPr>
                  <a:t>采用固定空燃比，缺乏动态交叉限幅控制；在快速升降温时空气与煤气无法同步响应，频繁出现缺氧或过氧失调。</a:t>
                </a:r>
              </a:p>
            </p:txBody>
          </p:sp>
          <p:grpSp>
            <p:nvGrpSpPr>
              <p:cNvPr id="1048792" name="组合 1048791">
                <a:extLst>
                  <a:ext uri="{FF2B5EF4-FFF2-40B4-BE49-F238E27FC236}">
                    <a16:creationId xmlns:a16="http://schemas.microsoft.com/office/drawing/2014/main" id="{59B7CF37-E353-1426-65FA-F8BE2F00913C}"/>
                  </a:ext>
                </a:extLst>
              </p:cNvPr>
              <p:cNvGrpSpPr/>
              <p:nvPr/>
            </p:nvGrpSpPr>
            <p:grpSpPr>
              <a:xfrm>
                <a:off x="4966855" y="3407870"/>
                <a:ext cx="500759" cy="500756"/>
                <a:chOff x="7881396" y="2794007"/>
                <a:chExt cx="444222" cy="444220"/>
              </a:xfrm>
            </p:grpSpPr>
            <p:sp>
              <p:nvSpPr>
                <p:cNvPr id="1048793" name="圆角矩形 21">
                  <a:extLst>
                    <a:ext uri="{FF2B5EF4-FFF2-40B4-BE49-F238E27FC236}">
                      <a16:creationId xmlns:a16="http://schemas.microsoft.com/office/drawing/2014/main" id="{3E3497D2-3654-7B38-800B-5AC4EE5258E0}"/>
                    </a:ext>
                  </a:extLst>
                </p:cNvPr>
                <p:cNvSpPr/>
                <p:nvPr/>
              </p:nvSpPr>
              <p:spPr>
                <a:xfrm>
                  <a:off x="7881396" y="2794007"/>
                  <a:ext cx="444222" cy="444220"/>
                </a:xfrm>
                <a:prstGeom prst="roundRect">
                  <a:avLst/>
                </a:prstGeom>
                <a:solidFill>
                  <a:schemeClr val="accent6"/>
                </a:solidFill>
                <a:ln w="12700" cap="rnd">
                  <a:noFill/>
                  <a:prstDash val="solid"/>
                  <a:round/>
                  <a:headEnd/>
                  <a:tailEnd/>
                </a:ln>
                <a:effectLst>
                  <a:outerShdw blurRad="254000" dist="127000" algn="ctr" rotWithShape="0">
                    <a:schemeClr val="accent6">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1048794" name="任意多边形 22">
                  <a:extLst>
                    <a:ext uri="{FF2B5EF4-FFF2-40B4-BE49-F238E27FC236}">
                      <a16:creationId xmlns:a16="http://schemas.microsoft.com/office/drawing/2014/main" id="{2E6DF7E7-0E37-E837-2371-672B16005FDC}"/>
                    </a:ext>
                  </a:extLst>
                </p:cNvPr>
                <p:cNvSpPr/>
                <p:nvPr/>
              </p:nvSpPr>
              <p:spPr bwMode="auto">
                <a:xfrm>
                  <a:off x="8019080" y="2913337"/>
                  <a:ext cx="168853" cy="205561"/>
                </a:xfrm>
                <a:custGeom>
                  <a:avLst/>
                  <a:gdLst>
                    <a:gd name="connsiteX0" fmla="*/ 283816 w 438150"/>
                    <a:gd name="connsiteY0" fmla="*/ 621 h 533400"/>
                    <a:gd name="connsiteX1" fmla="*/ 286102 w 438150"/>
                    <a:gd name="connsiteY1" fmla="*/ 716 h 533400"/>
                    <a:gd name="connsiteX2" fmla="*/ 286102 w 438150"/>
                    <a:gd name="connsiteY2" fmla="*/ 124446 h 533400"/>
                    <a:gd name="connsiteX3" fmla="*/ 286197 w 438150"/>
                    <a:gd name="connsiteY3" fmla="*/ 126160 h 533400"/>
                    <a:gd name="connsiteX4" fmla="*/ 314677 w 438150"/>
                    <a:gd name="connsiteY4" fmla="*/ 153021 h 533400"/>
                    <a:gd name="connsiteX5" fmla="*/ 314677 w 438150"/>
                    <a:gd name="connsiteY5" fmla="*/ 153021 h 533400"/>
                    <a:gd name="connsiteX6" fmla="*/ 438407 w 438150"/>
                    <a:gd name="connsiteY6" fmla="*/ 153021 h 533400"/>
                    <a:gd name="connsiteX7" fmla="*/ 438502 w 438150"/>
                    <a:gd name="connsiteY7" fmla="*/ 155307 h 533400"/>
                    <a:gd name="connsiteX8" fmla="*/ 438502 w 438150"/>
                    <a:gd name="connsiteY8" fmla="*/ 505446 h 533400"/>
                    <a:gd name="connsiteX9" fmla="*/ 409927 w 438150"/>
                    <a:gd name="connsiteY9" fmla="*/ 534021 h 533400"/>
                    <a:gd name="connsiteX10" fmla="*/ 28927 w 438150"/>
                    <a:gd name="connsiteY10" fmla="*/ 534021 h 533400"/>
                    <a:gd name="connsiteX11" fmla="*/ 352 w 438150"/>
                    <a:gd name="connsiteY11" fmla="*/ 505446 h 533400"/>
                    <a:gd name="connsiteX12" fmla="*/ 352 w 438150"/>
                    <a:gd name="connsiteY12" fmla="*/ 29196 h 533400"/>
                    <a:gd name="connsiteX13" fmla="*/ 28927 w 438150"/>
                    <a:gd name="connsiteY13" fmla="*/ 621 h 533400"/>
                    <a:gd name="connsiteX14" fmla="*/ 283816 w 438150"/>
                    <a:gd name="connsiteY14" fmla="*/ 621 h 533400"/>
                    <a:gd name="connsiteX15" fmla="*/ 248002 w 438150"/>
                    <a:gd name="connsiteY15" fmla="*/ 200646 h 533400"/>
                    <a:gd name="connsiteX16" fmla="*/ 152752 w 438150"/>
                    <a:gd name="connsiteY16" fmla="*/ 200646 h 533400"/>
                    <a:gd name="connsiteX17" fmla="*/ 152752 w 438150"/>
                    <a:gd name="connsiteY17" fmla="*/ 410196 h 533400"/>
                    <a:gd name="connsiteX18" fmla="*/ 171802 w 438150"/>
                    <a:gd name="connsiteY18" fmla="*/ 410196 h 533400"/>
                    <a:gd name="connsiteX19" fmla="*/ 171802 w 438150"/>
                    <a:gd name="connsiteY19" fmla="*/ 314946 h 533400"/>
                    <a:gd name="connsiteX20" fmla="*/ 248002 w 438150"/>
                    <a:gd name="connsiteY20" fmla="*/ 314946 h 533400"/>
                    <a:gd name="connsiteX21" fmla="*/ 250098 w 438150"/>
                    <a:gd name="connsiteY21" fmla="*/ 314946 h 533400"/>
                    <a:gd name="connsiteX22" fmla="*/ 305152 w 438150"/>
                    <a:gd name="connsiteY22" fmla="*/ 257796 h 533400"/>
                    <a:gd name="connsiteX23" fmla="*/ 248002 w 438150"/>
                    <a:gd name="connsiteY23" fmla="*/ 200646 h 533400"/>
                    <a:gd name="connsiteX24" fmla="*/ 248002 w 438150"/>
                    <a:gd name="connsiteY24" fmla="*/ 200646 h 533400"/>
                    <a:gd name="connsiteX25" fmla="*/ 248002 w 438150"/>
                    <a:gd name="connsiteY25" fmla="*/ 219696 h 533400"/>
                    <a:gd name="connsiteX26" fmla="*/ 286102 w 438150"/>
                    <a:gd name="connsiteY26" fmla="*/ 257796 h 533400"/>
                    <a:gd name="connsiteX27" fmla="*/ 248002 w 438150"/>
                    <a:gd name="connsiteY27" fmla="*/ 295896 h 533400"/>
                    <a:gd name="connsiteX28" fmla="*/ 248002 w 438150"/>
                    <a:gd name="connsiteY28" fmla="*/ 295896 h 533400"/>
                    <a:gd name="connsiteX29" fmla="*/ 171802 w 438150"/>
                    <a:gd name="connsiteY29" fmla="*/ 295896 h 533400"/>
                    <a:gd name="connsiteX30" fmla="*/ 171802 w 438150"/>
                    <a:gd name="connsiteY30" fmla="*/ 219696 h 533400"/>
                    <a:gd name="connsiteX31" fmla="*/ 248002 w 438150"/>
                    <a:gd name="connsiteY31" fmla="*/ 219696 h 533400"/>
                    <a:gd name="connsiteX32" fmla="*/ 428977 w 438150"/>
                    <a:gd name="connsiteY32" fmla="*/ 133971 h 533400"/>
                    <a:gd name="connsiteX33" fmla="*/ 314677 w 438150"/>
                    <a:gd name="connsiteY33" fmla="*/ 133971 h 533400"/>
                    <a:gd name="connsiteX34" fmla="*/ 313534 w 438150"/>
                    <a:gd name="connsiteY34" fmla="*/ 133876 h 533400"/>
                    <a:gd name="connsiteX35" fmla="*/ 305152 w 438150"/>
                    <a:gd name="connsiteY35" fmla="*/ 124446 h 533400"/>
                    <a:gd name="connsiteX36" fmla="*/ 305152 w 438150"/>
                    <a:gd name="connsiteY36" fmla="*/ 124446 h 533400"/>
                    <a:gd name="connsiteX37" fmla="*/ 305152 w 438150"/>
                    <a:gd name="connsiteY37" fmla="*/ 10146 h 533400"/>
                    <a:gd name="connsiteX38" fmla="*/ 428977 w 438150"/>
                    <a:gd name="connsiteY38" fmla="*/ 133971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38150" h="533400">
                      <a:moveTo>
                        <a:pt x="283816" y="621"/>
                      </a:moveTo>
                      <a:cubicBezTo>
                        <a:pt x="284578" y="621"/>
                        <a:pt x="285340" y="621"/>
                        <a:pt x="286102" y="716"/>
                      </a:cubicBezTo>
                      <a:lnTo>
                        <a:pt x="286102" y="124446"/>
                      </a:lnTo>
                      <a:lnTo>
                        <a:pt x="286197" y="126160"/>
                      </a:lnTo>
                      <a:cubicBezTo>
                        <a:pt x="287055" y="141115"/>
                        <a:pt x="299532" y="153021"/>
                        <a:pt x="314677" y="153021"/>
                      </a:cubicBezTo>
                      <a:lnTo>
                        <a:pt x="314677" y="153021"/>
                      </a:lnTo>
                      <a:lnTo>
                        <a:pt x="438407" y="153021"/>
                      </a:lnTo>
                      <a:cubicBezTo>
                        <a:pt x="438502" y="153783"/>
                        <a:pt x="438502" y="154545"/>
                        <a:pt x="438502" y="155307"/>
                      </a:cubicBezTo>
                      <a:lnTo>
                        <a:pt x="438502" y="505446"/>
                      </a:lnTo>
                      <a:cubicBezTo>
                        <a:pt x="438502" y="521257"/>
                        <a:pt x="425739" y="534021"/>
                        <a:pt x="409927" y="534021"/>
                      </a:cubicBezTo>
                      <a:lnTo>
                        <a:pt x="28927" y="534021"/>
                      </a:lnTo>
                      <a:cubicBezTo>
                        <a:pt x="13115" y="534021"/>
                        <a:pt x="352" y="521257"/>
                        <a:pt x="352" y="505446"/>
                      </a:cubicBezTo>
                      <a:lnTo>
                        <a:pt x="352" y="29196"/>
                      </a:lnTo>
                      <a:cubicBezTo>
                        <a:pt x="352" y="13385"/>
                        <a:pt x="13115" y="621"/>
                        <a:pt x="28927" y="621"/>
                      </a:cubicBezTo>
                      <a:lnTo>
                        <a:pt x="283816" y="621"/>
                      </a:lnTo>
                      <a:close/>
                      <a:moveTo>
                        <a:pt x="248002" y="200646"/>
                      </a:moveTo>
                      <a:lnTo>
                        <a:pt x="152752" y="200646"/>
                      </a:lnTo>
                      <a:lnTo>
                        <a:pt x="152752" y="410196"/>
                      </a:lnTo>
                      <a:lnTo>
                        <a:pt x="171802" y="410196"/>
                      </a:lnTo>
                      <a:lnTo>
                        <a:pt x="171802" y="314946"/>
                      </a:lnTo>
                      <a:lnTo>
                        <a:pt x="248002" y="314946"/>
                      </a:lnTo>
                      <a:lnTo>
                        <a:pt x="250098" y="314946"/>
                      </a:lnTo>
                      <a:cubicBezTo>
                        <a:pt x="280673" y="313803"/>
                        <a:pt x="305152" y="288657"/>
                        <a:pt x="305152" y="257796"/>
                      </a:cubicBezTo>
                      <a:cubicBezTo>
                        <a:pt x="305152" y="226268"/>
                        <a:pt x="279530" y="200646"/>
                        <a:pt x="248002" y="200646"/>
                      </a:cubicBezTo>
                      <a:lnTo>
                        <a:pt x="248002" y="200646"/>
                      </a:lnTo>
                      <a:close/>
                      <a:moveTo>
                        <a:pt x="248002" y="219696"/>
                      </a:moveTo>
                      <a:cubicBezTo>
                        <a:pt x="269052" y="219696"/>
                        <a:pt x="286102" y="236746"/>
                        <a:pt x="286102" y="257796"/>
                      </a:cubicBezTo>
                      <a:cubicBezTo>
                        <a:pt x="286102" y="278846"/>
                        <a:pt x="269052" y="295896"/>
                        <a:pt x="248002" y="295896"/>
                      </a:cubicBezTo>
                      <a:lnTo>
                        <a:pt x="248002" y="295896"/>
                      </a:lnTo>
                      <a:lnTo>
                        <a:pt x="171802" y="295896"/>
                      </a:lnTo>
                      <a:lnTo>
                        <a:pt x="171802" y="219696"/>
                      </a:lnTo>
                      <a:lnTo>
                        <a:pt x="248002" y="219696"/>
                      </a:lnTo>
                      <a:close/>
                      <a:moveTo>
                        <a:pt x="428977" y="133971"/>
                      </a:moveTo>
                      <a:lnTo>
                        <a:pt x="314677" y="133971"/>
                      </a:lnTo>
                      <a:lnTo>
                        <a:pt x="313534" y="133876"/>
                      </a:lnTo>
                      <a:cubicBezTo>
                        <a:pt x="308772" y="133304"/>
                        <a:pt x="305152" y="129304"/>
                        <a:pt x="305152" y="124446"/>
                      </a:cubicBezTo>
                      <a:lnTo>
                        <a:pt x="305152" y="124446"/>
                      </a:lnTo>
                      <a:lnTo>
                        <a:pt x="305152" y="10146"/>
                      </a:lnTo>
                      <a:lnTo>
                        <a:pt x="428977" y="13397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nvGrpSpPr>
            <p:cNvPr id="1048782" name="组合 1048781">
              <a:extLst>
                <a:ext uri="{FF2B5EF4-FFF2-40B4-BE49-F238E27FC236}">
                  <a16:creationId xmlns:a16="http://schemas.microsoft.com/office/drawing/2014/main" id="{989872EF-70A4-5C9B-61F2-970733BBFDEE}"/>
                </a:ext>
              </a:extLst>
            </p:cNvPr>
            <p:cNvGrpSpPr/>
            <p:nvPr/>
          </p:nvGrpSpPr>
          <p:grpSpPr>
            <a:xfrm>
              <a:off x="7540981" y="3407870"/>
              <a:ext cx="3124200" cy="2194834"/>
              <a:chOff x="8394700" y="3407870"/>
              <a:chExt cx="3124200" cy="2194834"/>
            </a:xfrm>
          </p:grpSpPr>
          <p:sp>
            <p:nvSpPr>
              <p:cNvPr id="1048783" name="圆角矩形 23">
                <a:extLst>
                  <a:ext uri="{FF2B5EF4-FFF2-40B4-BE49-F238E27FC236}">
                    <a16:creationId xmlns:a16="http://schemas.microsoft.com/office/drawing/2014/main" id="{C6EFA6C3-8550-4F9C-7227-39329649664D}"/>
                  </a:ext>
                </a:extLst>
              </p:cNvPr>
              <p:cNvSpPr/>
              <p:nvPr/>
            </p:nvSpPr>
            <p:spPr>
              <a:xfrm>
                <a:off x="8394700" y="4186071"/>
                <a:ext cx="3124200" cy="1416633"/>
              </a:xfrm>
              <a:prstGeom prst="roundRect">
                <a:avLst>
                  <a:gd name="adj" fmla="val 7400"/>
                </a:avLst>
              </a:prstGeom>
              <a:solidFill>
                <a:srgbClr val="FFFFFF"/>
              </a:solid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p>
            </p:txBody>
          </p:sp>
          <p:sp>
            <p:nvSpPr>
              <p:cNvPr id="1048785" name="文本框 1048784">
                <a:extLst>
                  <a:ext uri="{FF2B5EF4-FFF2-40B4-BE49-F238E27FC236}">
                    <a16:creationId xmlns:a16="http://schemas.microsoft.com/office/drawing/2014/main" id="{708F7E1C-93C5-B6C2-3828-01581CFD5F0D}"/>
                  </a:ext>
                </a:extLst>
              </p:cNvPr>
              <p:cNvSpPr txBox="1"/>
              <p:nvPr/>
            </p:nvSpPr>
            <p:spPr>
              <a:xfrm>
                <a:off x="8514379" y="4680134"/>
                <a:ext cx="2921028" cy="516423"/>
              </a:xfrm>
              <a:prstGeom prst="rect">
                <a:avLst/>
              </a:prstGeom>
              <a:noFill/>
            </p:spPr>
            <p:txBody>
              <a:bodyPr wrap="square" rtlCol="0">
                <a:spAutoFit/>
              </a:bodyPr>
              <a:lstStyle/>
              <a:p>
                <a:pPr>
                  <a:lnSpc>
                    <a:spcPct val="120000"/>
                  </a:lnSpc>
                </a:pPr>
                <a:r>
                  <a:rPr lang="zh-CN" altLang="en-US" sz="1200" dirty="0">
                    <a:solidFill>
                      <a:schemeClr val="bg2">
                        <a:lumMod val="10000"/>
                      </a:schemeClr>
                    </a:solidFill>
                  </a:rPr>
                  <a:t>烧嘴老化燃烧不充分，管道锈蚀且布局不合理导致煤气消耗过大</a:t>
                </a:r>
              </a:p>
            </p:txBody>
          </p:sp>
          <p:grpSp>
            <p:nvGrpSpPr>
              <p:cNvPr id="1048786" name="组合 1048785">
                <a:extLst>
                  <a:ext uri="{FF2B5EF4-FFF2-40B4-BE49-F238E27FC236}">
                    <a16:creationId xmlns:a16="http://schemas.microsoft.com/office/drawing/2014/main" id="{D65C92F2-3F9D-BDC6-09E9-C01AFF834751}"/>
                  </a:ext>
                </a:extLst>
              </p:cNvPr>
              <p:cNvGrpSpPr/>
              <p:nvPr/>
            </p:nvGrpSpPr>
            <p:grpSpPr>
              <a:xfrm>
                <a:off x="8514374" y="3407870"/>
                <a:ext cx="500759" cy="500756"/>
                <a:chOff x="3866383" y="2794007"/>
                <a:chExt cx="444222" cy="444220"/>
              </a:xfrm>
            </p:grpSpPr>
            <p:sp>
              <p:nvSpPr>
                <p:cNvPr id="1048787" name="圆角矩形 27">
                  <a:extLst>
                    <a:ext uri="{FF2B5EF4-FFF2-40B4-BE49-F238E27FC236}">
                      <a16:creationId xmlns:a16="http://schemas.microsoft.com/office/drawing/2014/main" id="{21D9A9CB-1C70-1434-D108-5F46E927E9F9}"/>
                    </a:ext>
                  </a:extLst>
                </p:cNvPr>
                <p:cNvSpPr/>
                <p:nvPr/>
              </p:nvSpPr>
              <p:spPr>
                <a:xfrm>
                  <a:off x="3866383" y="2794007"/>
                  <a:ext cx="444222" cy="444220"/>
                </a:xfrm>
                <a:prstGeom prst="roundRect">
                  <a:avLst/>
                </a:prstGeom>
                <a:solidFill>
                  <a:schemeClr val="accent1"/>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sp>
              <p:nvSpPr>
                <p:cNvPr id="1048788" name="任意多边形 28">
                  <a:extLst>
                    <a:ext uri="{FF2B5EF4-FFF2-40B4-BE49-F238E27FC236}">
                      <a16:creationId xmlns:a16="http://schemas.microsoft.com/office/drawing/2014/main" id="{7AC843D2-E539-F550-702E-9164E299E146}"/>
                    </a:ext>
                  </a:extLst>
                </p:cNvPr>
                <p:cNvSpPr/>
                <p:nvPr/>
              </p:nvSpPr>
              <p:spPr bwMode="auto">
                <a:xfrm>
                  <a:off x="3985714" y="2939032"/>
                  <a:ext cx="205561" cy="154170"/>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419 w 533400"/>
                    <a:gd name="connsiteY9" fmla="*/ 198646 h 400050"/>
                    <a:gd name="connsiteX10" fmla="*/ 351414 w 533400"/>
                    <a:gd name="connsiteY10" fmla="*/ 204170 h 400050"/>
                    <a:gd name="connsiteX11" fmla="*/ 351414 w 533400"/>
                    <a:gd name="connsiteY11" fmla="*/ 204170 h 400050"/>
                    <a:gd name="connsiteX12" fmla="*/ 267118 w 533400"/>
                    <a:gd name="connsiteY12" fmla="*/ 315613 h 400050"/>
                    <a:gd name="connsiteX13" fmla="*/ 264641 w 533400"/>
                    <a:gd name="connsiteY13" fmla="*/ 318470 h 400050"/>
                    <a:gd name="connsiteX14" fmla="*/ 224255 w 533400"/>
                    <a:gd name="connsiteY14" fmla="*/ 318756 h 400050"/>
                    <a:gd name="connsiteX15" fmla="*/ 224255 w 533400"/>
                    <a:gd name="connsiteY15" fmla="*/ 318756 h 400050"/>
                    <a:gd name="connsiteX16" fmla="*/ 162152 w 533400"/>
                    <a:gd name="connsiteY16" fmla="*/ 257415 h 400050"/>
                    <a:gd name="connsiteX17" fmla="*/ 160247 w 533400"/>
                    <a:gd name="connsiteY17" fmla="*/ 255701 h 400050"/>
                    <a:gd name="connsiteX18" fmla="*/ 120052 w 533400"/>
                    <a:gd name="connsiteY18" fmla="*/ 259606 h 400050"/>
                    <a:gd name="connsiteX19" fmla="*/ 120052 w 533400"/>
                    <a:gd name="connsiteY19" fmla="*/ 259606 h 400050"/>
                    <a:gd name="connsiteX20" fmla="*/ 32517 w 533400"/>
                    <a:gd name="connsiteY20" fmla="*/ 366095 h 400050"/>
                    <a:gd name="connsiteX21" fmla="*/ 30326 w 533400"/>
                    <a:gd name="connsiteY21" fmla="*/ 372096 h 400050"/>
                    <a:gd name="connsiteX22" fmla="*/ 39851 w 533400"/>
                    <a:gd name="connsiteY22" fmla="*/ 381621 h 400050"/>
                    <a:gd name="connsiteX23" fmla="*/ 39851 w 533400"/>
                    <a:gd name="connsiteY23" fmla="*/ 381621 h 400050"/>
                    <a:gd name="connsiteX24" fmla="*/ 497242 w 533400"/>
                    <a:gd name="connsiteY24" fmla="*/ 381621 h 400050"/>
                    <a:gd name="connsiteX25" fmla="*/ 502480 w 533400"/>
                    <a:gd name="connsiteY25" fmla="*/ 380002 h 400050"/>
                    <a:gd name="connsiteX26" fmla="*/ 505147 w 533400"/>
                    <a:gd name="connsiteY26" fmla="*/ 366762 h 400050"/>
                    <a:gd name="connsiteX27" fmla="*/ 505147 w 533400"/>
                    <a:gd name="connsiteY27" fmla="*/ 366762 h 400050"/>
                    <a:gd name="connsiteX28" fmla="*/ 397991 w 533400"/>
                    <a:gd name="connsiteY28" fmla="*/ 205504 h 400050"/>
                    <a:gd name="connsiteX29" fmla="*/ 391419 w 533400"/>
                    <a:gd name="connsiteY29" fmla="*/ 198646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a:noFill/>
                </a:ln>
              </p:spPr>
              <p:txBody>
                <a:bodyPr/>
                <a:lstStyle/>
                <a:p>
                  <a:endParaRPr lang="zh-CN" altLang="en-US" dirty="0"/>
                </a:p>
              </p:txBody>
            </p:sp>
          </p:grpSp>
        </p:grpSp>
      </p:grpSp>
      <p:sp>
        <p:nvSpPr>
          <p:cNvPr id="1048802" name="Line 14">
            <a:extLst>
              <a:ext uri="{FF2B5EF4-FFF2-40B4-BE49-F238E27FC236}">
                <a16:creationId xmlns:a16="http://schemas.microsoft.com/office/drawing/2014/main" id="{E01D8D51-526F-5771-6EC4-26E25760DFDB}"/>
              </a:ext>
            </a:extLst>
          </p:cNvPr>
          <p:cNvSpPr>
            <a:spLocks noChangeShapeType="1"/>
          </p:cNvSpPr>
          <p:nvPr/>
        </p:nvSpPr>
        <p:spPr bwMode="auto">
          <a:xfrm>
            <a:off x="1381474" y="4085672"/>
            <a:ext cx="9339768" cy="26381"/>
          </a:xfrm>
          <a:prstGeom prst="line">
            <a:avLst/>
          </a:prstGeom>
          <a:noFill/>
          <a:ln w="5715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ustDataLst>
      <p:tags r:id="rId1"/>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7770D4FC-3B95-8E15-C845-9D48C1B44CE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205643" y="3394928"/>
            <a:ext cx="4393828" cy="3295371"/>
          </a:xfrm>
          <a:prstGeom prst="rect">
            <a:avLst/>
          </a:prstGeom>
        </p:spPr>
      </p:pic>
      <p:sp>
        <p:nvSpPr>
          <p:cNvPr id="18" name="矩形 17"/>
          <p:cNvSpPr/>
          <p:nvPr>
            <p:custDataLst>
              <p:tags r:id="rId2"/>
            </p:custDataLst>
          </p:nvPr>
        </p:nvSpPr>
        <p:spPr>
          <a:xfrm flipV="1">
            <a:off x="1628775" y="639763"/>
            <a:ext cx="10160000" cy="36513"/>
          </a:xfrm>
          <a:prstGeom prst="rect">
            <a:avLst/>
          </a:prstGeom>
          <a:gradFill>
            <a:gsLst>
              <a:gs pos="0">
                <a:schemeClr val="accent1">
                  <a:lumMod val="110000"/>
                  <a:satMod val="105000"/>
                  <a:tint val="67000"/>
                </a:schemeClr>
              </a:gs>
              <a:gs pos="65000">
                <a:schemeClr val="accent1">
                  <a:lumMod val="105000"/>
                  <a:satMod val="103000"/>
                  <a:tint val="73000"/>
                </a:schemeClr>
              </a:gs>
              <a:gs pos="100000">
                <a:schemeClr val="accent1">
                  <a:lumMod val="105000"/>
                  <a:satMod val="109000"/>
                  <a:tint val="81000"/>
                </a:schemeClr>
              </a:gs>
              <a:gs pos="0">
                <a:srgbClr val="D9272D"/>
              </a:gs>
              <a:gs pos="100000">
                <a:srgbClr val="832B2B"/>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fontAlgn="auto"/>
            <a:endParaRPr lang="zh-CN" altLang="en-US" strike="noStrike" noProof="1"/>
          </a:p>
        </p:txBody>
      </p:sp>
      <p:sp>
        <p:nvSpPr>
          <p:cNvPr id="7" name="文本框 6"/>
          <p:cNvSpPr txBox="1"/>
          <p:nvPr/>
        </p:nvSpPr>
        <p:spPr>
          <a:xfrm>
            <a:off x="14367510" y="-592455"/>
            <a:ext cx="4064000" cy="368300"/>
          </a:xfrm>
          <a:prstGeom prst="rect">
            <a:avLst/>
          </a:prstGeom>
          <a:noFill/>
        </p:spPr>
        <p:txBody>
          <a:bodyPr wrap="square" rtlCol="0">
            <a:spAutoFit/>
          </a:bodyPr>
          <a:lstStyle/>
          <a:p>
            <a:endParaRPr lang="zh-CN" altLang="en-US"/>
          </a:p>
        </p:txBody>
      </p:sp>
      <p:sp>
        <p:nvSpPr>
          <p:cNvPr id="1048722" name="任意多边形 9"/>
          <p:cNvSpPr/>
          <p:nvPr>
            <p:custDataLst>
              <p:tags r:id="rId3"/>
            </p:custDataLst>
          </p:nvPr>
        </p:nvSpPr>
        <p:spPr bwMode="auto">
          <a:xfrm>
            <a:off x="417195" y="834033"/>
            <a:ext cx="1632423" cy="518679"/>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25" name="文本框 3"/>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计划</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726" name="燕尾形箭头 27"/>
          <p:cNvSpPr/>
          <p:nvPr>
            <p:custDataLst>
              <p:tags r:id="rId5"/>
            </p:custDataLst>
          </p:nvPr>
        </p:nvSpPr>
        <p:spPr bwMode="auto">
          <a:xfrm>
            <a:off x="2074545" y="833755"/>
            <a:ext cx="2449195" cy="518795"/>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735" name="文本框 28"/>
          <p:cNvSpPr txBox="1"/>
          <p:nvPr>
            <p:custDataLst>
              <p:tags r:id="rId6"/>
            </p:custDataLst>
          </p:nvPr>
        </p:nvSpPr>
        <p:spPr>
          <a:xfrm>
            <a:off x="2239645" y="904875"/>
            <a:ext cx="2230755" cy="398780"/>
          </a:xfrm>
          <a:prstGeom prst="rect">
            <a:avLst/>
          </a:prstGeom>
          <a:noFill/>
        </p:spPr>
        <p:txBody>
          <a:bodyPr wrap="square" rtlCol="0">
            <a:sp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设定目标</a:t>
            </a:r>
          </a:p>
        </p:txBody>
      </p:sp>
      <p:sp>
        <p:nvSpPr>
          <p:cNvPr id="13" name="文本框 12">
            <a:extLst>
              <a:ext uri="{FF2B5EF4-FFF2-40B4-BE49-F238E27FC236}">
                <a16:creationId xmlns:a16="http://schemas.microsoft.com/office/drawing/2014/main" id="{0C3F1611-C2DA-1A03-2F57-038D25D4256E}"/>
              </a:ext>
            </a:extLst>
          </p:cNvPr>
          <p:cNvSpPr txBox="1"/>
          <p:nvPr/>
        </p:nvSpPr>
        <p:spPr>
          <a:xfrm>
            <a:off x="525145" y="1606798"/>
            <a:ext cx="10891881" cy="1785104"/>
          </a:xfrm>
          <a:prstGeom prst="rect">
            <a:avLst/>
          </a:prstGeom>
          <a:noFill/>
        </p:spPr>
        <p:txBody>
          <a:bodyPr wrap="square" rtlCol="0">
            <a:spAutoFit/>
          </a:bodyPr>
          <a:lstStyle/>
          <a:p>
            <a:r>
              <a:rPr lang="zh-CN" altLang="en-US" sz="2200" dirty="0"/>
              <a:t>本课题紧紧围绕钢轧事业部下发的年度节能降耗核心指标开展技术攻关。通过对三棒加热炉实施全自动 </a:t>
            </a:r>
            <a:r>
              <a:rPr lang="en-US" altLang="zh-CN" sz="2200" dirty="0"/>
              <a:t>L1 </a:t>
            </a:r>
            <a:r>
              <a:rPr lang="zh-CN" altLang="en-US" sz="2200" dirty="0"/>
              <a:t>级燃烧控制系统优化及硬件改造，全面降低燃料单耗，确立以下攻关目标：</a:t>
            </a:r>
            <a:endParaRPr lang="en-US" altLang="zh-CN" sz="2200" dirty="0"/>
          </a:p>
          <a:p>
            <a:pPr marL="285750" indent="-285750">
              <a:buFont typeface="Arial" panose="020B0604020202020204" pitchFamily="34" charset="0"/>
              <a:buChar char="•"/>
            </a:pPr>
            <a:r>
              <a:rPr lang="zh-CN" altLang="en-US" sz="2200" dirty="0"/>
              <a:t>焦炉煤气单耗： 控制在 </a:t>
            </a:r>
            <a:r>
              <a:rPr lang="en-US" altLang="zh-CN" sz="2200" dirty="0"/>
              <a:t>28.98</a:t>
            </a:r>
            <a:r>
              <a:rPr lang="zh-CN" altLang="zh-CN" sz="2200" dirty="0"/>
              <a:t>m³/t</a:t>
            </a:r>
            <a:r>
              <a:rPr lang="en-US" altLang="zh-CN" sz="2200" dirty="0"/>
              <a:t> </a:t>
            </a:r>
            <a:r>
              <a:rPr lang="zh-CN" altLang="en-US" sz="2200" dirty="0"/>
              <a:t>以内。</a:t>
            </a:r>
            <a:endParaRPr lang="en-US" altLang="zh-CN" sz="2200" dirty="0"/>
          </a:p>
          <a:p>
            <a:pPr marL="285750" indent="-285750">
              <a:buFont typeface="Arial" panose="020B0604020202020204" pitchFamily="34" charset="0"/>
              <a:buChar char="•"/>
            </a:pPr>
            <a:r>
              <a:rPr lang="zh-CN" altLang="en-US" sz="2200" dirty="0"/>
              <a:t>转炉煤气单耗： 控制在 </a:t>
            </a:r>
            <a:r>
              <a:rPr lang="en-US" altLang="zh-CN" sz="2200" dirty="0"/>
              <a:t>53.61</a:t>
            </a:r>
            <a:r>
              <a:rPr lang="zh-CN" altLang="zh-CN" sz="2200" dirty="0"/>
              <a:t>m³/t</a:t>
            </a:r>
            <a:r>
              <a:rPr lang="zh-CN" altLang="en-US" sz="2200" dirty="0"/>
              <a:t>以内。</a:t>
            </a:r>
          </a:p>
        </p:txBody>
      </p:sp>
    </p:spTree>
    <p:custDataLst>
      <p:tags r:id="rId1"/>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custDataLst>
              <p:tags r:id="rId2"/>
            </p:custDataLst>
          </p:nvPr>
        </p:nvSpPr>
        <p:spPr>
          <a:xfrm flipV="1">
            <a:off x="1628775" y="639763"/>
            <a:ext cx="10160000" cy="36513"/>
          </a:xfrm>
          <a:prstGeom prst="rect">
            <a:avLst/>
          </a:prstGeom>
          <a:gradFill>
            <a:gsLst>
              <a:gs pos="0">
                <a:schemeClr val="accent1">
                  <a:lumMod val="110000"/>
                  <a:satMod val="105000"/>
                  <a:tint val="67000"/>
                </a:schemeClr>
              </a:gs>
              <a:gs pos="65000">
                <a:schemeClr val="accent1">
                  <a:lumMod val="105000"/>
                  <a:satMod val="103000"/>
                  <a:tint val="73000"/>
                </a:schemeClr>
              </a:gs>
              <a:gs pos="100000">
                <a:schemeClr val="accent1">
                  <a:lumMod val="105000"/>
                  <a:satMod val="109000"/>
                  <a:tint val="81000"/>
                </a:schemeClr>
              </a:gs>
              <a:gs pos="0">
                <a:srgbClr val="D9272D"/>
              </a:gs>
              <a:gs pos="100000">
                <a:srgbClr val="832B2B"/>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fontAlgn="auto"/>
            <a:endParaRPr lang="zh-CN" altLang="en-US" strike="noStrike" noProof="1"/>
          </a:p>
        </p:txBody>
      </p:sp>
      <p:sp>
        <p:nvSpPr>
          <p:cNvPr id="1048775" name="矩形 17"/>
          <p:cNvSpPr/>
          <p:nvPr>
            <p:custDataLst>
              <p:tags r:id="rId3"/>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pic>
        <p:nvPicPr>
          <p:cNvPr id="4" name="图片 3"/>
          <p:cNvPicPr/>
          <p:nvPr/>
        </p:nvPicPr>
        <p:blipFill>
          <a:blip r:embed="rId11" cstate="print">
            <a:extLst>
              <a:ext uri="{28A0092B-C50C-407E-A947-70E740481C1C}">
                <a14:useLocalDpi xmlns:a14="http://schemas.microsoft.com/office/drawing/2010/main" val="0"/>
              </a:ext>
            </a:extLst>
          </a:blip>
          <a:srcRect t="5569" b="5569"/>
          <a:stretch/>
        </p:blipFill>
        <p:spPr>
          <a:xfrm>
            <a:off x="8549005" y="4256405"/>
            <a:ext cx="3240000" cy="2160000"/>
          </a:xfrm>
          <a:prstGeom prst="roundRect">
            <a:avLst/>
          </a:prstGeom>
          <a:ln w="38100" cmpd="sng">
            <a:solidFill>
              <a:srgbClr val="FF0000"/>
            </a:solidFill>
            <a:prstDash val="lgDash"/>
          </a:ln>
        </p:spPr>
      </p:pic>
      <p:pic>
        <p:nvPicPr>
          <p:cNvPr id="7" name="图片 6"/>
          <p:cNvPicPr/>
          <p:nvPr>
            <p:custDataLst>
              <p:tags r:id="rId4"/>
            </p:custDataLst>
          </p:nvPr>
        </p:nvPicPr>
        <p:blipFill>
          <a:blip r:embed="rId12" cstate="print">
            <a:extLst>
              <a:ext uri="{28A0092B-C50C-407E-A947-70E740481C1C}">
                <a14:useLocalDpi xmlns:a14="http://schemas.microsoft.com/office/drawing/2010/main" val="0"/>
              </a:ext>
            </a:extLst>
          </a:blip>
          <a:srcRect t="5538" b="5538"/>
          <a:stretch/>
        </p:blipFill>
        <p:spPr>
          <a:xfrm>
            <a:off x="525145" y="4256405"/>
            <a:ext cx="3240000" cy="2160000"/>
          </a:xfrm>
          <a:prstGeom prst="roundRect">
            <a:avLst/>
          </a:prstGeom>
          <a:ln w="38100" cmpd="sng">
            <a:solidFill>
              <a:srgbClr val="FF0000"/>
            </a:solidFill>
            <a:prstDash val="lgDash"/>
          </a:ln>
        </p:spPr>
      </p:pic>
      <p:pic>
        <p:nvPicPr>
          <p:cNvPr id="9" name="图片 8"/>
          <p:cNvPicPr/>
          <p:nvPr/>
        </p:nvPicPr>
        <p:blipFill>
          <a:blip r:embed="rId13" cstate="print">
            <a:extLst>
              <a:ext uri="{28A0092B-C50C-407E-A947-70E740481C1C}">
                <a14:useLocalDpi xmlns:a14="http://schemas.microsoft.com/office/drawing/2010/main" val="0"/>
              </a:ext>
            </a:extLst>
          </a:blip>
          <a:srcRect t="5569" b="5569"/>
          <a:stretch/>
        </p:blipFill>
        <p:spPr>
          <a:xfrm>
            <a:off x="4476115" y="4256405"/>
            <a:ext cx="3240000" cy="2160000"/>
          </a:xfrm>
          <a:prstGeom prst="roundRect">
            <a:avLst/>
          </a:prstGeom>
          <a:ln w="38100" cmpd="sng">
            <a:solidFill>
              <a:srgbClr val="FF0000"/>
            </a:solidFill>
            <a:prstDash val="lgDash"/>
          </a:ln>
        </p:spPr>
      </p:pic>
      <p:pic>
        <p:nvPicPr>
          <p:cNvPr id="11" name="图片 10"/>
          <p:cNvPicPr/>
          <p:nvPr/>
        </p:nvPicPr>
        <p:blipFill>
          <a:blip r:embed="rId14" cstate="print">
            <a:extLst>
              <a:ext uri="{28A0092B-C50C-407E-A947-70E740481C1C}">
                <a14:useLocalDpi xmlns:a14="http://schemas.microsoft.com/office/drawing/2010/main" val="0"/>
              </a:ext>
            </a:extLst>
          </a:blip>
          <a:srcRect t="5538" b="5538"/>
          <a:stretch/>
        </p:blipFill>
        <p:spPr>
          <a:xfrm>
            <a:off x="8450580" y="1652905"/>
            <a:ext cx="3240000" cy="2160000"/>
          </a:xfrm>
          <a:prstGeom prst="roundRect">
            <a:avLst/>
          </a:prstGeom>
          <a:ln w="38100" cmpd="sng">
            <a:solidFill>
              <a:srgbClr val="FF0000"/>
            </a:solidFill>
            <a:prstDash val="lgDash"/>
          </a:ln>
        </p:spPr>
      </p:pic>
      <p:pic>
        <p:nvPicPr>
          <p:cNvPr id="12" name="图片 11"/>
          <p:cNvPicPr/>
          <p:nvPr/>
        </p:nvPicPr>
        <p:blipFill>
          <a:blip r:embed="rId15" cstate="print">
            <a:extLst>
              <a:ext uri="{28A0092B-C50C-407E-A947-70E740481C1C}">
                <a14:useLocalDpi xmlns:a14="http://schemas.microsoft.com/office/drawing/2010/main" val="0"/>
              </a:ext>
            </a:extLst>
          </a:blip>
          <a:srcRect t="5569" b="5569"/>
          <a:stretch/>
        </p:blipFill>
        <p:spPr>
          <a:xfrm>
            <a:off x="4487545" y="1657985"/>
            <a:ext cx="3240000" cy="2160000"/>
          </a:xfrm>
          <a:prstGeom prst="roundRect">
            <a:avLst/>
          </a:prstGeom>
          <a:ln w="38100" cmpd="sng">
            <a:solidFill>
              <a:srgbClr val="FF0000"/>
            </a:solidFill>
            <a:prstDash val="lgDash"/>
          </a:ln>
        </p:spPr>
      </p:pic>
      <p:pic>
        <p:nvPicPr>
          <p:cNvPr id="13" name="图片 12"/>
          <p:cNvPicPr/>
          <p:nvPr/>
        </p:nvPicPr>
        <p:blipFill>
          <a:blip r:embed="rId16" cstate="print">
            <a:extLst>
              <a:ext uri="{28A0092B-C50C-407E-A947-70E740481C1C}">
                <a14:useLocalDpi xmlns:a14="http://schemas.microsoft.com/office/drawing/2010/main" val="0"/>
              </a:ext>
            </a:extLst>
          </a:blip>
          <a:srcRect t="5569" b="5569"/>
          <a:stretch/>
        </p:blipFill>
        <p:spPr>
          <a:xfrm>
            <a:off x="525145" y="1696085"/>
            <a:ext cx="3240000" cy="2160000"/>
          </a:xfrm>
          <a:prstGeom prst="roundRect">
            <a:avLst/>
          </a:prstGeom>
          <a:ln w="38100" cmpd="sng">
            <a:solidFill>
              <a:srgbClr val="FF0000"/>
            </a:solidFill>
            <a:prstDash val="lgDash"/>
          </a:ln>
        </p:spPr>
      </p:pic>
      <p:sp>
        <p:nvSpPr>
          <p:cNvPr id="1048824" name="任意多边形 9"/>
          <p:cNvSpPr/>
          <p:nvPr>
            <p:custDataLst>
              <p:tags r:id="rId5"/>
            </p:custDataLst>
          </p:nvPr>
        </p:nvSpPr>
        <p:spPr bwMode="auto">
          <a:xfrm>
            <a:off x="417195" y="840740"/>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27" name="文本框 3"/>
          <p:cNvSpPr txBox="1"/>
          <p:nvPr>
            <p:custDataLst>
              <p:tags r:id="rId6"/>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实施</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828" name="燕尾形箭头 27"/>
          <p:cNvSpPr/>
          <p:nvPr>
            <p:custDataLst>
              <p:tags r:id="rId7"/>
            </p:custDataLst>
          </p:nvPr>
        </p:nvSpPr>
        <p:spPr bwMode="auto">
          <a:xfrm>
            <a:off x="2053273" y="840740"/>
            <a:ext cx="1611313" cy="511972"/>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37" name="文本框 28"/>
          <p:cNvSpPr txBox="1"/>
          <p:nvPr>
            <p:custDataLst>
              <p:tags r:id="rId8"/>
            </p:custDataLst>
          </p:nvPr>
        </p:nvSpPr>
        <p:spPr>
          <a:xfrm>
            <a:off x="2239645" y="904875"/>
            <a:ext cx="1285875" cy="41275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现场调研</a:t>
            </a:r>
          </a:p>
        </p:txBody>
      </p:sp>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8"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824" name="任意多边形 9"/>
          <p:cNvSpPr/>
          <p:nvPr>
            <p:custDataLst>
              <p:tags r:id="rId3"/>
            </p:custDataLst>
          </p:nvPr>
        </p:nvSpPr>
        <p:spPr bwMode="auto">
          <a:xfrm>
            <a:off x="417195" y="840740"/>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27" name="文本框 3"/>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计划阶段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2" name="燕尾形箭头 27"/>
          <p:cNvSpPr/>
          <p:nvPr>
            <p:custDataLst>
              <p:tags r:id="rId5"/>
            </p:custDataLst>
          </p:nvPr>
        </p:nvSpPr>
        <p:spPr bwMode="auto">
          <a:xfrm>
            <a:off x="2053273" y="840740"/>
            <a:ext cx="2041649" cy="511972"/>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37" name="文本框 28"/>
          <p:cNvSpPr txBox="1"/>
          <p:nvPr>
            <p:custDataLst>
              <p:tags r:id="rId6"/>
            </p:custDataLst>
          </p:nvPr>
        </p:nvSpPr>
        <p:spPr>
          <a:xfrm>
            <a:off x="2239645" y="904875"/>
            <a:ext cx="1755885" cy="41275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确定主要原因</a:t>
            </a:r>
          </a:p>
        </p:txBody>
      </p:sp>
      <p:sp>
        <p:nvSpPr>
          <p:cNvPr id="6" name="TextBox 2">
            <a:extLst>
              <a:ext uri="{FF2B5EF4-FFF2-40B4-BE49-F238E27FC236}">
                <a16:creationId xmlns:a16="http://schemas.microsoft.com/office/drawing/2014/main" id="{A1931D5A-1A83-971F-FBB6-F4DEBA04865F}"/>
              </a:ext>
            </a:extLst>
          </p:cNvPr>
          <p:cNvSpPr txBox="1">
            <a:spLocks noChangeArrowheads="1"/>
          </p:cNvSpPr>
          <p:nvPr/>
        </p:nvSpPr>
        <p:spPr bwMode="auto">
          <a:xfrm>
            <a:off x="693506" y="1517372"/>
            <a:ext cx="11095903"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latin typeface="黑体" panose="02010609060101010101" pitchFamily="49" charset="-122"/>
                <a:ea typeface="黑体" panose="02010609060101010101" pitchFamily="49" charset="-122"/>
              </a:rPr>
              <a:t>1</a:t>
            </a:r>
            <a:r>
              <a:rPr lang="zh-CN" altLang="en-US" sz="2400" b="1" dirty="0">
                <a:latin typeface="黑体" panose="02010609060101010101" pitchFamily="49" charset="-122"/>
                <a:ea typeface="黑体" panose="02010609060101010101" pitchFamily="49" charset="-122"/>
              </a:rPr>
              <a:t>、轧线节奏变化时，操作员手动给定空气、煤气流量的动作，相比炉膛实际热需求存在平均大于</a:t>
            </a:r>
            <a:r>
              <a:rPr lang="en-US" altLang="zh-CN" sz="2400" b="1" dirty="0">
                <a:latin typeface="黑体" panose="02010609060101010101" pitchFamily="49" charset="-122"/>
                <a:ea typeface="黑体" panose="02010609060101010101" pitchFamily="49" charset="-122"/>
              </a:rPr>
              <a:t>120</a:t>
            </a:r>
            <a:r>
              <a:rPr lang="zh-CN" altLang="en-US" sz="2400" b="1" dirty="0">
                <a:latin typeface="黑体" panose="02010609060101010101" pitchFamily="49" charset="-122"/>
                <a:ea typeface="黑体" panose="02010609060101010101" pitchFamily="49" charset="-122"/>
              </a:rPr>
              <a:t>秒的滞后，引发了频繁的过烧或欠烧现象，是造成能源浪费的直接人为因素。</a:t>
            </a:r>
            <a:endParaRPr lang="en-US" altLang="zh-CN" sz="2400" b="1" dirty="0">
              <a:latin typeface="黑体" panose="02010609060101010101" pitchFamily="49" charset="-122"/>
              <a:ea typeface="黑体" panose="02010609060101010101" pitchFamily="49" charset="-122"/>
            </a:endParaRPr>
          </a:p>
          <a:p>
            <a:pPr eaLnBrk="1" hangingPunct="1"/>
            <a:r>
              <a:rPr lang="en-US" altLang="zh-CN" sz="2400" b="1" dirty="0">
                <a:latin typeface="黑体" panose="02010609060101010101" pitchFamily="49" charset="-122"/>
                <a:ea typeface="黑体" panose="02010609060101010101" pitchFamily="49" charset="-122"/>
              </a:rPr>
              <a:t>2</a:t>
            </a:r>
            <a:r>
              <a:rPr lang="zh-CN" altLang="en-US" sz="2400" b="1" dirty="0">
                <a:latin typeface="黑体" panose="02010609060101010101" pitchFamily="49" charset="-122"/>
                <a:ea typeface="黑体" panose="02010609060101010101" pitchFamily="49" charset="-122"/>
              </a:rPr>
              <a:t>、缺乏</a:t>
            </a:r>
            <a:r>
              <a:rPr lang="en-US" altLang="zh-CN" sz="2400" b="1" dirty="0">
                <a:latin typeface="黑体" panose="02010609060101010101" pitchFamily="49" charset="-122"/>
                <a:ea typeface="黑体" panose="02010609060101010101" pitchFamily="49" charset="-122"/>
              </a:rPr>
              <a:t>PID</a:t>
            </a:r>
            <a:r>
              <a:rPr lang="zh-CN" altLang="en-US" sz="2400" b="1" dirty="0">
                <a:latin typeface="黑体" panose="02010609060101010101" pitchFamily="49" charset="-122"/>
                <a:ea typeface="黑体" panose="02010609060101010101" pitchFamily="49" charset="-122"/>
              </a:rPr>
              <a:t>（空煤配比）算法，升降温动态失调影响较多。</a:t>
            </a:r>
            <a:endParaRPr lang="en-US" altLang="zh-CN" sz="2400" b="1" dirty="0">
              <a:latin typeface="黑体" panose="02010609060101010101" pitchFamily="49" charset="-122"/>
              <a:ea typeface="黑体" panose="02010609060101010101" pitchFamily="49" charset="-122"/>
            </a:endParaRPr>
          </a:p>
          <a:p>
            <a:pPr eaLnBrk="1" hangingPunct="1"/>
            <a:r>
              <a:rPr lang="en-US" altLang="zh-CN" sz="2400" b="1" dirty="0">
                <a:latin typeface="黑体" panose="02010609060101010101" pitchFamily="49" charset="-122"/>
                <a:ea typeface="黑体" panose="02010609060101010101" pitchFamily="49" charset="-122"/>
              </a:rPr>
              <a:t>3</a:t>
            </a:r>
            <a:r>
              <a:rPr lang="zh-CN" altLang="en-US" sz="2400" b="1" dirty="0">
                <a:latin typeface="黑体" panose="02010609060101010101" pitchFamily="49" charset="-122"/>
                <a:ea typeface="黑体" panose="02010609060101010101" pitchFamily="49" charset="-122"/>
              </a:rPr>
              <a:t>、查明全炉仅在烟道尾部设置了一处残氧仪，且其仿真量信号接入 </a:t>
            </a:r>
            <a:r>
              <a:rPr lang="en-US" altLang="zh-CN" sz="2400" b="1" dirty="0">
                <a:latin typeface="黑体" panose="02010609060101010101" pitchFamily="49" charset="-122"/>
                <a:ea typeface="黑体" panose="02010609060101010101" pitchFamily="49" charset="-122"/>
              </a:rPr>
              <a:t>PLC </a:t>
            </a:r>
            <a:r>
              <a:rPr lang="zh-CN" altLang="en-US" sz="2400" b="1" dirty="0">
                <a:latin typeface="黑体" panose="02010609060101010101" pitchFamily="49" charset="-122"/>
                <a:ea typeface="黑体" panose="02010609060101010101" pitchFamily="49" charset="-122"/>
              </a:rPr>
              <a:t>后仅作 </a:t>
            </a:r>
            <a:r>
              <a:rPr lang="en-US" altLang="zh-CN" sz="2400" b="1" dirty="0">
                <a:latin typeface="黑体" panose="02010609060101010101" pitchFamily="49" charset="-122"/>
                <a:ea typeface="黑体" panose="02010609060101010101" pitchFamily="49" charset="-122"/>
              </a:rPr>
              <a:t>HMI </a:t>
            </a:r>
            <a:r>
              <a:rPr lang="zh-CN" altLang="en-US" sz="2400" b="1" dirty="0">
                <a:latin typeface="黑体" panose="02010609060101010101" pitchFamily="49" charset="-122"/>
                <a:ea typeface="黑体" panose="02010609060101010101" pitchFamily="49" charset="-122"/>
              </a:rPr>
              <a:t>画面显示，完全未引入任何死循环控制模型。这意味着系统对因煤气热值波动引起的空燃比偏差处于「盲目」状态，无法实现自动修正。 </a:t>
            </a:r>
            <a:endParaRPr lang="en-US" altLang="zh-CN" sz="2400" b="1" dirty="0">
              <a:latin typeface="黑体" panose="02010609060101010101" pitchFamily="49" charset="-122"/>
              <a:ea typeface="黑体" panose="02010609060101010101" pitchFamily="49" charset="-122"/>
            </a:endParaRPr>
          </a:p>
          <a:p>
            <a:pPr eaLnBrk="1" hangingPunct="1"/>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大修前烧嘴、煤气管道及阀门执行器存在机械缺陷与磨损，导致流量控制不精准。大修前现场阀门执行机构磨损严重、死区过大，实际开度与 </a:t>
            </a:r>
            <a:r>
              <a:rPr lang="en-US" altLang="zh-CN" sz="2400" b="1" dirty="0">
                <a:latin typeface="黑体" panose="02010609060101010101" pitchFamily="49" charset="-122"/>
                <a:ea typeface="黑体" panose="02010609060101010101" pitchFamily="49" charset="-122"/>
              </a:rPr>
              <a:t>PLC </a:t>
            </a:r>
            <a:r>
              <a:rPr lang="zh-CN" altLang="en-US" sz="2400" b="1" dirty="0">
                <a:latin typeface="黑体" panose="02010609060101010101" pitchFamily="49" charset="-122"/>
                <a:ea typeface="黑体" panose="02010609060101010101" pitchFamily="49" charset="-122"/>
              </a:rPr>
              <a:t>动作指令不匹配；且旧管道与老烧嘴雾化燃烧效率低。这种底层硬件的物理缺陷，导致即使系统给出正确指令，现场硬件也无法精准执行，直接影响了空燃比的控制精度与加热效率。</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8"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824" name="任意多边形 9"/>
          <p:cNvSpPr/>
          <p:nvPr>
            <p:custDataLst>
              <p:tags r:id="rId3"/>
            </p:custDataLst>
          </p:nvPr>
        </p:nvSpPr>
        <p:spPr bwMode="auto">
          <a:xfrm>
            <a:off x="417195" y="840740"/>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27" name="文本框 3"/>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计划</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3" name="燕尾形箭头 27"/>
          <p:cNvSpPr/>
          <p:nvPr>
            <p:custDataLst>
              <p:tags r:id="rId5"/>
            </p:custDataLst>
          </p:nvPr>
        </p:nvSpPr>
        <p:spPr bwMode="auto">
          <a:xfrm>
            <a:off x="2053273" y="840740"/>
            <a:ext cx="1611313" cy="511972"/>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837" name="文本框 28"/>
          <p:cNvSpPr txBox="1"/>
          <p:nvPr>
            <p:custDataLst>
              <p:tags r:id="rId6"/>
            </p:custDataLst>
          </p:nvPr>
        </p:nvSpPr>
        <p:spPr>
          <a:xfrm>
            <a:off x="2239645" y="904875"/>
            <a:ext cx="1285875" cy="41275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制定对策</a:t>
            </a:r>
          </a:p>
        </p:txBody>
      </p:sp>
      <p:graphicFrame>
        <p:nvGraphicFramePr>
          <p:cNvPr id="6" name="表格 5">
            <a:extLst>
              <a:ext uri="{FF2B5EF4-FFF2-40B4-BE49-F238E27FC236}">
                <a16:creationId xmlns:a16="http://schemas.microsoft.com/office/drawing/2014/main" id="{2D28D08E-1D52-E863-0E06-848EBC9317E1}"/>
              </a:ext>
            </a:extLst>
          </p:cNvPr>
          <p:cNvGraphicFramePr>
            <a:graphicFrameLocks noGrp="1"/>
          </p:cNvGraphicFramePr>
          <p:nvPr>
            <p:extLst>
              <p:ext uri="{D42A27DB-BD31-4B8C-83A1-F6EECF244321}">
                <p14:modId xmlns:p14="http://schemas.microsoft.com/office/powerpoint/2010/main" val="4048840754"/>
              </p:ext>
            </p:extLst>
          </p:nvPr>
        </p:nvGraphicFramePr>
        <p:xfrm>
          <a:off x="592358" y="1706244"/>
          <a:ext cx="11007283" cy="4816432"/>
        </p:xfrm>
        <a:graphic>
          <a:graphicData uri="http://schemas.openxmlformats.org/drawingml/2006/table">
            <a:tbl>
              <a:tblPr firstRow="1" bandRow="1">
                <a:effectLst/>
                <a:tableStyleId>{5C22544A-7EE6-4342-B048-85BDC9FD1C3A}</a:tableStyleId>
              </a:tblPr>
              <a:tblGrid>
                <a:gridCol w="934580">
                  <a:extLst>
                    <a:ext uri="{9D8B030D-6E8A-4147-A177-3AD203B41FA5}">
                      <a16:colId xmlns:a16="http://schemas.microsoft.com/office/drawing/2014/main" val="20000"/>
                    </a:ext>
                  </a:extLst>
                </a:gridCol>
                <a:gridCol w="3738322">
                  <a:extLst>
                    <a:ext uri="{9D8B030D-6E8A-4147-A177-3AD203B41FA5}">
                      <a16:colId xmlns:a16="http://schemas.microsoft.com/office/drawing/2014/main" val="20001"/>
                    </a:ext>
                  </a:extLst>
                </a:gridCol>
                <a:gridCol w="6334381">
                  <a:extLst>
                    <a:ext uri="{9D8B030D-6E8A-4147-A177-3AD203B41FA5}">
                      <a16:colId xmlns:a16="http://schemas.microsoft.com/office/drawing/2014/main" val="20002"/>
                    </a:ext>
                  </a:extLst>
                </a:gridCol>
              </a:tblGrid>
              <a:tr h="701139">
                <a:tc>
                  <a:txBody>
                    <a:bodyPr/>
                    <a:lstStyle/>
                    <a:p>
                      <a:r>
                        <a:rPr lang="zh-CN" altLang="en-US" sz="2000" b="1" dirty="0">
                          <a:solidFill>
                            <a:srgbClr val="0000CC"/>
                          </a:solidFill>
                          <a:latin typeface="黑体" pitchFamily="49" charset="-122"/>
                          <a:ea typeface="黑体" pitchFamily="49" charset="-122"/>
                        </a:rPr>
                        <a:t>序号</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CC"/>
                          </a:solidFill>
                          <a:latin typeface="黑体" pitchFamily="49" charset="-122"/>
                          <a:ea typeface="黑体" pitchFamily="49" charset="-122"/>
                        </a:rPr>
                        <a:t>要因 </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制定对策</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005982">
                <a:tc>
                  <a:txBody>
                    <a:bodyPr/>
                    <a:lstStyle/>
                    <a:p>
                      <a:r>
                        <a:rPr lang="en-US" altLang="zh-CN" sz="2000" b="1" dirty="0">
                          <a:solidFill>
                            <a:srgbClr val="0000CC"/>
                          </a:solidFill>
                          <a:latin typeface="黑体" pitchFamily="49" charset="-122"/>
                          <a:ea typeface="黑体" pitchFamily="49" charset="-122"/>
                        </a:rPr>
                        <a:t>1</a:t>
                      </a:r>
                      <a:endParaRPr lang="zh-CN" altLang="en-US" sz="2000" b="1" dirty="0">
                        <a:solidFill>
                          <a:srgbClr val="0000CC"/>
                        </a:solidFill>
                        <a:latin typeface="黑体" pitchFamily="49" charset="-122"/>
                        <a:ea typeface="黑体" pitchFamily="49" charset="-122"/>
                      </a:endParaRP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cs typeface="宋体" pitchFamily="2" charset="-122"/>
                          <a:sym typeface="Arial" pitchFamily="34" charset="0"/>
                        </a:rPr>
                        <a:t>手动操作滞后无法适应时变工况</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上线</a:t>
                      </a:r>
                      <a:r>
                        <a:rPr lang="en-US" altLang="zh-CN" sz="2000" b="1" dirty="0">
                          <a:solidFill>
                            <a:srgbClr val="0000CC"/>
                          </a:solidFill>
                          <a:latin typeface="黑体" pitchFamily="49" charset="-122"/>
                          <a:ea typeface="黑体" pitchFamily="49" charset="-122"/>
                        </a:rPr>
                        <a:t>L2</a:t>
                      </a:r>
                      <a:r>
                        <a:rPr lang="zh-CN" altLang="en-US" sz="2000" b="1" dirty="0">
                          <a:solidFill>
                            <a:srgbClr val="0000CC"/>
                          </a:solidFill>
                          <a:latin typeface="黑体" pitchFamily="49" charset="-122"/>
                          <a:ea typeface="黑体" pitchFamily="49" charset="-122"/>
                        </a:rPr>
                        <a:t>系统，引入基于</a:t>
                      </a:r>
                      <a:r>
                        <a:rPr lang="en-US" altLang="zh-CN" sz="2000" b="1" dirty="0">
                          <a:solidFill>
                            <a:srgbClr val="0000CC"/>
                          </a:solidFill>
                          <a:latin typeface="黑体" pitchFamily="49" charset="-122"/>
                          <a:ea typeface="黑体" pitchFamily="49" charset="-122"/>
                        </a:rPr>
                        <a:t>RBR</a:t>
                      </a:r>
                      <a:r>
                        <a:rPr lang="zh-CN" altLang="en-US" sz="2000" b="1" dirty="0">
                          <a:solidFill>
                            <a:srgbClr val="0000CC"/>
                          </a:solidFill>
                          <a:latin typeface="黑体" pitchFamily="49" charset="-122"/>
                          <a:ea typeface="黑体" pitchFamily="49" charset="-122"/>
                        </a:rPr>
                        <a:t>的自动化控制模型</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310824">
                <a:tc>
                  <a:txBody>
                    <a:bodyPr/>
                    <a:lstStyle/>
                    <a:p>
                      <a:r>
                        <a:rPr lang="en-US" altLang="zh-CN" sz="2000" b="1" dirty="0">
                          <a:solidFill>
                            <a:srgbClr val="0000CC"/>
                          </a:solidFill>
                          <a:latin typeface="黑体" pitchFamily="49" charset="-122"/>
                          <a:ea typeface="黑体" pitchFamily="49" charset="-122"/>
                        </a:rPr>
                        <a:t>2</a:t>
                      </a:r>
                      <a:endParaRPr lang="zh-CN" altLang="en-US" sz="2000" b="1" dirty="0">
                        <a:solidFill>
                          <a:srgbClr val="0000CC"/>
                        </a:solidFill>
                        <a:latin typeface="黑体" pitchFamily="49" charset="-122"/>
                        <a:ea typeface="黑体" pitchFamily="49" charset="-122"/>
                      </a:endParaRP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缺乏双交叉限幅导致动态配风失调</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完善</a:t>
                      </a:r>
                      <a:r>
                        <a:rPr lang="en-US" altLang="zh-CN" sz="2000" b="1" dirty="0">
                          <a:solidFill>
                            <a:srgbClr val="0000CC"/>
                          </a:solidFill>
                          <a:latin typeface="黑体" pitchFamily="49" charset="-122"/>
                          <a:ea typeface="黑体" pitchFamily="49" charset="-122"/>
                        </a:rPr>
                        <a:t>L1</a:t>
                      </a:r>
                      <a:r>
                        <a:rPr lang="zh-CN" altLang="en-US" sz="2000" b="1" dirty="0">
                          <a:solidFill>
                            <a:srgbClr val="0000CC"/>
                          </a:solidFill>
                          <a:latin typeface="黑体" pitchFamily="49" charset="-122"/>
                          <a:ea typeface="黑体" pitchFamily="49" charset="-122"/>
                        </a:rPr>
                        <a:t>系统，部署双交叉限幅 </a:t>
                      </a:r>
                      <a:r>
                        <a:rPr lang="en-US" altLang="zh-CN" sz="2000" b="1" dirty="0">
                          <a:solidFill>
                            <a:srgbClr val="0000CC"/>
                          </a:solidFill>
                          <a:latin typeface="黑体" pitchFamily="49" charset="-122"/>
                          <a:ea typeface="黑体" pitchFamily="49" charset="-122"/>
                        </a:rPr>
                        <a:t>PID </a:t>
                      </a:r>
                      <a:r>
                        <a:rPr lang="zh-CN" altLang="en-US" sz="2000" b="1" dirty="0">
                          <a:solidFill>
                            <a:srgbClr val="0000CC"/>
                          </a:solidFill>
                          <a:latin typeface="黑体" pitchFamily="49" charset="-122"/>
                          <a:ea typeface="黑体" pitchFamily="49" charset="-122"/>
                        </a:rPr>
                        <a:t>控制算法</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01139">
                <a:tc>
                  <a:txBody>
                    <a:bodyPr/>
                    <a:lstStyle/>
                    <a:p>
                      <a:r>
                        <a:rPr lang="en-US" altLang="zh-CN" sz="2000" b="1" dirty="0">
                          <a:solidFill>
                            <a:srgbClr val="0000CC"/>
                          </a:solidFill>
                          <a:latin typeface="黑体" pitchFamily="49" charset="-122"/>
                          <a:ea typeface="黑体" pitchFamily="49" charset="-122"/>
                        </a:rPr>
                        <a:t>3</a:t>
                      </a:r>
                      <a:endParaRPr lang="zh-CN" altLang="en-US" sz="2000" b="1" dirty="0">
                        <a:solidFill>
                          <a:srgbClr val="0000CC"/>
                        </a:solidFill>
                        <a:latin typeface="黑体" pitchFamily="49" charset="-122"/>
                        <a:ea typeface="黑体" pitchFamily="49" charset="-122"/>
                      </a:endParaRP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各段残氧量死循环反馈缺失</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升级传感器架构并建立残氧死循环修正模型</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6296">
                <a:tc>
                  <a:txBody>
                    <a:bodyPr/>
                    <a:lstStyle/>
                    <a:p>
                      <a:r>
                        <a:rPr lang="en-US" altLang="zh-CN" sz="2000" b="1" dirty="0">
                          <a:solidFill>
                            <a:srgbClr val="0000CC"/>
                          </a:solidFill>
                          <a:latin typeface="黑体" pitchFamily="49" charset="-122"/>
                          <a:ea typeface="黑体" pitchFamily="49" charset="-122"/>
                        </a:rPr>
                        <a:t>4</a:t>
                      </a:r>
                      <a:endParaRPr lang="zh-CN" altLang="en-US" sz="2000" b="1" dirty="0">
                        <a:solidFill>
                          <a:srgbClr val="0000CC"/>
                        </a:solidFill>
                        <a:latin typeface="黑体" pitchFamily="49" charset="-122"/>
                        <a:ea typeface="黑体" pitchFamily="49" charset="-122"/>
                      </a:endParaRP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设备老旧，先期设计不符合当前工艺环保要求</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b="1" dirty="0">
                          <a:solidFill>
                            <a:srgbClr val="0000CC"/>
                          </a:solidFill>
                          <a:latin typeface="黑体" pitchFamily="49" charset="-122"/>
                          <a:ea typeface="黑体" pitchFamily="49" charset="-122"/>
                        </a:rPr>
                        <a:t>烧嘴改造，煤气管道改造，阀门执行器改造</a:t>
                      </a: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6296">
                <a:tc>
                  <a:txBody>
                    <a:bodyPr/>
                    <a:lstStyle/>
                    <a:p>
                      <a:r>
                        <a:rPr lang="en-US" altLang="zh-CN" sz="2000" b="1" dirty="0">
                          <a:solidFill>
                            <a:srgbClr val="0000CC"/>
                          </a:solidFill>
                          <a:latin typeface="黑体" pitchFamily="49" charset="-122"/>
                          <a:ea typeface="黑体" pitchFamily="49" charset="-122"/>
                        </a:rPr>
                        <a:t>5</a:t>
                      </a:r>
                      <a:endParaRPr lang="zh-CN" altLang="en-US" sz="2000" b="1" dirty="0">
                        <a:solidFill>
                          <a:srgbClr val="0000CC"/>
                        </a:solidFill>
                        <a:latin typeface="黑体" pitchFamily="49" charset="-122"/>
                        <a:ea typeface="黑体" pitchFamily="49" charset="-122"/>
                      </a:endParaRP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2000" b="1" dirty="0">
                        <a:solidFill>
                          <a:srgbClr val="0000CC"/>
                        </a:solidFill>
                        <a:latin typeface="黑体" pitchFamily="49" charset="-122"/>
                        <a:ea typeface="黑体" pitchFamily="49" charset="-122"/>
                      </a:endParaRP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2000" b="1" dirty="0">
                        <a:solidFill>
                          <a:srgbClr val="0000CC"/>
                        </a:solidFill>
                        <a:latin typeface="黑体" pitchFamily="49" charset="-122"/>
                        <a:ea typeface="黑体" pitchFamily="49" charset="-122"/>
                      </a:endParaRPr>
                    </a:p>
                  </a:txBody>
                  <a:tcPr marL="91438" marR="91438"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8"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957" name="任意多边形 9"/>
          <p:cNvSpPr/>
          <p:nvPr>
            <p:custDataLst>
              <p:tags r:id="rId3"/>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60" name="文本框 3"/>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实施阶段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961" name="燕尾形箭头 27"/>
          <p:cNvSpPr/>
          <p:nvPr>
            <p:custDataLst>
              <p:tags r:id="rId5"/>
            </p:custDataLst>
          </p:nvPr>
        </p:nvSpPr>
        <p:spPr bwMode="auto">
          <a:xfrm>
            <a:off x="2096135" y="857885"/>
            <a:ext cx="2058422" cy="511810"/>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70" name="文本框 28"/>
          <p:cNvSpPr txBox="1"/>
          <p:nvPr>
            <p:custDataLst>
              <p:tags r:id="rId6"/>
            </p:custDataLst>
          </p:nvPr>
        </p:nvSpPr>
        <p:spPr>
          <a:xfrm>
            <a:off x="2212216" y="902140"/>
            <a:ext cx="1826260" cy="44577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燃烧器更换</a:t>
            </a:r>
          </a:p>
        </p:txBody>
      </p:sp>
      <p:sp>
        <p:nvSpPr>
          <p:cNvPr id="4" name="文本框 3">
            <a:extLst>
              <a:ext uri="{FF2B5EF4-FFF2-40B4-BE49-F238E27FC236}">
                <a16:creationId xmlns:a16="http://schemas.microsoft.com/office/drawing/2014/main" id="{0776DE66-EA22-1D2D-9044-A917B7F9D821}"/>
              </a:ext>
            </a:extLst>
          </p:cNvPr>
          <p:cNvSpPr txBox="1"/>
          <p:nvPr/>
        </p:nvSpPr>
        <p:spPr>
          <a:xfrm>
            <a:off x="318052" y="1392165"/>
            <a:ext cx="6472030" cy="4991751"/>
          </a:xfrm>
          <a:prstGeom prst="rect">
            <a:avLst/>
          </a:prstGeom>
          <a:noFill/>
        </p:spPr>
        <p:txBody>
          <a:bodyPr wrap="square">
            <a:spAutoFit/>
          </a:bodyPr>
          <a:lstStyle/>
          <a:p>
            <a:pPr indent="355600" algn="just">
              <a:lnSpc>
                <a:spcPct val="150000"/>
              </a:lnSpc>
              <a:buNone/>
            </a:pPr>
            <a:r>
              <a:rPr lang="zh-CN" altLang="zh-CN" sz="2400" b="1" dirty="0">
                <a:latin typeface="黑体" panose="02010609060101010101" pitchFamily="49" charset="-122"/>
                <a:ea typeface="黑体" panose="02010609060101010101" pitchFamily="49" charset="-122"/>
              </a:rPr>
              <a:t>将现有燃烧器更换为超低氮燃烧器。通过高速射流、空气分级、烟气循环等技术措施，形成稳定、连续和均匀的火焰，实现低</a:t>
            </a:r>
            <a:r>
              <a:rPr lang="en-US" altLang="zh-CN" sz="2400" b="1" dirty="0">
                <a:latin typeface="黑体" panose="02010609060101010101" pitchFamily="49" charset="-122"/>
                <a:ea typeface="黑体" panose="02010609060101010101" pitchFamily="49" charset="-122"/>
              </a:rPr>
              <a:t>NOx</a:t>
            </a:r>
            <a:r>
              <a:rPr lang="zh-CN" altLang="zh-CN" sz="2400" b="1" dirty="0">
                <a:latin typeface="黑体" panose="02010609060101010101" pitchFamily="49" charset="-122"/>
                <a:ea typeface="黑体" panose="02010609060101010101" pitchFamily="49" charset="-122"/>
              </a:rPr>
              <a:t>燃烧。</a:t>
            </a:r>
          </a:p>
          <a:p>
            <a:pPr indent="355600" algn="just">
              <a:lnSpc>
                <a:spcPct val="150000"/>
              </a:lnSpc>
              <a:buNone/>
            </a:pPr>
            <a:r>
              <a:rPr lang="zh-CN" altLang="zh-CN" sz="2400" b="1" dirty="0">
                <a:latin typeface="黑体" panose="02010609060101010101" pitchFamily="49" charset="-122"/>
                <a:ea typeface="黑体" panose="02010609060101010101" pitchFamily="49" charset="-122"/>
              </a:rPr>
              <a:t>同时燃烧器设置有中心风，以增大燃烧器的调节比。在供热负荷小，燃烧器的空煤气流量较低时，使用中心风，以保证煤气流股具有足够的喷出速度和动能，确保火焰形态和加热质量，避免出现小负荷时候，火焰偏软，火焰上飘等问题。</a:t>
            </a:r>
          </a:p>
        </p:txBody>
      </p:sp>
      <p:graphicFrame>
        <p:nvGraphicFramePr>
          <p:cNvPr id="5" name="表格 4">
            <a:extLst>
              <a:ext uri="{FF2B5EF4-FFF2-40B4-BE49-F238E27FC236}">
                <a16:creationId xmlns:a16="http://schemas.microsoft.com/office/drawing/2014/main" id="{50506B3C-68F3-DAB2-D591-E98C093997B6}"/>
              </a:ext>
            </a:extLst>
          </p:cNvPr>
          <p:cNvGraphicFramePr>
            <a:graphicFrameLocks noGrp="1"/>
          </p:cNvGraphicFramePr>
          <p:nvPr>
            <p:extLst>
              <p:ext uri="{D42A27DB-BD31-4B8C-83A1-F6EECF244321}">
                <p14:modId xmlns:p14="http://schemas.microsoft.com/office/powerpoint/2010/main" val="533798411"/>
              </p:ext>
            </p:extLst>
          </p:nvPr>
        </p:nvGraphicFramePr>
        <p:xfrm>
          <a:off x="6976564" y="857885"/>
          <a:ext cx="4523010" cy="2915920"/>
        </p:xfrm>
        <a:graphic>
          <a:graphicData uri="http://schemas.openxmlformats.org/drawingml/2006/table">
            <a:tbl>
              <a:tblPr/>
              <a:tblGrid>
                <a:gridCol w="4523010">
                  <a:extLst>
                    <a:ext uri="{9D8B030D-6E8A-4147-A177-3AD203B41FA5}">
                      <a16:colId xmlns:a16="http://schemas.microsoft.com/office/drawing/2014/main" val="3142289320"/>
                    </a:ext>
                  </a:extLst>
                </a:gridCol>
              </a:tblGrid>
              <a:tr h="335280">
                <a:tc>
                  <a:txBody>
                    <a:bodyPr/>
                    <a:lstStyle/>
                    <a:p>
                      <a:pPr marL="0" lvl="0" indent="0" algn="ctr" defTabSz="914400" rtl="0" eaLnBrk="1" fontAlgn="base" latinLnBrk="1" hangingPunct="1">
                        <a:lnSpc>
                          <a:spcPct val="110000"/>
                        </a:lnSpc>
                        <a:spcBef>
                          <a:spcPct val="70000"/>
                        </a:spcBef>
                        <a:spcAft>
                          <a:spcPct val="0"/>
                        </a:spcAft>
                        <a:buClr>
                          <a:srgbClr val="00366C"/>
                        </a:buClr>
                        <a:buFont typeface="Wingdings" panose="05000000000000000000" pitchFamily="2" charset="2"/>
                        <a:buNone/>
                      </a:pPr>
                      <a:r>
                        <a:rPr lang="ko-KR" altLang="en-US" sz="1600" b="1" i="0" u="none" kern="1200" baseline="0" dirty="0">
                          <a:solidFill>
                            <a:schemeClr val="tx1"/>
                          </a:solidFill>
                          <a:latin typeface="黑体" panose="02010609060101010101" pitchFamily="2" charset="-122"/>
                          <a:ea typeface="黑体" panose="02010609060101010101" pitchFamily="2" charset="-122"/>
                          <a:cs typeface="黑体" panose="02010609060101010101" pitchFamily="2" charset="-122"/>
                        </a:rPr>
                        <a:t>改善前</a:t>
                      </a:r>
                    </a:p>
                  </a:txBody>
                  <a:tcPr marT="45715" marB="45715">
                    <a:lnL w="28575" cap="flat" cmpd="sng">
                      <a:solidFill>
                        <a:schemeClr val="tx1"/>
                      </a:solidFill>
                      <a:prstDash val="soli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3069525319"/>
                  </a:ext>
                </a:extLst>
              </a:tr>
              <a:tr h="2580640">
                <a:tc>
                  <a:txBody>
                    <a:bodyPr/>
                    <a:lstStyle/>
                    <a:p>
                      <a:pPr lvl="0" eaLnBrk="1" latinLnBrk="1" hangingPunct="1">
                        <a:lnSpc>
                          <a:spcPct val="110000"/>
                        </a:lnSpc>
                        <a:spcBef>
                          <a:spcPct val="70000"/>
                        </a:spcBef>
                        <a:buClr>
                          <a:srgbClr val="00366C"/>
                        </a:buClr>
                        <a:buFont typeface="Wingdings" panose="05000000000000000000" pitchFamily="2" charset="2"/>
                        <a:buNone/>
                      </a:pPr>
                      <a:endParaRPr lang="zh-CN" altLang="en-US" sz="1600" b="1" dirty="0">
                        <a:solidFill>
                          <a:schemeClr val="tx1"/>
                        </a:solidFill>
                        <a:latin typeface="Gulim" panose="020B0600000101010101" pitchFamily="34" charset="-127"/>
                        <a:ea typeface="黑体" panose="02010609060101010101" pitchFamily="2" charset="-122"/>
                        <a:cs typeface="黑体" panose="02010609060101010101" pitchFamily="2" charset="-122"/>
                      </a:endParaRPr>
                    </a:p>
                    <a:p>
                      <a:pPr lvl="0" eaLnBrk="1" latinLnBrk="1" hangingPunct="1">
                        <a:lnSpc>
                          <a:spcPct val="110000"/>
                        </a:lnSpc>
                        <a:spcBef>
                          <a:spcPct val="70000"/>
                        </a:spcBef>
                        <a:buClr>
                          <a:srgbClr val="00366C"/>
                        </a:buClr>
                        <a:buFont typeface="Wingdings" panose="05000000000000000000" pitchFamily="2" charset="2"/>
                        <a:buNone/>
                      </a:pPr>
                      <a:endParaRPr lang="zh-CN" altLang="en-US" sz="1600" b="1" dirty="0">
                        <a:solidFill>
                          <a:srgbClr val="FF0000"/>
                        </a:solidFill>
                        <a:latin typeface="Gulim" panose="020B0600000101010101" pitchFamily="34" charset="-127"/>
                        <a:ea typeface="黑体" panose="02010609060101010101" pitchFamily="2" charset="-122"/>
                        <a:cs typeface="黑体" panose="02010609060101010101" pitchFamily="2" charset="-122"/>
                      </a:endParaRPr>
                    </a:p>
                    <a:p>
                      <a:pPr lvl="0" eaLnBrk="1" latinLnBrk="1" hangingPunct="1">
                        <a:lnSpc>
                          <a:spcPct val="110000"/>
                        </a:lnSpc>
                        <a:spcBef>
                          <a:spcPct val="70000"/>
                        </a:spcBef>
                        <a:buClr>
                          <a:srgbClr val="00366C"/>
                        </a:buClr>
                        <a:buFont typeface="Wingdings" panose="05000000000000000000" pitchFamily="2" charset="2"/>
                        <a:buNone/>
                      </a:pPr>
                      <a:endParaRPr lang="zh-CN" altLang="en-US" sz="1600" b="1" dirty="0">
                        <a:solidFill>
                          <a:srgbClr val="FF0000"/>
                        </a:solidFill>
                        <a:latin typeface="Gulim" panose="020B0600000101010101" pitchFamily="34" charset="-127"/>
                        <a:ea typeface="黑体" panose="02010609060101010101" pitchFamily="2" charset="-122"/>
                        <a:cs typeface="黑体" panose="02010609060101010101" pitchFamily="2" charset="-122"/>
                      </a:endParaRPr>
                    </a:p>
                  </a:txBody>
                  <a:tcPr marT="45715" marB="4571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634420859"/>
                  </a:ext>
                </a:extLst>
              </a:tr>
            </a:tbl>
          </a:graphicData>
        </a:graphic>
      </p:graphicFrame>
      <p:graphicFrame>
        <p:nvGraphicFramePr>
          <p:cNvPr id="6" name="表格 5">
            <a:extLst>
              <a:ext uri="{FF2B5EF4-FFF2-40B4-BE49-F238E27FC236}">
                <a16:creationId xmlns:a16="http://schemas.microsoft.com/office/drawing/2014/main" id="{56DB08FD-04C4-83D9-5340-88E067B6B6F6}"/>
              </a:ext>
            </a:extLst>
          </p:cNvPr>
          <p:cNvGraphicFramePr>
            <a:graphicFrameLocks noGrp="1"/>
          </p:cNvGraphicFramePr>
          <p:nvPr>
            <p:extLst>
              <p:ext uri="{D42A27DB-BD31-4B8C-83A1-F6EECF244321}">
                <p14:modId xmlns:p14="http://schemas.microsoft.com/office/powerpoint/2010/main" val="628017739"/>
              </p:ext>
            </p:extLst>
          </p:nvPr>
        </p:nvGraphicFramePr>
        <p:xfrm>
          <a:off x="6976564" y="3942080"/>
          <a:ext cx="4523010" cy="2915920"/>
        </p:xfrm>
        <a:graphic>
          <a:graphicData uri="http://schemas.openxmlformats.org/drawingml/2006/table">
            <a:tbl>
              <a:tblPr/>
              <a:tblGrid>
                <a:gridCol w="4523010">
                  <a:extLst>
                    <a:ext uri="{9D8B030D-6E8A-4147-A177-3AD203B41FA5}">
                      <a16:colId xmlns:a16="http://schemas.microsoft.com/office/drawing/2014/main" val="2843366879"/>
                    </a:ext>
                  </a:extLst>
                </a:gridCol>
              </a:tblGrid>
              <a:tr h="335280">
                <a:tc>
                  <a:txBody>
                    <a:bodyPr/>
                    <a:lstStyle/>
                    <a:p>
                      <a:pPr marL="0" lvl="0" indent="0" algn="ctr" defTabSz="914400" rtl="0" eaLnBrk="1" fontAlgn="base" latinLnBrk="1" hangingPunct="1">
                        <a:lnSpc>
                          <a:spcPct val="110000"/>
                        </a:lnSpc>
                        <a:spcBef>
                          <a:spcPct val="70000"/>
                        </a:spcBef>
                        <a:spcAft>
                          <a:spcPct val="0"/>
                        </a:spcAft>
                        <a:buClr>
                          <a:srgbClr val="00366C"/>
                        </a:buClr>
                        <a:buFont typeface="Wingdings" panose="05000000000000000000" pitchFamily="2" charset="2"/>
                        <a:buNone/>
                      </a:pPr>
                      <a:r>
                        <a:rPr lang="ko-KR" altLang="en-US" sz="1600" b="1" i="0" u="none" kern="1200" baseline="0" dirty="0">
                          <a:solidFill>
                            <a:schemeClr val="tx1"/>
                          </a:solidFill>
                          <a:latin typeface="黑体" panose="02010609060101010101" pitchFamily="2" charset="-122"/>
                          <a:ea typeface="黑体" panose="02010609060101010101" pitchFamily="2" charset="-122"/>
                          <a:cs typeface="黑体" panose="02010609060101010101" pitchFamily="2" charset="-122"/>
                        </a:rPr>
                        <a:t>改善</a:t>
                      </a:r>
                      <a:r>
                        <a:rPr lang="zh-CN" altLang="ko-KR" sz="1600" b="1" i="0" u="none" kern="1200" baseline="0" dirty="0">
                          <a:solidFill>
                            <a:schemeClr val="tx1"/>
                          </a:solidFill>
                          <a:latin typeface="黑体" panose="02010609060101010101" pitchFamily="2" charset="-122"/>
                          <a:ea typeface="黑体" panose="02010609060101010101" pitchFamily="2" charset="-122"/>
                          <a:cs typeface="黑体" panose="02010609060101010101" pitchFamily="2" charset="-122"/>
                        </a:rPr>
                        <a:t>后</a:t>
                      </a:r>
                    </a:p>
                  </a:txBody>
                  <a:tcPr marT="45715" marB="45715">
                    <a:lnL w="12700" cap="flat" cmpd="sng" algn="ctr">
                      <a:solidFill>
                        <a:schemeClr val="tx1"/>
                      </a:solidFill>
                      <a:prstDash val="solid"/>
                      <a:round/>
                      <a:headEnd type="none" w="med" len="med"/>
                      <a:tailEnd type="none" w="med" len="med"/>
                    </a:lnL>
                    <a:lnR w="28575" cap="flat" cmpd="sng">
                      <a:solidFill>
                        <a:schemeClr val="tx1"/>
                      </a:solidFill>
                      <a:prstDash val="soli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261759124"/>
                  </a:ext>
                </a:extLst>
              </a:tr>
              <a:tr h="2580640">
                <a:tc>
                  <a:txBody>
                    <a:bodyPr/>
                    <a:lstStyle/>
                    <a:p>
                      <a:pPr lvl="0" eaLnBrk="1" latinLnBrk="1" hangingPunct="1">
                        <a:lnSpc>
                          <a:spcPct val="110000"/>
                        </a:lnSpc>
                        <a:spcBef>
                          <a:spcPct val="70000"/>
                        </a:spcBef>
                        <a:buClr>
                          <a:srgbClr val="00366C"/>
                        </a:buClr>
                        <a:buFont typeface="Wingdings" panose="05000000000000000000" pitchFamily="2" charset="2"/>
                        <a:buNone/>
                      </a:pPr>
                      <a:endParaRPr lang="ko-KR" altLang="ko-KR" sz="1600" b="1" dirty="0">
                        <a:latin typeface="Gulim" panose="020B0600000101010101" pitchFamily="34" charset="-127"/>
                        <a:cs typeface="黑体" panose="02010609060101010101" pitchFamily="2" charset="-122"/>
                      </a:endParaRPr>
                    </a:p>
                  </a:txBody>
                  <a:tcPr marT="45715" marB="45715">
                    <a:lnL w="12700" cap="flat" cmpd="sng" algn="ctr">
                      <a:solidFill>
                        <a:schemeClr val="tx1"/>
                      </a:solidFill>
                      <a:prstDash val="solid"/>
                      <a:round/>
                      <a:headEnd type="none" w="med" len="med"/>
                      <a:tailEnd type="none" w="med" len="med"/>
                    </a:lnL>
                    <a:lnR w="28575" cap="flat" cmpd="sng">
                      <a:solidFill>
                        <a:schemeClr val="tx1"/>
                      </a:solidFill>
                      <a:prstDash val="soli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61439041"/>
                  </a:ext>
                </a:extLst>
              </a:tr>
            </a:tbl>
          </a:graphicData>
        </a:graphic>
      </p:graphicFrame>
      <p:pic>
        <p:nvPicPr>
          <p:cNvPr id="12" name="图片 11">
            <a:extLst>
              <a:ext uri="{FF2B5EF4-FFF2-40B4-BE49-F238E27FC236}">
                <a16:creationId xmlns:a16="http://schemas.microsoft.com/office/drawing/2014/main" id="{D27191E8-E740-91B6-FA2D-72EC1DD5279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976564" y="1205754"/>
            <a:ext cx="1720176" cy="2534681"/>
          </a:xfrm>
          <a:prstGeom prst="rect">
            <a:avLst/>
          </a:prstGeom>
        </p:spPr>
      </p:pic>
      <p:pic>
        <p:nvPicPr>
          <p:cNvPr id="16" name="图片 15">
            <a:extLst>
              <a:ext uri="{FF2B5EF4-FFF2-40B4-BE49-F238E27FC236}">
                <a16:creationId xmlns:a16="http://schemas.microsoft.com/office/drawing/2014/main" id="{64DA9941-A0EB-3E3A-84A6-4DCB3A4EA1F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976564" y="4323318"/>
            <a:ext cx="1928898" cy="2534682"/>
          </a:xfrm>
          <a:prstGeom prst="rect">
            <a:avLst/>
          </a:prstGeom>
        </p:spPr>
      </p:pic>
      <p:pic>
        <p:nvPicPr>
          <p:cNvPr id="18" name="图片 17">
            <a:extLst>
              <a:ext uri="{FF2B5EF4-FFF2-40B4-BE49-F238E27FC236}">
                <a16:creationId xmlns:a16="http://schemas.microsoft.com/office/drawing/2014/main" id="{60385293-E928-BD4C-41B1-806D52FD0CA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815888" y="1493495"/>
            <a:ext cx="2613285" cy="1959198"/>
          </a:xfrm>
          <a:prstGeom prst="rect">
            <a:avLst/>
          </a:prstGeom>
        </p:spPr>
      </p:pic>
      <p:pic>
        <p:nvPicPr>
          <p:cNvPr id="20" name="图片 19">
            <a:extLst>
              <a:ext uri="{FF2B5EF4-FFF2-40B4-BE49-F238E27FC236}">
                <a16:creationId xmlns:a16="http://schemas.microsoft.com/office/drawing/2014/main" id="{866CBAEE-D4EE-E11F-7792-7A565930DDC6}"/>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949697" y="4651410"/>
            <a:ext cx="2505642" cy="1878497"/>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570FD-8076-5BA2-CDBF-035BD1A26117}"/>
            </a:ext>
          </a:extLst>
        </p:cNvPr>
        <p:cNvGrpSpPr/>
        <p:nvPr/>
      </p:nvGrpSpPr>
      <p:grpSpPr>
        <a:xfrm>
          <a:off x="0" y="0"/>
          <a:ext cx="0" cy="0"/>
          <a:chOff x="0" y="0"/>
          <a:chExt cx="0" cy="0"/>
        </a:xfrm>
      </p:grpSpPr>
      <p:sp>
        <p:nvSpPr>
          <p:cNvPr id="1048828" name="矩形 17">
            <a:extLst>
              <a:ext uri="{FF2B5EF4-FFF2-40B4-BE49-F238E27FC236}">
                <a16:creationId xmlns:a16="http://schemas.microsoft.com/office/drawing/2014/main" id="{4E75727C-0393-88B9-B1D4-899CCBEB72AE}"/>
              </a:ext>
            </a:extLst>
          </p:cNvPr>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957" name="任意多边形 9">
            <a:extLst>
              <a:ext uri="{FF2B5EF4-FFF2-40B4-BE49-F238E27FC236}">
                <a16:creationId xmlns:a16="http://schemas.microsoft.com/office/drawing/2014/main" id="{86BC3A97-3D1B-B99F-E143-F923CF31C885}"/>
              </a:ext>
            </a:extLst>
          </p:cNvPr>
          <p:cNvSpPr/>
          <p:nvPr>
            <p:custDataLst>
              <p:tags r:id="rId3"/>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60" name="文本框 3">
            <a:extLst>
              <a:ext uri="{FF2B5EF4-FFF2-40B4-BE49-F238E27FC236}">
                <a16:creationId xmlns:a16="http://schemas.microsoft.com/office/drawing/2014/main" id="{1684DC77-2742-A6F6-6800-3AE849CE56E6}"/>
              </a:ext>
            </a:extLst>
          </p:cNvPr>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实施阶段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961" name="燕尾形箭头 27">
            <a:extLst>
              <a:ext uri="{FF2B5EF4-FFF2-40B4-BE49-F238E27FC236}">
                <a16:creationId xmlns:a16="http://schemas.microsoft.com/office/drawing/2014/main" id="{A9B585D0-5BFB-A0C2-F00E-6E594CD974B2}"/>
              </a:ext>
            </a:extLst>
          </p:cNvPr>
          <p:cNvSpPr/>
          <p:nvPr>
            <p:custDataLst>
              <p:tags r:id="rId5"/>
            </p:custDataLst>
          </p:nvPr>
        </p:nvSpPr>
        <p:spPr bwMode="auto">
          <a:xfrm>
            <a:off x="2096135" y="857885"/>
            <a:ext cx="2058422" cy="511810"/>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70" name="文本框 28">
            <a:extLst>
              <a:ext uri="{FF2B5EF4-FFF2-40B4-BE49-F238E27FC236}">
                <a16:creationId xmlns:a16="http://schemas.microsoft.com/office/drawing/2014/main" id="{BBBF881E-C6C4-3A42-3C48-1F71023461D9}"/>
              </a:ext>
            </a:extLst>
          </p:cNvPr>
          <p:cNvSpPr txBox="1"/>
          <p:nvPr>
            <p:custDataLst>
              <p:tags r:id="rId6"/>
            </p:custDataLst>
          </p:nvPr>
        </p:nvSpPr>
        <p:spPr>
          <a:xfrm>
            <a:off x="2212216" y="902140"/>
            <a:ext cx="1826260" cy="44577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燃烧系统改造</a:t>
            </a:r>
          </a:p>
        </p:txBody>
      </p:sp>
      <p:sp>
        <p:nvSpPr>
          <p:cNvPr id="4" name="文本框 3">
            <a:extLst>
              <a:ext uri="{FF2B5EF4-FFF2-40B4-BE49-F238E27FC236}">
                <a16:creationId xmlns:a16="http://schemas.microsoft.com/office/drawing/2014/main" id="{90CA38F2-25BC-2956-B694-F67BBC8AF735}"/>
              </a:ext>
            </a:extLst>
          </p:cNvPr>
          <p:cNvSpPr txBox="1"/>
          <p:nvPr/>
        </p:nvSpPr>
        <p:spPr>
          <a:xfrm>
            <a:off x="459740" y="1481927"/>
            <a:ext cx="6330342" cy="5098512"/>
          </a:xfrm>
          <a:prstGeom prst="rect">
            <a:avLst/>
          </a:prstGeom>
          <a:noFill/>
        </p:spPr>
        <p:txBody>
          <a:bodyPr wrap="square">
            <a:spAutoFit/>
          </a:bodyPr>
          <a:lstStyle/>
          <a:p>
            <a:pPr indent="355600" algn="just">
              <a:lnSpc>
                <a:spcPct val="150000"/>
              </a:lnSpc>
              <a:buNone/>
            </a:pPr>
            <a:r>
              <a:rPr lang="zh-CN" altLang="en-US" sz="2000" b="1" dirty="0">
                <a:latin typeface="黑体" panose="02010609060101010101" pitchFamily="49" charset="-122"/>
                <a:ea typeface="黑体" panose="02010609060101010101" pitchFamily="49" charset="-122"/>
              </a:rPr>
              <a:t>目前加热炉空煤气流量为全手动控制，即人工输入调节阀开度来调整流量。这种方式无法精确控制炉膛温度和空煤气配比，易造成炉温不均匀，氧化烧损严重等。并且空煤气配比不合理，易造成</a:t>
            </a:r>
            <a:r>
              <a:rPr lang="en-US" altLang="zh-CN" sz="2000" b="1" dirty="0">
                <a:latin typeface="黑体" panose="02010609060101010101" pitchFamily="49" charset="-122"/>
                <a:ea typeface="黑体" panose="02010609060101010101" pitchFamily="49" charset="-122"/>
              </a:rPr>
              <a:t>NOx</a:t>
            </a:r>
            <a:r>
              <a:rPr lang="zh-CN" altLang="en-US" sz="2000" b="1" dirty="0">
                <a:latin typeface="黑体" panose="02010609060101010101" pitchFamily="49" charset="-122"/>
                <a:ea typeface="黑体" panose="02010609060101010101" pitchFamily="49" charset="-122"/>
              </a:rPr>
              <a:t>生成量过高。</a:t>
            </a:r>
          </a:p>
          <a:p>
            <a:pPr indent="355600" algn="just">
              <a:lnSpc>
                <a:spcPct val="150000"/>
              </a:lnSpc>
              <a:buNone/>
            </a:pPr>
            <a:r>
              <a:rPr lang="zh-CN" altLang="en-US" sz="2000" b="1" dirty="0">
                <a:latin typeface="黑体" panose="02010609060101010101" pitchFamily="49" charset="-122"/>
                <a:ea typeface="黑体" panose="02010609060101010101" pitchFamily="49" charset="-122"/>
              </a:rPr>
              <a:t>为此，对燃烧系统进行改造实现空煤气流量的自动控制。升级更换加热炉各段已有空气、煤气流量检测，采用调节灵敏、调节性能好的流量调节阀，以及测量准确、量程范围宽的流量检测装置，以确保各段空气、燃气的准确控制。</a:t>
            </a:r>
          </a:p>
          <a:p>
            <a:pPr indent="355600" algn="just">
              <a:lnSpc>
                <a:spcPct val="150000"/>
              </a:lnSpc>
              <a:buNone/>
            </a:pPr>
            <a:r>
              <a:rPr lang="en-US" altLang="zh-CN" sz="2000" b="1" dirty="0">
                <a:latin typeface="黑体" panose="02010609060101010101" pitchFamily="49" charset="-122"/>
                <a:ea typeface="黑体" panose="02010609060101010101" pitchFamily="49" charset="-122"/>
              </a:rPr>
              <a:t>4</a:t>
            </a:r>
            <a:r>
              <a:rPr lang="zh-CN" altLang="en-US" sz="2000" b="1" dirty="0">
                <a:latin typeface="黑体" panose="02010609060101010101" pitchFamily="49" charset="-122"/>
                <a:ea typeface="黑体" panose="02010609060101010101" pitchFamily="49" charset="-122"/>
              </a:rPr>
              <a:t>个炉子上加热段由一段控制改为分成上加左、上加右二段进行燃烧控制。</a:t>
            </a:r>
          </a:p>
        </p:txBody>
      </p:sp>
      <p:graphicFrame>
        <p:nvGraphicFramePr>
          <p:cNvPr id="5" name="表格 4">
            <a:extLst>
              <a:ext uri="{FF2B5EF4-FFF2-40B4-BE49-F238E27FC236}">
                <a16:creationId xmlns:a16="http://schemas.microsoft.com/office/drawing/2014/main" id="{F83017AE-88E0-5039-0C14-5CE1BD47BFDE}"/>
              </a:ext>
            </a:extLst>
          </p:cNvPr>
          <p:cNvGraphicFramePr>
            <a:graphicFrameLocks noGrp="1"/>
          </p:cNvGraphicFramePr>
          <p:nvPr/>
        </p:nvGraphicFramePr>
        <p:xfrm>
          <a:off x="6976564" y="857885"/>
          <a:ext cx="4523010" cy="2915920"/>
        </p:xfrm>
        <a:graphic>
          <a:graphicData uri="http://schemas.openxmlformats.org/drawingml/2006/table">
            <a:tbl>
              <a:tblPr/>
              <a:tblGrid>
                <a:gridCol w="4523010">
                  <a:extLst>
                    <a:ext uri="{9D8B030D-6E8A-4147-A177-3AD203B41FA5}">
                      <a16:colId xmlns:a16="http://schemas.microsoft.com/office/drawing/2014/main" val="3142289320"/>
                    </a:ext>
                  </a:extLst>
                </a:gridCol>
              </a:tblGrid>
              <a:tr h="335280">
                <a:tc>
                  <a:txBody>
                    <a:bodyPr/>
                    <a:lstStyle/>
                    <a:p>
                      <a:pPr marL="0" lvl="0" indent="0" algn="ctr" defTabSz="914400" rtl="0" eaLnBrk="1" fontAlgn="base" latinLnBrk="1" hangingPunct="1">
                        <a:lnSpc>
                          <a:spcPct val="110000"/>
                        </a:lnSpc>
                        <a:spcBef>
                          <a:spcPct val="70000"/>
                        </a:spcBef>
                        <a:spcAft>
                          <a:spcPct val="0"/>
                        </a:spcAft>
                        <a:buClr>
                          <a:srgbClr val="00366C"/>
                        </a:buClr>
                        <a:buFont typeface="Wingdings" panose="05000000000000000000" pitchFamily="2" charset="2"/>
                        <a:buNone/>
                      </a:pPr>
                      <a:r>
                        <a:rPr lang="ko-KR" altLang="en-US" sz="1600" b="1" i="0" u="none" kern="1200" baseline="0" dirty="0">
                          <a:solidFill>
                            <a:schemeClr val="tx1"/>
                          </a:solidFill>
                          <a:latin typeface="黑体" panose="02010609060101010101" pitchFamily="2" charset="-122"/>
                          <a:ea typeface="黑体" panose="02010609060101010101" pitchFamily="2" charset="-122"/>
                          <a:cs typeface="黑体" panose="02010609060101010101" pitchFamily="2" charset="-122"/>
                        </a:rPr>
                        <a:t>改善前</a:t>
                      </a:r>
                    </a:p>
                  </a:txBody>
                  <a:tcPr marT="45715" marB="45715">
                    <a:lnL w="28575" cap="flat" cmpd="sng">
                      <a:solidFill>
                        <a:schemeClr val="tx1"/>
                      </a:solidFill>
                      <a:prstDash val="soli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3069525319"/>
                  </a:ext>
                </a:extLst>
              </a:tr>
              <a:tr h="2580640">
                <a:tc>
                  <a:txBody>
                    <a:bodyPr/>
                    <a:lstStyle/>
                    <a:p>
                      <a:pPr lvl="0" eaLnBrk="1" latinLnBrk="1" hangingPunct="1">
                        <a:lnSpc>
                          <a:spcPct val="110000"/>
                        </a:lnSpc>
                        <a:spcBef>
                          <a:spcPct val="70000"/>
                        </a:spcBef>
                        <a:buClr>
                          <a:srgbClr val="00366C"/>
                        </a:buClr>
                        <a:buFont typeface="Wingdings" panose="05000000000000000000" pitchFamily="2" charset="2"/>
                        <a:buNone/>
                      </a:pPr>
                      <a:endParaRPr lang="zh-CN" altLang="en-US" sz="1600" b="1" dirty="0">
                        <a:solidFill>
                          <a:schemeClr val="tx1"/>
                        </a:solidFill>
                        <a:latin typeface="Gulim" panose="020B0600000101010101" pitchFamily="34" charset="-127"/>
                        <a:ea typeface="黑体" panose="02010609060101010101" pitchFamily="2" charset="-122"/>
                        <a:cs typeface="黑体" panose="02010609060101010101" pitchFamily="2" charset="-122"/>
                      </a:endParaRPr>
                    </a:p>
                    <a:p>
                      <a:pPr lvl="0" eaLnBrk="1" latinLnBrk="1" hangingPunct="1">
                        <a:lnSpc>
                          <a:spcPct val="110000"/>
                        </a:lnSpc>
                        <a:spcBef>
                          <a:spcPct val="70000"/>
                        </a:spcBef>
                        <a:buClr>
                          <a:srgbClr val="00366C"/>
                        </a:buClr>
                        <a:buFont typeface="Wingdings" panose="05000000000000000000" pitchFamily="2" charset="2"/>
                        <a:buNone/>
                      </a:pPr>
                      <a:endParaRPr lang="zh-CN" altLang="en-US" sz="1600" b="1" dirty="0">
                        <a:solidFill>
                          <a:srgbClr val="FF0000"/>
                        </a:solidFill>
                        <a:latin typeface="Gulim" panose="020B0600000101010101" pitchFamily="34" charset="-127"/>
                        <a:ea typeface="黑体" panose="02010609060101010101" pitchFamily="2" charset="-122"/>
                        <a:cs typeface="黑体" panose="02010609060101010101" pitchFamily="2" charset="-122"/>
                      </a:endParaRPr>
                    </a:p>
                    <a:p>
                      <a:pPr lvl="0" eaLnBrk="1" latinLnBrk="1" hangingPunct="1">
                        <a:lnSpc>
                          <a:spcPct val="110000"/>
                        </a:lnSpc>
                        <a:spcBef>
                          <a:spcPct val="70000"/>
                        </a:spcBef>
                        <a:buClr>
                          <a:srgbClr val="00366C"/>
                        </a:buClr>
                        <a:buFont typeface="Wingdings" panose="05000000000000000000" pitchFamily="2" charset="2"/>
                        <a:buNone/>
                      </a:pPr>
                      <a:endParaRPr lang="zh-CN" altLang="en-US" sz="1600" b="1" dirty="0">
                        <a:solidFill>
                          <a:srgbClr val="FF0000"/>
                        </a:solidFill>
                        <a:latin typeface="Gulim" panose="020B0600000101010101" pitchFamily="34" charset="-127"/>
                        <a:ea typeface="黑体" panose="02010609060101010101" pitchFamily="2" charset="-122"/>
                        <a:cs typeface="黑体" panose="02010609060101010101" pitchFamily="2" charset="-122"/>
                      </a:endParaRPr>
                    </a:p>
                  </a:txBody>
                  <a:tcPr marT="45715" marB="4571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634420859"/>
                  </a:ext>
                </a:extLst>
              </a:tr>
            </a:tbl>
          </a:graphicData>
        </a:graphic>
      </p:graphicFrame>
      <p:graphicFrame>
        <p:nvGraphicFramePr>
          <p:cNvPr id="6" name="表格 5">
            <a:extLst>
              <a:ext uri="{FF2B5EF4-FFF2-40B4-BE49-F238E27FC236}">
                <a16:creationId xmlns:a16="http://schemas.microsoft.com/office/drawing/2014/main" id="{43C8C8CB-361A-BC6D-66AF-E6F6C7729DA8}"/>
              </a:ext>
            </a:extLst>
          </p:cNvPr>
          <p:cNvGraphicFramePr>
            <a:graphicFrameLocks noGrp="1"/>
          </p:cNvGraphicFramePr>
          <p:nvPr/>
        </p:nvGraphicFramePr>
        <p:xfrm>
          <a:off x="6976564" y="3942080"/>
          <a:ext cx="4523010" cy="2915920"/>
        </p:xfrm>
        <a:graphic>
          <a:graphicData uri="http://schemas.openxmlformats.org/drawingml/2006/table">
            <a:tbl>
              <a:tblPr/>
              <a:tblGrid>
                <a:gridCol w="4523010">
                  <a:extLst>
                    <a:ext uri="{9D8B030D-6E8A-4147-A177-3AD203B41FA5}">
                      <a16:colId xmlns:a16="http://schemas.microsoft.com/office/drawing/2014/main" val="2843366879"/>
                    </a:ext>
                  </a:extLst>
                </a:gridCol>
              </a:tblGrid>
              <a:tr h="335280">
                <a:tc>
                  <a:txBody>
                    <a:bodyPr/>
                    <a:lstStyle/>
                    <a:p>
                      <a:pPr marL="0" lvl="0" indent="0" algn="ctr" defTabSz="914400" rtl="0" eaLnBrk="1" fontAlgn="base" latinLnBrk="1" hangingPunct="1">
                        <a:lnSpc>
                          <a:spcPct val="110000"/>
                        </a:lnSpc>
                        <a:spcBef>
                          <a:spcPct val="70000"/>
                        </a:spcBef>
                        <a:spcAft>
                          <a:spcPct val="0"/>
                        </a:spcAft>
                        <a:buClr>
                          <a:srgbClr val="00366C"/>
                        </a:buClr>
                        <a:buFont typeface="Wingdings" panose="05000000000000000000" pitchFamily="2" charset="2"/>
                        <a:buNone/>
                      </a:pPr>
                      <a:r>
                        <a:rPr lang="ko-KR" altLang="en-US" sz="1600" b="1" i="0" u="none" kern="1200" baseline="0" dirty="0">
                          <a:solidFill>
                            <a:schemeClr val="tx1"/>
                          </a:solidFill>
                          <a:latin typeface="黑体" panose="02010609060101010101" pitchFamily="2" charset="-122"/>
                          <a:ea typeface="黑体" panose="02010609060101010101" pitchFamily="2" charset="-122"/>
                          <a:cs typeface="黑体" panose="02010609060101010101" pitchFamily="2" charset="-122"/>
                        </a:rPr>
                        <a:t>改善</a:t>
                      </a:r>
                      <a:r>
                        <a:rPr lang="zh-CN" altLang="ko-KR" sz="1600" b="1" i="0" u="none" kern="1200" baseline="0" dirty="0">
                          <a:solidFill>
                            <a:schemeClr val="tx1"/>
                          </a:solidFill>
                          <a:latin typeface="黑体" panose="02010609060101010101" pitchFamily="2" charset="-122"/>
                          <a:ea typeface="黑体" panose="02010609060101010101" pitchFamily="2" charset="-122"/>
                          <a:cs typeface="黑体" panose="02010609060101010101" pitchFamily="2" charset="-122"/>
                        </a:rPr>
                        <a:t>后</a:t>
                      </a:r>
                    </a:p>
                  </a:txBody>
                  <a:tcPr marT="45715" marB="45715">
                    <a:lnL w="12700" cap="flat" cmpd="sng" algn="ctr">
                      <a:solidFill>
                        <a:schemeClr val="tx1"/>
                      </a:solidFill>
                      <a:prstDash val="solid"/>
                      <a:round/>
                      <a:headEnd type="none" w="med" len="med"/>
                      <a:tailEnd type="none" w="med" len="med"/>
                    </a:lnL>
                    <a:lnR w="28575" cap="flat" cmpd="sng">
                      <a:solidFill>
                        <a:schemeClr val="tx1"/>
                      </a:solidFill>
                      <a:prstDash val="soli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261759124"/>
                  </a:ext>
                </a:extLst>
              </a:tr>
              <a:tr h="2580640">
                <a:tc>
                  <a:txBody>
                    <a:bodyPr/>
                    <a:lstStyle/>
                    <a:p>
                      <a:pPr lvl="0" eaLnBrk="1" latinLnBrk="1" hangingPunct="1">
                        <a:lnSpc>
                          <a:spcPct val="110000"/>
                        </a:lnSpc>
                        <a:spcBef>
                          <a:spcPct val="70000"/>
                        </a:spcBef>
                        <a:buClr>
                          <a:srgbClr val="00366C"/>
                        </a:buClr>
                        <a:buFont typeface="Wingdings" panose="05000000000000000000" pitchFamily="2" charset="2"/>
                        <a:buNone/>
                      </a:pPr>
                      <a:endParaRPr lang="ko-KR" altLang="ko-KR" sz="1600" b="1" dirty="0">
                        <a:latin typeface="Gulim" panose="020B0600000101010101" pitchFamily="34" charset="-127"/>
                        <a:cs typeface="黑体" panose="02010609060101010101" pitchFamily="2" charset="-122"/>
                      </a:endParaRPr>
                    </a:p>
                  </a:txBody>
                  <a:tcPr marT="45715" marB="45715">
                    <a:lnL w="12700" cap="flat" cmpd="sng" algn="ctr">
                      <a:solidFill>
                        <a:schemeClr val="tx1"/>
                      </a:solidFill>
                      <a:prstDash val="solid"/>
                      <a:round/>
                      <a:headEnd type="none" w="med" len="med"/>
                      <a:tailEnd type="none" w="med" len="med"/>
                    </a:lnL>
                    <a:lnR w="28575" cap="flat" cmpd="sng">
                      <a:solidFill>
                        <a:schemeClr val="tx1"/>
                      </a:solidFill>
                      <a:prstDash val="soli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61439041"/>
                  </a:ext>
                </a:extLst>
              </a:tr>
            </a:tbl>
          </a:graphicData>
        </a:graphic>
      </p:graphicFrame>
      <p:pic>
        <p:nvPicPr>
          <p:cNvPr id="3" name="图片 2">
            <a:extLst>
              <a:ext uri="{FF2B5EF4-FFF2-40B4-BE49-F238E27FC236}">
                <a16:creationId xmlns:a16="http://schemas.microsoft.com/office/drawing/2014/main" id="{77C608FF-7586-FFA7-6888-EDCF9EFBB42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680939" y="1214476"/>
            <a:ext cx="3361435" cy="2521076"/>
          </a:xfrm>
          <a:prstGeom prst="rect">
            <a:avLst/>
          </a:prstGeom>
        </p:spPr>
      </p:pic>
      <p:pic>
        <p:nvPicPr>
          <p:cNvPr id="8" name="图片 7">
            <a:extLst>
              <a:ext uri="{FF2B5EF4-FFF2-40B4-BE49-F238E27FC236}">
                <a16:creationId xmlns:a16="http://schemas.microsoft.com/office/drawing/2014/main" id="{0F2ED29C-E7A6-8CD7-7314-CB57AC36B6CD}"/>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620651" y="4246493"/>
            <a:ext cx="3482009" cy="2611507"/>
          </a:xfrm>
          <a:prstGeom prst="rect">
            <a:avLst/>
          </a:prstGeom>
        </p:spPr>
      </p:pic>
    </p:spTree>
    <p:custDataLst>
      <p:tags r:id="rId1"/>
    </p:custDataLst>
    <p:extLst>
      <p:ext uri="{BB962C8B-B14F-4D97-AF65-F5344CB8AC3E}">
        <p14:creationId xmlns:p14="http://schemas.microsoft.com/office/powerpoint/2010/main" val="1516646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027BA-140C-C46E-B537-E33DCB27F3FF}"/>
            </a:ext>
          </a:extLst>
        </p:cNvPr>
        <p:cNvGrpSpPr/>
        <p:nvPr/>
      </p:nvGrpSpPr>
      <p:grpSpPr>
        <a:xfrm>
          <a:off x="0" y="0"/>
          <a:ext cx="0" cy="0"/>
          <a:chOff x="0" y="0"/>
          <a:chExt cx="0" cy="0"/>
        </a:xfrm>
      </p:grpSpPr>
      <p:sp>
        <p:nvSpPr>
          <p:cNvPr id="1048828" name="矩形 17">
            <a:extLst>
              <a:ext uri="{FF2B5EF4-FFF2-40B4-BE49-F238E27FC236}">
                <a16:creationId xmlns:a16="http://schemas.microsoft.com/office/drawing/2014/main" id="{A3352B4B-C717-6881-A696-C9CA176885FD}"/>
              </a:ext>
            </a:extLst>
          </p:cNvPr>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957" name="任意多边形 9">
            <a:extLst>
              <a:ext uri="{FF2B5EF4-FFF2-40B4-BE49-F238E27FC236}">
                <a16:creationId xmlns:a16="http://schemas.microsoft.com/office/drawing/2014/main" id="{C90D9766-A026-33F2-B772-BAE7276A7566}"/>
              </a:ext>
            </a:extLst>
          </p:cNvPr>
          <p:cNvSpPr/>
          <p:nvPr>
            <p:custDataLst>
              <p:tags r:id="rId3"/>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60" name="文本框 3">
            <a:extLst>
              <a:ext uri="{FF2B5EF4-FFF2-40B4-BE49-F238E27FC236}">
                <a16:creationId xmlns:a16="http://schemas.microsoft.com/office/drawing/2014/main" id="{5CF9A745-6786-01AE-B3EC-F77AACD0A639}"/>
              </a:ext>
            </a:extLst>
          </p:cNvPr>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实施阶段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961" name="燕尾形箭头 27">
            <a:extLst>
              <a:ext uri="{FF2B5EF4-FFF2-40B4-BE49-F238E27FC236}">
                <a16:creationId xmlns:a16="http://schemas.microsoft.com/office/drawing/2014/main" id="{8CEB45F2-E0B0-4227-B893-2B8AFAB42BD6}"/>
              </a:ext>
            </a:extLst>
          </p:cNvPr>
          <p:cNvSpPr/>
          <p:nvPr>
            <p:custDataLst>
              <p:tags r:id="rId5"/>
            </p:custDataLst>
          </p:nvPr>
        </p:nvSpPr>
        <p:spPr bwMode="auto">
          <a:xfrm>
            <a:off x="2096135" y="857885"/>
            <a:ext cx="2287022" cy="511810"/>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70" name="文本框 28">
            <a:extLst>
              <a:ext uri="{FF2B5EF4-FFF2-40B4-BE49-F238E27FC236}">
                <a16:creationId xmlns:a16="http://schemas.microsoft.com/office/drawing/2014/main" id="{B42D7877-ADAE-D3B8-C33C-D6AC997F069F}"/>
              </a:ext>
            </a:extLst>
          </p:cNvPr>
          <p:cNvSpPr txBox="1"/>
          <p:nvPr>
            <p:custDataLst>
              <p:tags r:id="rId6"/>
            </p:custDataLst>
          </p:nvPr>
        </p:nvSpPr>
        <p:spPr>
          <a:xfrm>
            <a:off x="2212216" y="902140"/>
            <a:ext cx="2021854" cy="44577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sym typeface="+mn-ea"/>
              </a:rPr>
              <a:t>加热炉机构</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改造</a:t>
            </a:r>
          </a:p>
        </p:txBody>
      </p:sp>
      <p:sp>
        <p:nvSpPr>
          <p:cNvPr id="4" name="文本框 3">
            <a:extLst>
              <a:ext uri="{FF2B5EF4-FFF2-40B4-BE49-F238E27FC236}">
                <a16:creationId xmlns:a16="http://schemas.microsoft.com/office/drawing/2014/main" id="{1E64F94C-36E5-D443-0959-38916DAA625D}"/>
              </a:ext>
            </a:extLst>
          </p:cNvPr>
          <p:cNvSpPr txBox="1"/>
          <p:nvPr/>
        </p:nvSpPr>
        <p:spPr>
          <a:xfrm>
            <a:off x="525145" y="1372288"/>
            <a:ext cx="6330342" cy="5560176"/>
          </a:xfrm>
          <a:prstGeom prst="rect">
            <a:avLst/>
          </a:prstGeom>
          <a:noFill/>
        </p:spPr>
        <p:txBody>
          <a:bodyPr wrap="square">
            <a:spAutoFit/>
          </a:bodyPr>
          <a:lstStyle/>
          <a:p>
            <a:pPr indent="355600" algn="just">
              <a:lnSpc>
                <a:spcPct val="150000"/>
              </a:lnSpc>
            </a:pPr>
            <a:r>
              <a:rPr lang="zh-CN" altLang="en-US" sz="2000" b="1" dirty="0">
                <a:latin typeface="黑体" panose="02010609060101010101" pitchFamily="49" charset="-122"/>
                <a:ea typeface="黑体" panose="02010609060101010101" pitchFamily="49" charset="-122"/>
              </a:rPr>
              <a:t>考虑到现场长周期运行的实际工况，针对底层硬件缺陷，特此在本次大修完成了全面修整以及升级：</a:t>
            </a:r>
            <a:endParaRPr lang="en-US" altLang="zh-CN" sz="2000" b="1" dirty="0">
              <a:latin typeface="黑体" panose="02010609060101010101" pitchFamily="49" charset="-122"/>
              <a:ea typeface="黑体" panose="02010609060101010101" pitchFamily="49" charset="-122"/>
            </a:endParaRPr>
          </a:p>
          <a:p>
            <a:pPr indent="355600" algn="just">
              <a:lnSpc>
                <a:spcPct val="150000"/>
              </a:lnSpc>
            </a:pPr>
            <a:r>
              <a:rPr lang="zh-CN" altLang="en-US" sz="2000" b="1" dirty="0">
                <a:latin typeface="黑体" panose="02010609060101010101" pitchFamily="49" charset="-122"/>
                <a:ea typeface="黑体" panose="02010609060101010101" pitchFamily="49" charset="-122"/>
              </a:rPr>
              <a:t>一是由于现场混合煤气管道服役时间过长、管壁老化，内部存在严重的局部锈蚀、积水以及漏气安全隐患，课题组利用大修停机机会对全线不合理的煤气管道实施了下线割换与升级改造，彻底优化了管网走向；</a:t>
            </a:r>
            <a:endParaRPr lang="en-US" altLang="zh-CN" sz="2000" b="1" dirty="0">
              <a:latin typeface="黑体" panose="02010609060101010101" pitchFamily="49" charset="-122"/>
              <a:ea typeface="黑体" panose="02010609060101010101" pitchFamily="49" charset="-122"/>
            </a:endParaRPr>
          </a:p>
          <a:p>
            <a:pPr indent="355600" algn="just">
              <a:lnSpc>
                <a:spcPct val="150000"/>
              </a:lnSpc>
            </a:pPr>
            <a:r>
              <a:rPr lang="zh-CN" altLang="en-US" sz="2000" b="1" dirty="0">
                <a:latin typeface="黑体" panose="02010609060101010101" pitchFamily="49" charset="-122"/>
                <a:ea typeface="黑体" panose="02010609060101010101" pitchFamily="49" charset="-122"/>
              </a:rPr>
              <a:t>二是现场烧嘴阀门及煤气流量调节执行器因常年在线连续运转，内部普遍积存了厚重的煤气焦油，导致阀门卡涩、执行器死区过大，为此利用大修黄金时间对全炉所有烧嘴阀门和关键执行机构进行了成套拆卸、深度清洗去焦油及精密机械修理，恢复了硬件的动态响应精度，为系统的稳定运行奠定了坚实的底层硬件基础。</a:t>
            </a:r>
          </a:p>
        </p:txBody>
      </p:sp>
      <p:pic>
        <p:nvPicPr>
          <p:cNvPr id="7" name="图片 6">
            <a:extLst>
              <a:ext uri="{FF2B5EF4-FFF2-40B4-BE49-F238E27FC236}">
                <a16:creationId xmlns:a16="http://schemas.microsoft.com/office/drawing/2014/main" id="{52212D48-8650-A338-D8BA-DD996B7573F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692888" y="977155"/>
            <a:ext cx="3856382" cy="1726289"/>
          </a:xfrm>
          <a:prstGeom prst="rect">
            <a:avLst/>
          </a:prstGeom>
        </p:spPr>
      </p:pic>
      <p:pic>
        <p:nvPicPr>
          <p:cNvPr id="10" name="图片 9">
            <a:extLst>
              <a:ext uri="{FF2B5EF4-FFF2-40B4-BE49-F238E27FC236}">
                <a16:creationId xmlns:a16="http://schemas.microsoft.com/office/drawing/2014/main" id="{5057A563-542F-84BF-B6B2-1132BFCFF23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692888" y="2885249"/>
            <a:ext cx="3856382" cy="1726289"/>
          </a:xfrm>
          <a:prstGeom prst="rect">
            <a:avLst/>
          </a:prstGeom>
        </p:spPr>
      </p:pic>
      <p:pic>
        <p:nvPicPr>
          <p:cNvPr id="12" name="图片 11">
            <a:extLst>
              <a:ext uri="{FF2B5EF4-FFF2-40B4-BE49-F238E27FC236}">
                <a16:creationId xmlns:a16="http://schemas.microsoft.com/office/drawing/2014/main" id="{7ABB3F96-891F-9F54-F23E-B4C4D18EE32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692889" y="4880917"/>
            <a:ext cx="3856382" cy="1726289"/>
          </a:xfrm>
          <a:prstGeom prst="rect">
            <a:avLst/>
          </a:prstGeom>
        </p:spPr>
      </p:pic>
    </p:spTree>
    <p:custDataLst>
      <p:tags r:id="rId1"/>
    </p:custDataLst>
    <p:extLst>
      <p:ext uri="{BB962C8B-B14F-4D97-AF65-F5344CB8AC3E}">
        <p14:creationId xmlns:p14="http://schemas.microsoft.com/office/powerpoint/2010/main" val="965258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DDBA9-B70C-43F2-B2E3-691046393305}"/>
            </a:ext>
          </a:extLst>
        </p:cNvPr>
        <p:cNvGrpSpPr/>
        <p:nvPr/>
      </p:nvGrpSpPr>
      <p:grpSpPr>
        <a:xfrm>
          <a:off x="0" y="0"/>
          <a:ext cx="0" cy="0"/>
          <a:chOff x="0" y="0"/>
          <a:chExt cx="0" cy="0"/>
        </a:xfrm>
      </p:grpSpPr>
      <p:sp>
        <p:nvSpPr>
          <p:cNvPr id="1048828" name="矩形 17">
            <a:extLst>
              <a:ext uri="{FF2B5EF4-FFF2-40B4-BE49-F238E27FC236}">
                <a16:creationId xmlns:a16="http://schemas.microsoft.com/office/drawing/2014/main" id="{015C4C96-A77C-A24D-4771-B412DFC56B0E}"/>
              </a:ext>
            </a:extLst>
          </p:cNvPr>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957" name="任意多边形 9">
            <a:extLst>
              <a:ext uri="{FF2B5EF4-FFF2-40B4-BE49-F238E27FC236}">
                <a16:creationId xmlns:a16="http://schemas.microsoft.com/office/drawing/2014/main" id="{A257787E-4D83-3B11-91B8-547AC3550638}"/>
              </a:ext>
            </a:extLst>
          </p:cNvPr>
          <p:cNvSpPr/>
          <p:nvPr>
            <p:custDataLst>
              <p:tags r:id="rId3"/>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60" name="文本框 3">
            <a:extLst>
              <a:ext uri="{FF2B5EF4-FFF2-40B4-BE49-F238E27FC236}">
                <a16:creationId xmlns:a16="http://schemas.microsoft.com/office/drawing/2014/main" id="{0D70E0A4-87A9-17D2-28E4-06587905BAE9}"/>
              </a:ext>
            </a:extLst>
          </p:cNvPr>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实施阶段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961" name="燕尾形箭头 27">
            <a:extLst>
              <a:ext uri="{FF2B5EF4-FFF2-40B4-BE49-F238E27FC236}">
                <a16:creationId xmlns:a16="http://schemas.microsoft.com/office/drawing/2014/main" id="{2F24307C-EDD7-7C1C-846C-C69FFF64A0BA}"/>
              </a:ext>
            </a:extLst>
          </p:cNvPr>
          <p:cNvSpPr/>
          <p:nvPr>
            <p:custDataLst>
              <p:tags r:id="rId5"/>
            </p:custDataLst>
          </p:nvPr>
        </p:nvSpPr>
        <p:spPr bwMode="auto">
          <a:xfrm>
            <a:off x="2096135" y="857885"/>
            <a:ext cx="2058422" cy="511810"/>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70" name="文本框 28">
            <a:extLst>
              <a:ext uri="{FF2B5EF4-FFF2-40B4-BE49-F238E27FC236}">
                <a16:creationId xmlns:a16="http://schemas.microsoft.com/office/drawing/2014/main" id="{03CB7FC3-01EC-7DAB-17A1-7A6A0084E274}"/>
              </a:ext>
            </a:extLst>
          </p:cNvPr>
          <p:cNvSpPr txBox="1"/>
          <p:nvPr>
            <p:custDataLst>
              <p:tags r:id="rId6"/>
            </p:custDataLst>
          </p:nvPr>
        </p:nvSpPr>
        <p:spPr>
          <a:xfrm>
            <a:off x="2212216" y="902140"/>
            <a:ext cx="1826260" cy="44577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炉膛残氧检测</a:t>
            </a:r>
          </a:p>
        </p:txBody>
      </p:sp>
      <p:sp>
        <p:nvSpPr>
          <p:cNvPr id="4" name="文本框 3">
            <a:extLst>
              <a:ext uri="{FF2B5EF4-FFF2-40B4-BE49-F238E27FC236}">
                <a16:creationId xmlns:a16="http://schemas.microsoft.com/office/drawing/2014/main" id="{95DBE034-617C-D137-511A-3FD5E73109F2}"/>
              </a:ext>
            </a:extLst>
          </p:cNvPr>
          <p:cNvSpPr txBox="1"/>
          <p:nvPr/>
        </p:nvSpPr>
        <p:spPr>
          <a:xfrm>
            <a:off x="525145" y="1551500"/>
            <a:ext cx="7187620" cy="5013360"/>
          </a:xfrm>
          <a:prstGeom prst="rect">
            <a:avLst/>
          </a:prstGeom>
          <a:noFill/>
        </p:spPr>
        <p:txBody>
          <a:bodyPr wrap="square">
            <a:spAutoFit/>
          </a:bodyPr>
          <a:lstStyle/>
          <a:p>
            <a:pPr indent="355600" algn="just">
              <a:lnSpc>
                <a:spcPct val="150000"/>
              </a:lnSpc>
              <a:buNone/>
            </a:pPr>
            <a:r>
              <a:rPr lang="zh-CN" altLang="en-US" b="1" dirty="0">
                <a:latin typeface="黑体" panose="02010609060101010101" pitchFamily="49" charset="-122"/>
                <a:ea typeface="黑体" panose="02010609060101010101" pitchFamily="49" charset="-122"/>
              </a:rPr>
              <a:t>鉴于现场存在煤气热值波动等情况，设置炉内残氧检测设备以准确得到实时的炉膛内气氛，来调节空气量，实现低氮燃烧，同时降低氧化烧损。</a:t>
            </a:r>
          </a:p>
          <a:p>
            <a:pPr indent="355600" algn="just">
              <a:lnSpc>
                <a:spcPct val="150000"/>
              </a:lnSpc>
              <a:buNone/>
            </a:pPr>
            <a:r>
              <a:rPr lang="zh-CN" altLang="en-US" b="1" dirty="0">
                <a:latin typeface="黑体" panose="02010609060101010101" pitchFamily="49" charset="-122"/>
                <a:ea typeface="黑体" panose="02010609060101010101" pitchFamily="49" charset="-122"/>
              </a:rPr>
              <a:t>当煤气热值波动时，空煤气的合理配比发生变化；当炉子供热负荷较小时，受限于流量孔板精度和量程，流量检测值与实际值可能存在较大差异。上述两种情况，都容易造成空燃比失调，残氧量过高，</a:t>
            </a:r>
            <a:r>
              <a:rPr lang="en-US" altLang="zh-CN" b="1" dirty="0">
                <a:latin typeface="黑体" panose="02010609060101010101" pitchFamily="49" charset="-122"/>
                <a:ea typeface="黑体" panose="02010609060101010101" pitchFamily="49" charset="-122"/>
              </a:rPr>
              <a:t>NOx</a:t>
            </a:r>
            <a:r>
              <a:rPr lang="zh-CN" altLang="en-US" b="1" dirty="0">
                <a:latin typeface="黑体" panose="02010609060101010101" pitchFamily="49" charset="-122"/>
                <a:ea typeface="黑体" panose="02010609060101010101" pitchFamily="49" charset="-122"/>
              </a:rPr>
              <a:t>排放增大。通过设置炉膛氧浓度在线检测，并以此作为空燃比调节的参考值，能够精准控制炉膛气氛，降低</a:t>
            </a:r>
            <a:r>
              <a:rPr lang="en-US" altLang="zh-CN" b="1" dirty="0">
                <a:latin typeface="黑体" panose="02010609060101010101" pitchFamily="49" charset="-122"/>
                <a:ea typeface="黑体" panose="02010609060101010101" pitchFamily="49" charset="-122"/>
              </a:rPr>
              <a:t>NOx</a:t>
            </a:r>
            <a:r>
              <a:rPr lang="zh-CN" altLang="en-US" b="1" dirty="0">
                <a:latin typeface="黑体" panose="02010609060101010101" pitchFamily="49" charset="-122"/>
                <a:ea typeface="黑体" panose="02010609060101010101" pitchFamily="49" charset="-122"/>
              </a:rPr>
              <a:t>生成。</a:t>
            </a:r>
          </a:p>
          <a:p>
            <a:pPr indent="355600" algn="just">
              <a:lnSpc>
                <a:spcPct val="150000"/>
              </a:lnSpc>
              <a:buNone/>
            </a:pPr>
            <a:r>
              <a:rPr lang="zh-CN" altLang="en-US" b="1" dirty="0">
                <a:latin typeface="黑体" panose="02010609060101010101" pitchFamily="49" charset="-122"/>
                <a:ea typeface="黑体" panose="02010609060101010101" pitchFamily="49" charset="-122"/>
              </a:rPr>
              <a:t>在加热炉的热回收段设置</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台激光残氧分析仪，采用激光残氧分析仪，能够实时测得炉膛内的</a:t>
            </a:r>
            <a:r>
              <a:rPr lang="en-US" altLang="zh-CN" b="1" dirty="0">
                <a:latin typeface="黑体" panose="02010609060101010101" pitchFamily="49" charset="-122"/>
                <a:ea typeface="黑体" panose="02010609060101010101" pitchFamily="49" charset="-122"/>
              </a:rPr>
              <a:t>O2</a:t>
            </a:r>
            <a:r>
              <a:rPr lang="zh-CN" altLang="en-US" b="1" dirty="0">
                <a:latin typeface="黑体" panose="02010609060101010101" pitchFamily="49" charset="-122"/>
                <a:ea typeface="黑体" panose="02010609060101010101" pitchFamily="49" charset="-122"/>
              </a:rPr>
              <a:t>气体浓度的准确值，从而调节空气量来实现低氧浓度的炉膛气氛。激光残氧分析仪主体位于炉膛外常温区域，使用寿命较长。</a:t>
            </a:r>
          </a:p>
        </p:txBody>
      </p:sp>
      <p:pic>
        <p:nvPicPr>
          <p:cNvPr id="3" name="图片 2">
            <a:extLst>
              <a:ext uri="{FF2B5EF4-FFF2-40B4-BE49-F238E27FC236}">
                <a16:creationId xmlns:a16="http://schemas.microsoft.com/office/drawing/2014/main" id="{270CA588-0AB6-CA50-A2E5-BC66D81C86B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865192" y="2596539"/>
            <a:ext cx="3128640" cy="4171520"/>
          </a:xfrm>
          <a:prstGeom prst="rect">
            <a:avLst/>
          </a:prstGeom>
        </p:spPr>
      </p:pic>
      <p:pic>
        <p:nvPicPr>
          <p:cNvPr id="8" name="图片 7">
            <a:extLst>
              <a:ext uri="{FF2B5EF4-FFF2-40B4-BE49-F238E27FC236}">
                <a16:creationId xmlns:a16="http://schemas.microsoft.com/office/drawing/2014/main" id="{714B7044-A10B-F420-8D81-87CA47BA3EA7}"/>
              </a:ext>
            </a:extLst>
          </p:cNvPr>
          <p:cNvPicPr>
            <a:picLocks noChangeAspect="1"/>
          </p:cNvPicPr>
          <p:nvPr/>
        </p:nvPicPr>
        <p:blipFill>
          <a:blip r:embed="rId10" cstate="print">
            <a:extLst>
              <a:ext uri="{28A0092B-C50C-407E-A947-70E740481C1C}">
                <a14:useLocalDpi xmlns:a14="http://schemas.microsoft.com/office/drawing/2010/main" val="0"/>
              </a:ext>
            </a:extLst>
          </a:blip>
          <a:srcRect r="-200"/>
          <a:stretch>
            <a:fillRect/>
          </a:stretch>
        </p:blipFill>
        <p:spPr>
          <a:xfrm>
            <a:off x="8244637" y="676080"/>
            <a:ext cx="2369750" cy="1774445"/>
          </a:xfrm>
          <a:prstGeom prst="rect">
            <a:avLst/>
          </a:prstGeom>
        </p:spPr>
      </p:pic>
    </p:spTree>
    <p:custDataLst>
      <p:tags r:id="rId1"/>
    </p:custDataLst>
    <p:extLst>
      <p:ext uri="{BB962C8B-B14F-4D97-AF65-F5344CB8AC3E}">
        <p14:creationId xmlns:p14="http://schemas.microsoft.com/office/powerpoint/2010/main" val="3473543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35848-06EF-AA09-8F73-FF920C127204}"/>
            </a:ext>
          </a:extLst>
        </p:cNvPr>
        <p:cNvGrpSpPr/>
        <p:nvPr/>
      </p:nvGrpSpPr>
      <p:grpSpPr>
        <a:xfrm>
          <a:off x="0" y="0"/>
          <a:ext cx="0" cy="0"/>
          <a:chOff x="0" y="0"/>
          <a:chExt cx="0" cy="0"/>
        </a:xfrm>
      </p:grpSpPr>
      <p:sp>
        <p:nvSpPr>
          <p:cNvPr id="1048828" name="矩形 17">
            <a:extLst>
              <a:ext uri="{FF2B5EF4-FFF2-40B4-BE49-F238E27FC236}">
                <a16:creationId xmlns:a16="http://schemas.microsoft.com/office/drawing/2014/main" id="{1DBB9F08-66B6-ABF3-CD67-0DEBF526012A}"/>
              </a:ext>
            </a:extLst>
          </p:cNvPr>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957" name="任意多边形 9">
            <a:extLst>
              <a:ext uri="{FF2B5EF4-FFF2-40B4-BE49-F238E27FC236}">
                <a16:creationId xmlns:a16="http://schemas.microsoft.com/office/drawing/2014/main" id="{B5A2DCD9-0CF3-8DA3-6322-9DD863CC7A47}"/>
              </a:ext>
            </a:extLst>
          </p:cNvPr>
          <p:cNvSpPr/>
          <p:nvPr>
            <p:custDataLst>
              <p:tags r:id="rId3"/>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60" name="文本框 3">
            <a:extLst>
              <a:ext uri="{FF2B5EF4-FFF2-40B4-BE49-F238E27FC236}">
                <a16:creationId xmlns:a16="http://schemas.microsoft.com/office/drawing/2014/main" id="{70EE190C-5AD5-2B77-C1DF-72C4D3614547}"/>
              </a:ext>
            </a:extLst>
          </p:cNvPr>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实施阶段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8961" name="燕尾形箭头 27">
            <a:extLst>
              <a:ext uri="{FF2B5EF4-FFF2-40B4-BE49-F238E27FC236}">
                <a16:creationId xmlns:a16="http://schemas.microsoft.com/office/drawing/2014/main" id="{C3BD1F30-F1A8-2BDF-5C82-88CE0F186544}"/>
              </a:ext>
            </a:extLst>
          </p:cNvPr>
          <p:cNvSpPr/>
          <p:nvPr>
            <p:custDataLst>
              <p:tags r:id="rId5"/>
            </p:custDataLst>
          </p:nvPr>
        </p:nvSpPr>
        <p:spPr bwMode="auto">
          <a:xfrm>
            <a:off x="2096135" y="857885"/>
            <a:ext cx="2058422" cy="511810"/>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70" name="文本框 28">
            <a:extLst>
              <a:ext uri="{FF2B5EF4-FFF2-40B4-BE49-F238E27FC236}">
                <a16:creationId xmlns:a16="http://schemas.microsoft.com/office/drawing/2014/main" id="{F048F36E-C3FE-1DB0-52D1-F400647CED6A}"/>
              </a:ext>
            </a:extLst>
          </p:cNvPr>
          <p:cNvSpPr txBox="1"/>
          <p:nvPr>
            <p:custDataLst>
              <p:tags r:id="rId6"/>
            </p:custDataLst>
          </p:nvPr>
        </p:nvSpPr>
        <p:spPr>
          <a:xfrm>
            <a:off x="2212216" y="902140"/>
            <a:ext cx="1826260" cy="445770"/>
          </a:xfrm>
          <a:prstGeom prst="rect">
            <a:avLst/>
          </a:prstGeom>
          <a:noFill/>
        </p:spPr>
        <p:txBody>
          <a:bodyPr wrap="square" rtlCol="0">
            <a:no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热值分析仪</a:t>
            </a:r>
          </a:p>
        </p:txBody>
      </p:sp>
      <p:sp>
        <p:nvSpPr>
          <p:cNvPr id="4" name="文本框 3">
            <a:extLst>
              <a:ext uri="{FF2B5EF4-FFF2-40B4-BE49-F238E27FC236}">
                <a16:creationId xmlns:a16="http://schemas.microsoft.com/office/drawing/2014/main" id="{145B820E-90FD-2AF6-55F2-575809B2FB18}"/>
              </a:ext>
            </a:extLst>
          </p:cNvPr>
          <p:cNvSpPr txBox="1"/>
          <p:nvPr/>
        </p:nvSpPr>
        <p:spPr>
          <a:xfrm>
            <a:off x="459739" y="1551500"/>
            <a:ext cx="11238617" cy="870751"/>
          </a:xfrm>
          <a:prstGeom prst="rect">
            <a:avLst/>
          </a:prstGeom>
          <a:noFill/>
        </p:spPr>
        <p:txBody>
          <a:bodyPr wrap="square">
            <a:spAutoFit/>
          </a:bodyPr>
          <a:lstStyle/>
          <a:p>
            <a:pPr indent="355600" algn="just">
              <a:lnSpc>
                <a:spcPct val="150000"/>
              </a:lnSpc>
              <a:buNone/>
            </a:pPr>
            <a:r>
              <a:rPr lang="zh-CN" altLang="en-US" sz="1800" b="1" kern="100" dirty="0">
                <a:effectLst/>
                <a:latin typeface="黑体" panose="02010609060101010101" pitchFamily="49" charset="-122"/>
                <a:ea typeface="黑体" panose="02010609060101010101" pitchFamily="49" charset="-122"/>
              </a:rPr>
              <a:t>增加一套热值分析仪，热值分析仪数据可以作为加热炉空燃比和过剩系数的参照。热值分析仪和残氧分析仪的数据共同作为加热炉空燃比动态调整的参考。</a:t>
            </a:r>
          </a:p>
        </p:txBody>
      </p:sp>
      <p:pic>
        <p:nvPicPr>
          <p:cNvPr id="3" name="图片 2">
            <a:extLst>
              <a:ext uri="{FF2B5EF4-FFF2-40B4-BE49-F238E27FC236}">
                <a16:creationId xmlns:a16="http://schemas.microsoft.com/office/drawing/2014/main" id="{CFC63529-B1EF-3518-4AEE-1030FC4A919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489116" y="2422251"/>
            <a:ext cx="3272459" cy="4363278"/>
          </a:xfrm>
          <a:prstGeom prst="rect">
            <a:avLst/>
          </a:prstGeom>
        </p:spPr>
      </p:pic>
      <p:pic>
        <p:nvPicPr>
          <p:cNvPr id="8" name="图片 7">
            <a:extLst>
              <a:ext uri="{FF2B5EF4-FFF2-40B4-BE49-F238E27FC236}">
                <a16:creationId xmlns:a16="http://schemas.microsoft.com/office/drawing/2014/main" id="{87C06CA0-5FB3-4DC1-462B-F9CD354F56E4}"/>
              </a:ext>
            </a:extLst>
          </p:cNvPr>
          <p:cNvPicPr>
            <a:picLocks noChangeAspect="1"/>
          </p:cNvPicPr>
          <p:nvPr/>
        </p:nvPicPr>
        <p:blipFill>
          <a:blip r:embed="rId10">
            <a:extLst>
              <a:ext uri="{28A0092B-C50C-407E-A947-70E740481C1C}">
                <a14:useLocalDpi xmlns:a14="http://schemas.microsoft.com/office/drawing/2010/main" val="0"/>
              </a:ext>
            </a:extLst>
          </a:blip>
          <a:srcRect t="29644" r="-14307"/>
          <a:stretch>
            <a:fillRect/>
          </a:stretch>
        </p:blipFill>
        <p:spPr>
          <a:xfrm>
            <a:off x="6643011" y="2603894"/>
            <a:ext cx="4727000" cy="3893242"/>
          </a:xfrm>
          <a:prstGeom prst="rect">
            <a:avLst/>
          </a:prstGeom>
        </p:spPr>
      </p:pic>
    </p:spTree>
    <p:custDataLst>
      <p:tags r:id="rId1"/>
    </p:custDataLst>
    <p:extLst>
      <p:ext uri="{BB962C8B-B14F-4D97-AF65-F5344CB8AC3E}">
        <p14:creationId xmlns:p14="http://schemas.microsoft.com/office/powerpoint/2010/main" val="2241866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DA76F-9563-C5AE-DABC-A4F28CE0049E}"/>
            </a:ext>
          </a:extLst>
        </p:cNvPr>
        <p:cNvGrpSpPr/>
        <p:nvPr/>
      </p:nvGrpSpPr>
      <p:grpSpPr>
        <a:xfrm>
          <a:off x="0" y="0"/>
          <a:ext cx="0" cy="0"/>
          <a:chOff x="0" y="0"/>
          <a:chExt cx="0" cy="0"/>
        </a:xfrm>
      </p:grpSpPr>
      <p:sp>
        <p:nvSpPr>
          <p:cNvPr id="1048828" name="矩形 17">
            <a:extLst>
              <a:ext uri="{FF2B5EF4-FFF2-40B4-BE49-F238E27FC236}">
                <a16:creationId xmlns:a16="http://schemas.microsoft.com/office/drawing/2014/main" id="{564F4528-7044-685F-5B7C-7485D81D7DDC}"/>
              </a:ext>
            </a:extLst>
          </p:cNvPr>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4" name="文本框 3">
            <a:extLst>
              <a:ext uri="{FF2B5EF4-FFF2-40B4-BE49-F238E27FC236}">
                <a16:creationId xmlns:a16="http://schemas.microsoft.com/office/drawing/2014/main" id="{685EE403-36B9-7630-20E2-CF5813E32931}"/>
              </a:ext>
            </a:extLst>
          </p:cNvPr>
          <p:cNvSpPr txBox="1"/>
          <p:nvPr/>
        </p:nvSpPr>
        <p:spPr>
          <a:xfrm>
            <a:off x="459739" y="1551500"/>
            <a:ext cx="11238617" cy="5025735"/>
          </a:xfrm>
          <a:prstGeom prst="rect">
            <a:avLst/>
          </a:prstGeom>
          <a:noFill/>
        </p:spPr>
        <p:txBody>
          <a:bodyPr wrap="square">
            <a:spAutoFit/>
          </a:bodyPr>
          <a:lstStyle/>
          <a:p>
            <a:pPr indent="355600" algn="just">
              <a:lnSpc>
                <a:spcPct val="150000"/>
              </a:lnSpc>
              <a:buNone/>
            </a:pPr>
            <a:r>
              <a:rPr lang="zh-CN" altLang="en-US" sz="1800" b="1" kern="100" dirty="0">
                <a:effectLst/>
                <a:latin typeface="黑体" panose="02010609060101010101" pitchFamily="49" charset="-122"/>
                <a:ea typeface="黑体" panose="02010609060101010101" pitchFamily="49" charset="-122"/>
              </a:rPr>
              <a:t>基础自动化系统，主要完成上料、装料辊道的顺序控制，坯料的炉内定位控制，坯料的出炉控制，步进梁控制，加热炉燃烧控制，介质测量和控制等。</a:t>
            </a:r>
          </a:p>
          <a:p>
            <a:pPr indent="355600" algn="just">
              <a:lnSpc>
                <a:spcPct val="150000"/>
              </a:lnSpc>
              <a:buNone/>
            </a:pPr>
            <a:r>
              <a:rPr lang="zh-CN" altLang="en-US" sz="1800" b="1" kern="100" dirty="0">
                <a:effectLst/>
                <a:latin typeface="黑体" panose="02010609060101010101" pitchFamily="49" charset="-122"/>
                <a:ea typeface="黑体" panose="02010609060101010101" pitchFamily="49" charset="-122"/>
              </a:rPr>
              <a:t>本次改造，</a:t>
            </a:r>
            <a:r>
              <a:rPr lang="en-US" altLang="zh-CN" sz="1800" b="1" kern="100" dirty="0">
                <a:effectLst/>
                <a:latin typeface="黑体" panose="02010609060101010101" pitchFamily="49" charset="-122"/>
                <a:ea typeface="黑体" panose="02010609060101010101" pitchFamily="49" charset="-122"/>
              </a:rPr>
              <a:t>L1</a:t>
            </a:r>
            <a:r>
              <a:rPr lang="zh-CN" altLang="en-US" sz="1800" b="1" kern="100" dirty="0">
                <a:effectLst/>
                <a:latin typeface="黑体" panose="02010609060101010101" pitchFamily="49" charset="-122"/>
                <a:ea typeface="黑体" panose="02010609060101010101" pitchFamily="49" charset="-122"/>
              </a:rPr>
              <a:t>系统新增调节阀以及流量计、残氧分析、热值分析等。系统的改造及控制采用远程站的形式，与原有</a:t>
            </a:r>
            <a:r>
              <a:rPr lang="en-US" altLang="zh-CN" sz="1800" b="1" kern="100" dirty="0">
                <a:effectLst/>
                <a:latin typeface="黑体" panose="02010609060101010101" pitchFamily="49" charset="-122"/>
                <a:ea typeface="黑体" panose="02010609060101010101" pitchFamily="49" charset="-122"/>
              </a:rPr>
              <a:t>PLC</a:t>
            </a:r>
            <a:r>
              <a:rPr lang="zh-CN" altLang="en-US" sz="1800" b="1" kern="100" dirty="0">
                <a:effectLst/>
                <a:latin typeface="黑体" panose="02010609060101010101" pitchFamily="49" charset="-122"/>
                <a:ea typeface="黑体" panose="02010609060101010101" pitchFamily="49" charset="-122"/>
              </a:rPr>
              <a:t>控制系统进行融合，不新增上位机，在系统原上位机上进行画面及程序的修改。</a:t>
            </a:r>
          </a:p>
          <a:p>
            <a:pPr indent="355600" algn="just">
              <a:lnSpc>
                <a:spcPct val="150000"/>
              </a:lnSpc>
              <a:buNone/>
            </a:pPr>
            <a:r>
              <a:rPr lang="zh-CN" altLang="en-US" sz="1800" b="1" kern="100" dirty="0">
                <a:effectLst/>
                <a:latin typeface="黑体" panose="02010609060101010101" pitchFamily="49" charset="-122"/>
                <a:ea typeface="黑体" panose="02010609060101010101" pitchFamily="49" charset="-122"/>
              </a:rPr>
              <a:t>为满足生产工艺要求，本系统设计充分考虑保证整个控制系统的先进性、可靠性、完善性、可扩展性，以及系统的快速响应性。本系统代表目前先进水平的加热炉控制管理，采用了成熟的过程控制模型。同时，系统结构设计与轧线统一考虑，以保证整个自动化系统的完整统一。</a:t>
            </a:r>
          </a:p>
          <a:p>
            <a:pPr indent="355600" algn="just">
              <a:lnSpc>
                <a:spcPct val="150000"/>
              </a:lnSpc>
              <a:buNone/>
            </a:pPr>
            <a:r>
              <a:rPr lang="zh-CN" altLang="en-US" sz="1800" b="1" kern="100" dirty="0">
                <a:effectLst/>
                <a:latin typeface="黑体" panose="02010609060101010101" pitchFamily="49" charset="-122"/>
                <a:ea typeface="黑体" panose="02010609060101010101" pitchFamily="49" charset="-122"/>
              </a:rPr>
              <a:t>采用</a:t>
            </a:r>
            <a:r>
              <a:rPr lang="en-US" altLang="zh-CN" sz="1800" b="1" kern="100" dirty="0">
                <a:effectLst/>
                <a:latin typeface="黑体" panose="02010609060101010101" pitchFamily="49" charset="-122"/>
                <a:ea typeface="黑体" panose="02010609060101010101" pitchFamily="49" charset="-122"/>
              </a:rPr>
              <a:t>L1</a:t>
            </a:r>
            <a:r>
              <a:rPr lang="zh-CN" altLang="en-US" sz="1800" b="1" kern="100" dirty="0">
                <a:effectLst/>
                <a:latin typeface="黑体" panose="02010609060101010101" pitchFamily="49" charset="-122"/>
                <a:ea typeface="黑体" panose="02010609060101010101" pitchFamily="49" charset="-122"/>
              </a:rPr>
              <a:t>一体化的系统结构，电控、仪控和过程控制系统通过星型交换式快速工业以太网实现数据交换；电控仪控系统与传动设备及现场仪表通过（现场总线）远程</a:t>
            </a:r>
            <a:r>
              <a:rPr lang="en-US" altLang="zh-CN" sz="1800" b="1" kern="100" dirty="0">
                <a:effectLst/>
                <a:latin typeface="黑体" panose="02010609060101010101" pitchFamily="49" charset="-122"/>
                <a:ea typeface="黑体" panose="02010609060101010101" pitchFamily="49" charset="-122"/>
              </a:rPr>
              <a:t>I/O</a:t>
            </a:r>
            <a:r>
              <a:rPr lang="zh-CN" altLang="en-US" sz="1800" b="1" kern="100" dirty="0">
                <a:effectLst/>
                <a:latin typeface="黑体" panose="02010609060101010101" pitchFamily="49" charset="-122"/>
                <a:ea typeface="黑体" panose="02010609060101010101" pitchFamily="49" charset="-122"/>
              </a:rPr>
              <a:t>实现数据交换；采用标准的通讯协议和分层网络，充分保证整个系统的通讯畅通，并且系统的维护和扩充也非常方便。</a:t>
            </a:r>
          </a:p>
          <a:p>
            <a:pPr indent="355600" algn="just">
              <a:lnSpc>
                <a:spcPct val="150000"/>
              </a:lnSpc>
              <a:buNone/>
            </a:pPr>
            <a:r>
              <a:rPr lang="zh-CN" altLang="en-US" sz="1800" b="1" kern="100" dirty="0">
                <a:effectLst/>
                <a:latin typeface="黑体" panose="02010609060101010101" pitchFamily="49" charset="-122"/>
                <a:ea typeface="黑体" panose="02010609060101010101" pitchFamily="49" charset="-122"/>
              </a:rPr>
              <a:t>电气传动和仪表设备选用国内外先进的、成熟可靠的、性价比高的产品。</a:t>
            </a:r>
          </a:p>
          <a:p>
            <a:pPr indent="355600" algn="just">
              <a:lnSpc>
                <a:spcPct val="150000"/>
              </a:lnSpc>
              <a:buNone/>
            </a:pPr>
            <a:r>
              <a:rPr lang="en-US" altLang="zh-CN" sz="1800" b="1" kern="100" dirty="0">
                <a:effectLst/>
                <a:latin typeface="黑体" panose="02010609060101010101" pitchFamily="49" charset="-122"/>
                <a:ea typeface="黑体" panose="02010609060101010101" pitchFamily="49" charset="-122"/>
              </a:rPr>
              <a:t>L1</a:t>
            </a:r>
            <a:r>
              <a:rPr lang="zh-CN" altLang="en-US" sz="1800" b="1" kern="100" dirty="0">
                <a:effectLst/>
                <a:latin typeface="黑体" panose="02010609060101010101" pitchFamily="49" charset="-122"/>
                <a:ea typeface="黑体" panose="02010609060101010101" pitchFamily="49" charset="-122"/>
              </a:rPr>
              <a:t>级</a:t>
            </a:r>
            <a:r>
              <a:rPr lang="en-US" altLang="zh-CN" sz="1800" b="1" kern="100" dirty="0">
                <a:effectLst/>
                <a:latin typeface="黑体" panose="02010609060101010101" pitchFamily="49" charset="-122"/>
                <a:ea typeface="黑体" panose="02010609060101010101" pitchFamily="49" charset="-122"/>
              </a:rPr>
              <a:t>HMI</a:t>
            </a:r>
            <a:r>
              <a:rPr lang="zh-CN" altLang="en-US" sz="1800" b="1" kern="100" dirty="0">
                <a:effectLst/>
                <a:latin typeface="黑体" panose="02010609060101010101" pitchFamily="49" charset="-122"/>
                <a:ea typeface="黑体" panose="02010609060101010101" pitchFamily="49" charset="-122"/>
              </a:rPr>
              <a:t>硬件软件由系统统一考虑，人－机界面友好，使操作方便、灵活。</a:t>
            </a:r>
          </a:p>
        </p:txBody>
      </p:sp>
      <p:sp>
        <p:nvSpPr>
          <p:cNvPr id="2" name="任意多边形 9">
            <a:extLst>
              <a:ext uri="{FF2B5EF4-FFF2-40B4-BE49-F238E27FC236}">
                <a16:creationId xmlns:a16="http://schemas.microsoft.com/office/drawing/2014/main" id="{0584A18A-E97A-CB50-B1D7-D85D570B2826}"/>
              </a:ext>
            </a:extLst>
          </p:cNvPr>
          <p:cNvSpPr/>
          <p:nvPr>
            <p:custDataLst>
              <p:tags r:id="rId3"/>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3" name="文本框 3">
            <a:extLst>
              <a:ext uri="{FF2B5EF4-FFF2-40B4-BE49-F238E27FC236}">
                <a16:creationId xmlns:a16="http://schemas.microsoft.com/office/drawing/2014/main" id="{2ABDA76B-0D65-CA9F-7466-1B4419EB0CF4}"/>
              </a:ext>
            </a:extLst>
          </p:cNvPr>
          <p:cNvSpPr txBox="1"/>
          <p:nvPr>
            <p:custDataLst>
              <p:tags r:id="rId4"/>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实施</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nvGrpSpPr>
          <p:cNvPr id="7" name="组合 6">
            <a:extLst>
              <a:ext uri="{FF2B5EF4-FFF2-40B4-BE49-F238E27FC236}">
                <a16:creationId xmlns:a16="http://schemas.microsoft.com/office/drawing/2014/main" id="{5F0199DE-4690-6087-FCB1-9E66E85AB586}"/>
              </a:ext>
            </a:extLst>
          </p:cNvPr>
          <p:cNvGrpSpPr/>
          <p:nvPr/>
        </p:nvGrpSpPr>
        <p:grpSpPr>
          <a:xfrm>
            <a:off x="2054860" y="857885"/>
            <a:ext cx="2537460" cy="511810"/>
            <a:chOff x="2054860" y="857885"/>
            <a:chExt cx="1842135" cy="511810"/>
          </a:xfrm>
        </p:grpSpPr>
        <p:sp>
          <p:nvSpPr>
            <p:cNvPr id="8" name="燕尾形箭头 27">
              <a:extLst>
                <a:ext uri="{FF2B5EF4-FFF2-40B4-BE49-F238E27FC236}">
                  <a16:creationId xmlns:a16="http://schemas.microsoft.com/office/drawing/2014/main" id="{4F5E1A4D-3965-3449-A61B-7F4B9DE2BCF5}"/>
                </a:ext>
              </a:extLst>
            </p:cNvPr>
            <p:cNvSpPr/>
            <p:nvPr>
              <p:custDataLst>
                <p:tags r:id="rId5"/>
              </p:custDataLst>
            </p:nvPr>
          </p:nvSpPr>
          <p:spPr bwMode="auto">
            <a:xfrm>
              <a:off x="2096135" y="857885"/>
              <a:ext cx="1800860" cy="511810"/>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9" name="文本框 28">
              <a:extLst>
                <a:ext uri="{FF2B5EF4-FFF2-40B4-BE49-F238E27FC236}">
                  <a16:creationId xmlns:a16="http://schemas.microsoft.com/office/drawing/2014/main" id="{12A2CC69-465A-D230-1120-3F3A332F4694}"/>
                </a:ext>
              </a:extLst>
            </p:cNvPr>
            <p:cNvSpPr txBox="1"/>
            <p:nvPr>
              <p:custDataLst>
                <p:tags r:id="rId6"/>
              </p:custDataLst>
            </p:nvPr>
          </p:nvSpPr>
          <p:spPr>
            <a:xfrm>
              <a:off x="2054860" y="904875"/>
              <a:ext cx="1826260" cy="445770"/>
            </a:xfrm>
            <a:prstGeom prst="rect">
              <a:avLst/>
            </a:prstGeom>
            <a:noFill/>
          </p:spPr>
          <p:txBody>
            <a:bodyPr wrap="square" rtlCol="0">
              <a:noAutofit/>
            </a:bodyPr>
            <a:lstStyle/>
            <a:p>
              <a:pPr algn="ctr"/>
              <a:r>
                <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L1</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控制系统升级</a:t>
              </a:r>
              <a:endPar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p:txBody>
        </p:sp>
      </p:grpSp>
    </p:spTree>
    <p:custDataLst>
      <p:tags r:id="rId1"/>
    </p:custDataLst>
    <p:extLst>
      <p:ext uri="{BB962C8B-B14F-4D97-AF65-F5344CB8AC3E}">
        <p14:creationId xmlns:p14="http://schemas.microsoft.com/office/powerpoint/2010/main" val="3028519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8"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53" name="五边形 52"/>
          <p:cNvSpPr/>
          <p:nvPr>
            <p:custDataLst>
              <p:tags r:id="rId3"/>
            </p:custDataLst>
          </p:nvPr>
        </p:nvSpPr>
        <p:spPr>
          <a:xfrm>
            <a:off x="3672205" y="2514600"/>
            <a:ext cx="1920875" cy="466090"/>
          </a:xfrm>
          <a:prstGeom prst="homePlate">
            <a:avLst/>
          </a:prstGeom>
          <a:noFill/>
          <a:ln>
            <a:gradFill>
              <a:gsLst>
                <a:gs pos="0">
                  <a:srgbClr val="FFFFFF"/>
                </a:gs>
                <a:gs pos="100000">
                  <a:srgbClr val="3366FE">
                    <a:lumMod val="20000"/>
                    <a:lumOff val="80000"/>
                  </a:srgbClr>
                </a:gs>
              </a:gsLst>
              <a:lin ang="0" scaled="1"/>
            </a:grad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54" name="弧形 53"/>
          <p:cNvSpPr/>
          <p:nvPr>
            <p:custDataLst>
              <p:tags r:id="rId4"/>
            </p:custDataLst>
          </p:nvPr>
        </p:nvSpPr>
        <p:spPr>
          <a:xfrm>
            <a:off x="548005" y="2162175"/>
            <a:ext cx="3651250" cy="3859530"/>
          </a:xfrm>
          <a:prstGeom prst="arc">
            <a:avLst>
              <a:gd name="adj1" fmla="val 16200000"/>
              <a:gd name="adj2" fmla="val 5414109"/>
            </a:avLst>
          </a:prstGeom>
          <a:noFill/>
          <a:ln w="12700">
            <a:gradFill>
              <a:gsLst>
                <a:gs pos="0">
                  <a:srgbClr val="3366FE">
                    <a:alpha val="2000"/>
                  </a:srgbClr>
                </a:gs>
                <a:gs pos="100000">
                  <a:srgbClr val="3366FE"/>
                </a:gs>
              </a:gsLst>
              <a:lin ang="0" scaled="1"/>
            </a:gradFill>
          </a:ln>
        </p:spPr>
        <p:style>
          <a:lnRef idx="1">
            <a:srgbClr val="3366FE"/>
          </a:lnRef>
          <a:fillRef idx="0">
            <a:srgbClr val="3366FE"/>
          </a:fillRef>
          <a:effectRef idx="0">
            <a:srgbClr val="3366FE"/>
          </a:effectRef>
          <a:fontRef idx="minor">
            <a:srgbClr val="000000"/>
          </a:fontRef>
        </p:style>
        <p:txBody>
          <a:bodyPr rtlCol="0" anchor="ctr"/>
          <a:lstStyle/>
          <a:p>
            <a:pPr algn="ctr"/>
            <a:endParaRPr lang="zh-CN" altLang="en-US">
              <a:cs typeface="思源黑体 CN Regular" panose="020B0500000000000000" charset="-122"/>
            </a:endParaRPr>
          </a:p>
        </p:txBody>
      </p:sp>
      <p:sp>
        <p:nvSpPr>
          <p:cNvPr id="55" name="椭圆 54"/>
          <p:cNvSpPr/>
          <p:nvPr>
            <p:custDataLst>
              <p:tags r:id="rId5"/>
            </p:custDataLst>
          </p:nvPr>
        </p:nvSpPr>
        <p:spPr>
          <a:xfrm>
            <a:off x="981075" y="2822575"/>
            <a:ext cx="2538730" cy="2538730"/>
          </a:xfrm>
          <a:prstGeom prst="ellipse">
            <a:avLst/>
          </a:prstGeom>
          <a:solidFill>
            <a:srgbClr val="3366FE"/>
          </a:soli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sp>
        <p:nvSpPr>
          <p:cNvPr id="56" name="文本框 55"/>
          <p:cNvSpPr txBox="1"/>
          <p:nvPr>
            <p:custDataLst>
              <p:tags r:id="rId6"/>
            </p:custDataLst>
          </p:nvPr>
        </p:nvSpPr>
        <p:spPr>
          <a:xfrm>
            <a:off x="1234468" y="3697412"/>
            <a:ext cx="1825045" cy="830580"/>
          </a:xfrm>
          <a:prstGeom prst="rect">
            <a:avLst/>
          </a:prstGeom>
          <a:noFill/>
        </p:spPr>
        <p:txBody>
          <a:bodyPr wrap="none" bIns="0" rtlCol="0" anchor="ctr" anchorCtr="0">
            <a:normAutofit fontScale="92500" lnSpcReduction="10000"/>
          </a:bodyPr>
          <a:lstStyle/>
          <a:p>
            <a:pPr algn="l"/>
            <a:r>
              <a:rPr lang="en-US" altLang="zh-CN" sz="2855" spc="300" dirty="0">
                <a:solidFill>
                  <a:srgbClr val="FFFFFF"/>
                </a:solidFill>
                <a:uFillTx/>
                <a:latin typeface="思源黑体 CN Bold" panose="020B0800000000000000" charset="-122"/>
                <a:ea typeface="思源黑体 CN Bold" panose="020B0800000000000000" charset="-122"/>
                <a:sym typeface="+mn-ea"/>
              </a:rPr>
              <a:t>L1</a:t>
            </a:r>
            <a:r>
              <a:rPr lang="zh-CN" altLang="en-US" sz="2855" spc="300" dirty="0">
                <a:solidFill>
                  <a:srgbClr val="FFFFFF"/>
                </a:solidFill>
                <a:uFillTx/>
                <a:latin typeface="思源黑体 CN Bold" panose="020B0800000000000000" charset="-122"/>
                <a:ea typeface="思源黑体 CN Bold" panose="020B0800000000000000" charset="-122"/>
                <a:sym typeface="+mn-ea"/>
              </a:rPr>
              <a:t>控制系统</a:t>
            </a:r>
            <a:endParaRPr lang="en-US" altLang="zh-CN" sz="2855" spc="300" dirty="0">
              <a:solidFill>
                <a:srgbClr val="FFFFFF"/>
              </a:solidFill>
              <a:uFillTx/>
              <a:latin typeface="思源黑体 CN Bold" panose="020B0800000000000000" charset="-122"/>
              <a:ea typeface="思源黑体 CN Bold" panose="020B0800000000000000" charset="-122"/>
              <a:sym typeface="+mn-ea"/>
            </a:endParaRPr>
          </a:p>
          <a:p>
            <a:pPr algn="l"/>
            <a:r>
              <a:rPr lang="zh-CN" altLang="en-US" sz="2855" spc="300" dirty="0">
                <a:solidFill>
                  <a:srgbClr val="FFFFFF"/>
                </a:solidFill>
                <a:uFillTx/>
                <a:latin typeface="思源黑体 CN Bold" panose="020B0800000000000000" charset="-122"/>
                <a:ea typeface="思源黑体 CN Bold" panose="020B0800000000000000" charset="-122"/>
                <a:sym typeface="+mn-ea"/>
              </a:rPr>
              <a:t>升级</a:t>
            </a:r>
          </a:p>
        </p:txBody>
      </p:sp>
      <p:sp>
        <p:nvSpPr>
          <p:cNvPr id="57" name="椭圆 56"/>
          <p:cNvSpPr/>
          <p:nvPr>
            <p:custDataLst>
              <p:tags r:id="rId7"/>
            </p:custDataLst>
          </p:nvPr>
        </p:nvSpPr>
        <p:spPr>
          <a:xfrm>
            <a:off x="1212215" y="2822575"/>
            <a:ext cx="2538730" cy="2538730"/>
          </a:xfrm>
          <a:prstGeom prst="ellipse">
            <a:avLst/>
          </a:prstGeom>
          <a:noFill/>
          <a:ln>
            <a:solidFill>
              <a:srgbClr val="3366FE"/>
            </a:solid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sp>
        <p:nvSpPr>
          <p:cNvPr id="58" name="五边形 57"/>
          <p:cNvSpPr/>
          <p:nvPr>
            <p:custDataLst>
              <p:tags r:id="rId8"/>
            </p:custDataLst>
          </p:nvPr>
        </p:nvSpPr>
        <p:spPr>
          <a:xfrm>
            <a:off x="3876040" y="5365115"/>
            <a:ext cx="1920875" cy="466090"/>
          </a:xfrm>
          <a:prstGeom prst="homePlate">
            <a:avLst/>
          </a:prstGeom>
          <a:noFill/>
          <a:ln>
            <a:gradFill>
              <a:gsLst>
                <a:gs pos="0">
                  <a:srgbClr val="FFFFFF"/>
                </a:gs>
                <a:gs pos="100000">
                  <a:srgbClr val="AAE20A">
                    <a:lumMod val="40000"/>
                    <a:lumOff val="60000"/>
                  </a:srgbClr>
                </a:gs>
              </a:gsLst>
              <a:lin ang="0" scaled="1"/>
            </a:grad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59" name="五边形 58"/>
          <p:cNvSpPr/>
          <p:nvPr>
            <p:custDataLst>
              <p:tags r:id="rId9"/>
            </p:custDataLst>
          </p:nvPr>
        </p:nvSpPr>
        <p:spPr>
          <a:xfrm>
            <a:off x="3714750" y="5304790"/>
            <a:ext cx="2426065" cy="466090"/>
          </a:xfrm>
          <a:prstGeom prst="homePlate">
            <a:avLst/>
          </a:prstGeom>
          <a:gradFill>
            <a:gsLst>
              <a:gs pos="0">
                <a:srgbClr val="AAE20A">
                  <a:lumMod val="20000"/>
                  <a:lumOff val="80000"/>
                  <a:alpha val="15000"/>
                </a:srgbClr>
              </a:gs>
              <a:gs pos="100000">
                <a:srgbClr val="AAE20A">
                  <a:lumMod val="20000"/>
                  <a:lumOff val="80000"/>
                </a:srgbClr>
              </a:gs>
            </a:gsLst>
            <a:lin ang="0" scaled="0"/>
          </a:gra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60" name="椭圆 59"/>
          <p:cNvSpPr/>
          <p:nvPr>
            <p:custDataLst>
              <p:tags r:id="rId10"/>
            </p:custDataLst>
          </p:nvPr>
        </p:nvSpPr>
        <p:spPr>
          <a:xfrm>
            <a:off x="3545205" y="5278755"/>
            <a:ext cx="435610" cy="435610"/>
          </a:xfrm>
          <a:prstGeom prst="ellipse">
            <a:avLst/>
          </a:prstGeom>
          <a:solidFill>
            <a:srgbClr val="AAE20A"/>
          </a:soli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sp>
        <p:nvSpPr>
          <p:cNvPr id="61" name="文本框 60"/>
          <p:cNvSpPr txBox="1"/>
          <p:nvPr>
            <p:custDataLst>
              <p:tags r:id="rId11"/>
            </p:custDataLst>
          </p:nvPr>
        </p:nvSpPr>
        <p:spPr>
          <a:xfrm>
            <a:off x="3980815" y="5361305"/>
            <a:ext cx="2160000" cy="353060"/>
          </a:xfrm>
          <a:prstGeom prst="rect">
            <a:avLst/>
          </a:prstGeom>
          <a:noFill/>
        </p:spPr>
        <p:txBody>
          <a:bodyPr wrap="square" bIns="0" rtlCol="0">
            <a:normAutofit fontScale="92500"/>
          </a:bodyPr>
          <a:lstStyle/>
          <a:p>
            <a:pPr algn="l"/>
            <a:r>
              <a:rPr lang="zh-CN" altLang="en-US" sz="2000" spc="300">
                <a:solidFill>
                  <a:srgbClr val="2B040D"/>
                </a:solidFill>
                <a:uFillTx/>
                <a:latin typeface="思源黑体 CN Bold" panose="020B0800000000000000" charset="-122"/>
                <a:ea typeface="思源黑体 CN Bold" panose="020B0800000000000000" charset="-122"/>
              </a:rPr>
              <a:t>介质测量和控制</a:t>
            </a:r>
            <a:endParaRPr lang="zh-CN" altLang="en-US" sz="2000" spc="300" dirty="0">
              <a:solidFill>
                <a:srgbClr val="2B040D"/>
              </a:solidFill>
              <a:uFillTx/>
              <a:latin typeface="思源黑体 CN Bold" panose="020B0800000000000000" charset="-122"/>
              <a:ea typeface="思源黑体 CN Bold" panose="020B0800000000000000" charset="-122"/>
            </a:endParaRPr>
          </a:p>
        </p:txBody>
      </p:sp>
      <p:pic>
        <p:nvPicPr>
          <p:cNvPr id="62" name="图片 61" descr="333438303937363b333438313037383bcafdbeddb7d6cef6"/>
          <p:cNvPicPr>
            <a:picLocks noChangeAspect="1"/>
          </p:cNvPicPr>
          <p:nvPr>
            <p:custDataLst>
              <p:tags r:id="rId12"/>
            </p:custDataLst>
          </p:nvPr>
        </p:nvPicPr>
        <p:blipFill>
          <a:blip>
            <a:extLst>
              <a:ext uri="{96DAC541-7B7A-43D3-8B79-37D633B846F1}">
                <asvg:svgBlip xmlns:asvg="http://schemas.microsoft.com/office/drawing/2016/SVG/main" r:embed="rId28"/>
              </a:ext>
            </a:extLst>
          </a:blip>
          <a:stretch>
            <a:fillRect/>
          </a:stretch>
        </p:blipFill>
        <p:spPr>
          <a:xfrm>
            <a:off x="3636645" y="5370830"/>
            <a:ext cx="252095" cy="252095"/>
          </a:xfrm>
          <a:prstGeom prst="rect">
            <a:avLst/>
          </a:prstGeom>
        </p:spPr>
      </p:pic>
      <p:sp>
        <p:nvSpPr>
          <p:cNvPr id="63" name="五边形 62"/>
          <p:cNvSpPr/>
          <p:nvPr>
            <p:custDataLst>
              <p:tags r:id="rId13"/>
            </p:custDataLst>
          </p:nvPr>
        </p:nvSpPr>
        <p:spPr>
          <a:xfrm>
            <a:off x="4396105" y="3896995"/>
            <a:ext cx="1920875" cy="466090"/>
          </a:xfrm>
          <a:prstGeom prst="homePlate">
            <a:avLst/>
          </a:prstGeom>
          <a:noFill/>
          <a:ln>
            <a:gradFill>
              <a:gsLst>
                <a:gs pos="0">
                  <a:srgbClr val="FFFFFF"/>
                </a:gs>
                <a:gs pos="100000">
                  <a:srgbClr val="20E4F9">
                    <a:lumMod val="40000"/>
                    <a:lumOff val="60000"/>
                  </a:srgbClr>
                </a:gs>
              </a:gsLst>
              <a:lin ang="0" scaled="1"/>
            </a:grad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64" name="五边形 63"/>
          <p:cNvSpPr/>
          <p:nvPr>
            <p:custDataLst>
              <p:tags r:id="rId14"/>
            </p:custDataLst>
          </p:nvPr>
        </p:nvSpPr>
        <p:spPr>
          <a:xfrm>
            <a:off x="4209415" y="3838575"/>
            <a:ext cx="1920875" cy="466090"/>
          </a:xfrm>
          <a:prstGeom prst="homePlate">
            <a:avLst/>
          </a:prstGeom>
          <a:gradFill>
            <a:gsLst>
              <a:gs pos="0">
                <a:srgbClr val="20E4F9">
                  <a:lumMod val="20000"/>
                  <a:lumOff val="80000"/>
                  <a:alpha val="15000"/>
                </a:srgbClr>
              </a:gs>
              <a:gs pos="100000">
                <a:srgbClr val="20E4F9">
                  <a:lumMod val="20000"/>
                  <a:lumOff val="80000"/>
                </a:srgbClr>
              </a:gs>
            </a:gsLst>
            <a:lin ang="0" scaled="0"/>
          </a:gra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65" name="椭圆 64"/>
          <p:cNvSpPr/>
          <p:nvPr>
            <p:custDataLst>
              <p:tags r:id="rId15"/>
            </p:custDataLst>
          </p:nvPr>
        </p:nvSpPr>
        <p:spPr>
          <a:xfrm>
            <a:off x="4062730" y="3853815"/>
            <a:ext cx="435610" cy="435610"/>
          </a:xfrm>
          <a:prstGeom prst="ellipse">
            <a:avLst/>
          </a:prstGeom>
          <a:solidFill>
            <a:srgbClr val="20E4F9"/>
          </a:soli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sp>
        <p:nvSpPr>
          <p:cNvPr id="66" name="文本框 65"/>
          <p:cNvSpPr txBox="1"/>
          <p:nvPr>
            <p:custDataLst>
              <p:tags r:id="rId16"/>
            </p:custDataLst>
          </p:nvPr>
        </p:nvSpPr>
        <p:spPr>
          <a:xfrm>
            <a:off x="4475480" y="3895090"/>
            <a:ext cx="1598295" cy="353060"/>
          </a:xfrm>
          <a:prstGeom prst="rect">
            <a:avLst/>
          </a:prstGeom>
          <a:noFill/>
        </p:spPr>
        <p:txBody>
          <a:bodyPr wrap="square" bIns="0" rtlCol="0">
            <a:normAutofit/>
          </a:bodyPr>
          <a:lstStyle/>
          <a:p>
            <a:pPr algn="l"/>
            <a:r>
              <a:rPr lang="zh-CN" altLang="en-US" sz="2000" spc="300" dirty="0">
                <a:solidFill>
                  <a:srgbClr val="20E4F9"/>
                </a:solidFill>
                <a:uFillTx/>
                <a:latin typeface="思源黑体 CN Bold" panose="020B0800000000000000" charset="-122"/>
                <a:ea typeface="思源黑体 CN Bold" panose="020B0800000000000000" charset="-122"/>
              </a:rPr>
              <a:t>燃烧控制</a:t>
            </a:r>
          </a:p>
        </p:txBody>
      </p:sp>
      <p:pic>
        <p:nvPicPr>
          <p:cNvPr id="67" name="图片 66" descr="333438303937363b333438313038303bd7e9d6afbcdcb9b9"/>
          <p:cNvPicPr>
            <a:picLocks noChangeAspect="1"/>
          </p:cNvPicPr>
          <p:nvPr>
            <p:custDataLst>
              <p:tags r:id="rId17"/>
            </p:custDataLst>
          </p:nvPr>
        </p:nvPicPr>
        <p:blipFill>
          <a:blip>
            <a:extLst>
              <a:ext uri="{96DAC541-7B7A-43D3-8B79-37D633B846F1}">
                <asvg:svgBlip xmlns:asvg="http://schemas.microsoft.com/office/drawing/2016/SVG/main" r:embed="rId29"/>
              </a:ext>
            </a:extLst>
          </a:blip>
          <a:stretch>
            <a:fillRect/>
          </a:stretch>
        </p:blipFill>
        <p:spPr>
          <a:xfrm>
            <a:off x="4154170" y="3945890"/>
            <a:ext cx="252095" cy="252095"/>
          </a:xfrm>
          <a:prstGeom prst="rect">
            <a:avLst/>
          </a:prstGeom>
        </p:spPr>
      </p:pic>
      <p:sp>
        <p:nvSpPr>
          <p:cNvPr id="68" name="五边形 67"/>
          <p:cNvSpPr/>
          <p:nvPr>
            <p:custDataLst>
              <p:tags r:id="rId18"/>
            </p:custDataLst>
          </p:nvPr>
        </p:nvSpPr>
        <p:spPr>
          <a:xfrm>
            <a:off x="3519805" y="2458085"/>
            <a:ext cx="1920875" cy="466090"/>
          </a:xfrm>
          <a:prstGeom prst="homePlate">
            <a:avLst/>
          </a:prstGeom>
          <a:gradFill>
            <a:gsLst>
              <a:gs pos="0">
                <a:srgbClr val="3366FE">
                  <a:lumMod val="20000"/>
                  <a:lumOff val="80000"/>
                  <a:alpha val="15000"/>
                </a:srgbClr>
              </a:gs>
              <a:gs pos="100000">
                <a:srgbClr val="3366FE">
                  <a:lumMod val="20000"/>
                  <a:lumOff val="80000"/>
                </a:srgbClr>
              </a:gs>
            </a:gsLst>
            <a:lin ang="0" scaled="0"/>
          </a:gra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70" name="椭圆 69"/>
          <p:cNvSpPr/>
          <p:nvPr>
            <p:custDataLst>
              <p:tags r:id="rId19"/>
            </p:custDataLst>
          </p:nvPr>
        </p:nvSpPr>
        <p:spPr>
          <a:xfrm>
            <a:off x="3346450" y="2456815"/>
            <a:ext cx="435610" cy="435610"/>
          </a:xfrm>
          <a:prstGeom prst="ellipse">
            <a:avLst/>
          </a:prstGeom>
          <a:solidFill>
            <a:srgbClr val="3366FE"/>
          </a:soli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sp>
        <p:nvSpPr>
          <p:cNvPr id="71" name="文本框 70"/>
          <p:cNvSpPr txBox="1"/>
          <p:nvPr>
            <p:custDataLst>
              <p:tags r:id="rId20"/>
            </p:custDataLst>
          </p:nvPr>
        </p:nvSpPr>
        <p:spPr>
          <a:xfrm>
            <a:off x="3833495" y="2514600"/>
            <a:ext cx="1598295" cy="353060"/>
          </a:xfrm>
          <a:prstGeom prst="rect">
            <a:avLst/>
          </a:prstGeom>
          <a:noFill/>
        </p:spPr>
        <p:txBody>
          <a:bodyPr wrap="square" bIns="0" rtlCol="0">
            <a:normAutofit/>
          </a:bodyPr>
          <a:lstStyle/>
          <a:p>
            <a:pPr algn="l"/>
            <a:r>
              <a:rPr lang="zh-CN" altLang="en-US" sz="2000" spc="300" dirty="0">
                <a:solidFill>
                  <a:srgbClr val="3366FE"/>
                </a:solidFill>
                <a:uFillTx/>
                <a:latin typeface="思源黑体 CN Bold" panose="020B0800000000000000" charset="-122"/>
                <a:ea typeface="思源黑体 CN Bold" panose="020B0800000000000000" charset="-122"/>
              </a:rPr>
              <a:t>顺序控制</a:t>
            </a:r>
          </a:p>
        </p:txBody>
      </p:sp>
      <p:pic>
        <p:nvPicPr>
          <p:cNvPr id="73" name="图片 72" descr="333438303937363b333438313037323bcad0b3a1cdc6b9e3"/>
          <p:cNvPicPr>
            <a:picLocks noChangeAspect="1"/>
          </p:cNvPicPr>
          <p:nvPr>
            <p:custDataLst>
              <p:tags r:id="rId21"/>
            </p:custDataLst>
          </p:nvPr>
        </p:nvPicPr>
        <p:blipFill>
          <a:blip>
            <a:extLst>
              <a:ext uri="{96DAC541-7B7A-43D3-8B79-37D633B846F1}">
                <asvg:svgBlip xmlns:asvg="http://schemas.microsoft.com/office/drawing/2016/SVG/main" r:embed="rId30"/>
              </a:ext>
            </a:extLst>
          </a:blip>
          <a:stretch>
            <a:fillRect/>
          </a:stretch>
        </p:blipFill>
        <p:spPr>
          <a:xfrm>
            <a:off x="3437890" y="2548890"/>
            <a:ext cx="252095" cy="252095"/>
          </a:xfrm>
          <a:prstGeom prst="rect">
            <a:avLst/>
          </a:prstGeom>
        </p:spPr>
      </p:pic>
      <p:sp>
        <p:nvSpPr>
          <p:cNvPr id="1048957" name="任意多边形 9"/>
          <p:cNvSpPr/>
          <p:nvPr>
            <p:custDataLst>
              <p:tags r:id="rId22"/>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60" name="文本框 3"/>
          <p:cNvSpPr txBox="1"/>
          <p:nvPr>
            <p:custDataLst>
              <p:tags r:id="rId23"/>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实施</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nvGrpSpPr>
          <p:cNvPr id="2" name="组合 1">
            <a:extLst>
              <a:ext uri="{FF2B5EF4-FFF2-40B4-BE49-F238E27FC236}">
                <a16:creationId xmlns:a16="http://schemas.microsoft.com/office/drawing/2014/main" id="{964A65CE-7833-61DB-F582-F3009CA3555D}"/>
              </a:ext>
            </a:extLst>
          </p:cNvPr>
          <p:cNvGrpSpPr/>
          <p:nvPr/>
        </p:nvGrpSpPr>
        <p:grpSpPr>
          <a:xfrm>
            <a:off x="2054860" y="857885"/>
            <a:ext cx="2537460" cy="511810"/>
            <a:chOff x="2054860" y="857885"/>
            <a:chExt cx="1842135" cy="511810"/>
          </a:xfrm>
        </p:grpSpPr>
        <p:sp>
          <p:nvSpPr>
            <p:cNvPr id="1048961" name="燕尾形箭头 27"/>
            <p:cNvSpPr/>
            <p:nvPr>
              <p:custDataLst>
                <p:tags r:id="rId24"/>
              </p:custDataLst>
            </p:nvPr>
          </p:nvSpPr>
          <p:spPr bwMode="auto">
            <a:xfrm>
              <a:off x="2096135" y="857885"/>
              <a:ext cx="1800860" cy="511810"/>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70" name="文本框 28"/>
            <p:cNvSpPr txBox="1"/>
            <p:nvPr>
              <p:custDataLst>
                <p:tags r:id="rId25"/>
              </p:custDataLst>
            </p:nvPr>
          </p:nvSpPr>
          <p:spPr>
            <a:xfrm>
              <a:off x="2054860" y="904875"/>
              <a:ext cx="1826260" cy="445770"/>
            </a:xfrm>
            <a:prstGeom prst="rect">
              <a:avLst/>
            </a:prstGeom>
            <a:noFill/>
          </p:spPr>
          <p:txBody>
            <a:bodyPr wrap="square" rtlCol="0">
              <a:noAutofit/>
            </a:bodyPr>
            <a:lstStyle/>
            <a:p>
              <a:pPr algn="ctr"/>
              <a:r>
                <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L1</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控制系统升级</a:t>
              </a:r>
              <a:endPar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p:txBody>
        </p:sp>
      </p:grpSp>
      <p:pic>
        <p:nvPicPr>
          <p:cNvPr id="18" name="图片 17"/>
          <p:cNvPicPr/>
          <p:nvPr/>
        </p:nvPicPr>
        <p:blipFill>
          <a:blip r:embed="rId31" cstate="print">
            <a:extLst>
              <a:ext uri="{28A0092B-C50C-407E-A947-70E740481C1C}">
                <a14:useLocalDpi xmlns:a14="http://schemas.microsoft.com/office/drawing/2010/main" val="0"/>
              </a:ext>
            </a:extLst>
          </a:blip>
          <a:srcRect/>
          <a:stretch/>
        </p:blipFill>
        <p:spPr>
          <a:xfrm>
            <a:off x="6517005" y="4766078"/>
            <a:ext cx="2680065" cy="2009604"/>
          </a:xfrm>
          <a:prstGeom prst="rect">
            <a:avLst/>
          </a:prstGeom>
          <a:ln w="38100">
            <a:solidFill>
              <a:srgbClr val="FFFF00"/>
            </a:solidFill>
          </a:ln>
        </p:spPr>
      </p:pic>
      <p:pic>
        <p:nvPicPr>
          <p:cNvPr id="3" name="图片 2"/>
          <p:cNvPicPr/>
          <p:nvPr/>
        </p:nvPicPr>
        <p:blipFill>
          <a:blip r:embed="rId32" cstate="print">
            <a:extLst>
              <a:ext uri="{28A0092B-C50C-407E-A947-70E740481C1C}">
                <a14:useLocalDpi xmlns:a14="http://schemas.microsoft.com/office/drawing/2010/main" val="0"/>
              </a:ext>
            </a:extLst>
          </a:blip>
          <a:srcRect t="5538" b="5538"/>
          <a:stretch/>
        </p:blipFill>
        <p:spPr>
          <a:xfrm>
            <a:off x="5721258" y="1113790"/>
            <a:ext cx="3164003" cy="2360151"/>
          </a:xfrm>
          <a:prstGeom prst="rect">
            <a:avLst/>
          </a:prstGeom>
          <a:ln w="38100">
            <a:solidFill>
              <a:srgbClr val="FFFF00"/>
            </a:solidFill>
          </a:ln>
        </p:spPr>
      </p:pic>
      <p:pic>
        <p:nvPicPr>
          <p:cNvPr id="10" name="图片 9"/>
          <p:cNvPicPr/>
          <p:nvPr/>
        </p:nvPicPr>
        <p:blipFill>
          <a:blip r:embed="rId33" cstate="print">
            <a:extLst>
              <a:ext uri="{28A0092B-C50C-407E-A947-70E740481C1C}">
                <a14:useLocalDpi xmlns:a14="http://schemas.microsoft.com/office/drawing/2010/main" val="0"/>
              </a:ext>
            </a:extLst>
          </a:blip>
          <a:srcRect/>
          <a:stretch/>
        </p:blipFill>
        <p:spPr>
          <a:xfrm>
            <a:off x="9013440" y="2583406"/>
            <a:ext cx="2948170" cy="2078138"/>
          </a:xfrm>
          <a:prstGeom prst="rect">
            <a:avLst/>
          </a:prstGeom>
          <a:ln w="38100">
            <a:solidFill>
              <a:srgbClr val="FFFF00"/>
            </a:solid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8"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53" name="五边形 52"/>
          <p:cNvSpPr/>
          <p:nvPr>
            <p:custDataLst>
              <p:tags r:id="rId3"/>
            </p:custDataLst>
          </p:nvPr>
        </p:nvSpPr>
        <p:spPr>
          <a:xfrm>
            <a:off x="1731645" y="2458085"/>
            <a:ext cx="1920875" cy="466090"/>
          </a:xfrm>
          <a:prstGeom prst="homePlate">
            <a:avLst/>
          </a:prstGeom>
          <a:noFill/>
          <a:ln>
            <a:gradFill>
              <a:gsLst>
                <a:gs pos="0">
                  <a:srgbClr val="FFFFFF"/>
                </a:gs>
                <a:gs pos="100000">
                  <a:srgbClr val="3366FE">
                    <a:lumMod val="20000"/>
                    <a:lumOff val="80000"/>
                  </a:srgbClr>
                </a:gs>
              </a:gsLst>
              <a:lin ang="0" scaled="1"/>
            </a:grad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54" name="弧形 53"/>
          <p:cNvSpPr/>
          <p:nvPr>
            <p:custDataLst>
              <p:tags r:id="rId4"/>
            </p:custDataLst>
          </p:nvPr>
        </p:nvSpPr>
        <p:spPr>
          <a:xfrm>
            <a:off x="-1953895" y="2164715"/>
            <a:ext cx="3651250" cy="3859530"/>
          </a:xfrm>
          <a:prstGeom prst="arc">
            <a:avLst>
              <a:gd name="adj1" fmla="val 16200000"/>
              <a:gd name="adj2" fmla="val 5414109"/>
            </a:avLst>
          </a:prstGeom>
          <a:noFill/>
          <a:ln w="12700">
            <a:gradFill>
              <a:gsLst>
                <a:gs pos="0">
                  <a:srgbClr val="3366FE">
                    <a:alpha val="2000"/>
                  </a:srgbClr>
                </a:gs>
                <a:gs pos="100000">
                  <a:srgbClr val="3366FE"/>
                </a:gs>
              </a:gsLst>
              <a:lin ang="0" scaled="1"/>
            </a:gradFill>
          </a:ln>
        </p:spPr>
        <p:style>
          <a:lnRef idx="1">
            <a:srgbClr val="3366FE"/>
          </a:lnRef>
          <a:fillRef idx="0">
            <a:srgbClr val="3366FE"/>
          </a:fillRef>
          <a:effectRef idx="0">
            <a:srgbClr val="3366FE"/>
          </a:effectRef>
          <a:fontRef idx="minor">
            <a:srgbClr val="000000"/>
          </a:fontRef>
        </p:style>
        <p:txBody>
          <a:bodyPr rtlCol="0" anchor="ctr"/>
          <a:lstStyle/>
          <a:p>
            <a:pPr algn="ctr"/>
            <a:endParaRPr lang="zh-CN" altLang="en-US">
              <a:cs typeface="思源黑体 CN Regular" panose="020B0500000000000000" charset="-122"/>
            </a:endParaRPr>
          </a:p>
        </p:txBody>
      </p:sp>
      <p:sp>
        <p:nvSpPr>
          <p:cNvPr id="56" name="文本框 55"/>
          <p:cNvSpPr txBox="1"/>
          <p:nvPr>
            <p:custDataLst>
              <p:tags r:id="rId5"/>
            </p:custDataLst>
          </p:nvPr>
        </p:nvSpPr>
        <p:spPr>
          <a:xfrm>
            <a:off x="1315719" y="3888105"/>
            <a:ext cx="3017741" cy="357505"/>
          </a:xfrm>
          <a:prstGeom prst="rect">
            <a:avLst/>
          </a:prstGeom>
          <a:noFill/>
        </p:spPr>
        <p:txBody>
          <a:bodyPr wrap="none" bIns="0" rtlCol="0" anchor="ctr" anchorCtr="0">
            <a:normAutofit fontScale="85000" lnSpcReduction="20000"/>
          </a:bodyPr>
          <a:lstStyle/>
          <a:p>
            <a:pPr algn="l"/>
            <a:r>
              <a:rPr lang="zh-CN" altLang="en-US" sz="2855" spc="300" dirty="0">
                <a:solidFill>
                  <a:srgbClr val="FFFFFF"/>
                </a:solidFill>
                <a:uFillTx/>
                <a:latin typeface="思源黑体 CN Bold" panose="020B0800000000000000" charset="-122"/>
                <a:ea typeface="思源黑体 CN Bold" panose="020B0800000000000000" charset="-122"/>
                <a:sym typeface="+mn-ea"/>
              </a:rPr>
              <a:t>风冷线辊道优化</a:t>
            </a:r>
          </a:p>
        </p:txBody>
      </p:sp>
      <p:sp>
        <p:nvSpPr>
          <p:cNvPr id="58" name="五边形 57"/>
          <p:cNvSpPr/>
          <p:nvPr>
            <p:custDataLst>
              <p:tags r:id="rId6"/>
            </p:custDataLst>
          </p:nvPr>
        </p:nvSpPr>
        <p:spPr>
          <a:xfrm>
            <a:off x="1731645" y="5252085"/>
            <a:ext cx="1920875" cy="466090"/>
          </a:xfrm>
          <a:prstGeom prst="homePlate">
            <a:avLst/>
          </a:prstGeom>
          <a:noFill/>
          <a:ln>
            <a:gradFill>
              <a:gsLst>
                <a:gs pos="0">
                  <a:srgbClr val="FFFFFF"/>
                </a:gs>
                <a:gs pos="100000">
                  <a:srgbClr val="AAE20A">
                    <a:lumMod val="40000"/>
                    <a:lumOff val="60000"/>
                  </a:srgbClr>
                </a:gs>
              </a:gsLst>
              <a:lin ang="0" scaled="1"/>
            </a:grad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59" name="五边形 58"/>
          <p:cNvSpPr/>
          <p:nvPr>
            <p:custDataLst>
              <p:tags r:id="rId7"/>
            </p:custDataLst>
          </p:nvPr>
        </p:nvSpPr>
        <p:spPr>
          <a:xfrm>
            <a:off x="1570355" y="5191760"/>
            <a:ext cx="2393865" cy="466090"/>
          </a:xfrm>
          <a:prstGeom prst="homePlate">
            <a:avLst/>
          </a:prstGeom>
          <a:gradFill>
            <a:gsLst>
              <a:gs pos="0">
                <a:srgbClr val="AAE20A">
                  <a:lumMod val="20000"/>
                  <a:lumOff val="80000"/>
                  <a:alpha val="15000"/>
                </a:srgbClr>
              </a:gs>
              <a:gs pos="100000">
                <a:srgbClr val="AAE20A">
                  <a:lumMod val="20000"/>
                  <a:lumOff val="80000"/>
                </a:srgbClr>
              </a:gs>
            </a:gsLst>
            <a:lin ang="0" scaled="0"/>
          </a:gra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60" name="椭圆 59"/>
          <p:cNvSpPr/>
          <p:nvPr>
            <p:custDataLst>
              <p:tags r:id="rId8"/>
            </p:custDataLst>
          </p:nvPr>
        </p:nvSpPr>
        <p:spPr>
          <a:xfrm>
            <a:off x="1400810" y="5165725"/>
            <a:ext cx="435610" cy="435610"/>
          </a:xfrm>
          <a:prstGeom prst="ellipse">
            <a:avLst/>
          </a:prstGeom>
          <a:solidFill>
            <a:srgbClr val="AAE20A"/>
          </a:soli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sp>
        <p:nvSpPr>
          <p:cNvPr id="61" name="文本框 60"/>
          <p:cNvSpPr txBox="1"/>
          <p:nvPr>
            <p:custDataLst>
              <p:tags r:id="rId9"/>
            </p:custDataLst>
          </p:nvPr>
        </p:nvSpPr>
        <p:spPr>
          <a:xfrm>
            <a:off x="1836420" y="5248274"/>
            <a:ext cx="2315295" cy="379095"/>
          </a:xfrm>
          <a:prstGeom prst="rect">
            <a:avLst/>
          </a:prstGeom>
          <a:noFill/>
        </p:spPr>
        <p:txBody>
          <a:bodyPr wrap="square" bIns="0" rtlCol="0">
            <a:noAutofit/>
          </a:bodyPr>
          <a:lstStyle/>
          <a:p>
            <a:pPr algn="l"/>
            <a:r>
              <a:rPr lang="zh-CN" altLang="en-US" sz="2000" spc="300" dirty="0">
                <a:solidFill>
                  <a:srgbClr val="2B040D"/>
                </a:solidFill>
                <a:uFillTx/>
                <a:latin typeface="思源黑体 CN Bold" panose="020B0800000000000000" charset="-122"/>
                <a:ea typeface="思源黑体 CN Bold" panose="020B0800000000000000" charset="-122"/>
              </a:rPr>
              <a:t>新增残氧显示</a:t>
            </a:r>
          </a:p>
        </p:txBody>
      </p:sp>
      <p:pic>
        <p:nvPicPr>
          <p:cNvPr id="62" name="图片 61" descr="333438303937363b333438313037383bcafdbeddb7d6cef6"/>
          <p:cNvPicPr>
            <a:picLocks noChangeAspect="1"/>
          </p:cNvPicPr>
          <p:nvPr>
            <p:custDataLst>
              <p:tags r:id="rId10"/>
            </p:custDataLst>
          </p:nvPr>
        </p:nvPicPr>
        <p:blipFill>
          <a:blip>
            <a:extLst>
              <a:ext uri="{96DAC541-7B7A-43D3-8B79-37D633B846F1}">
                <asvg:svgBlip xmlns:asvg="http://schemas.microsoft.com/office/drawing/2016/SVG/main" r:embed="rId26"/>
              </a:ext>
            </a:extLst>
          </a:blip>
          <a:stretch>
            <a:fillRect/>
          </a:stretch>
        </p:blipFill>
        <p:spPr>
          <a:xfrm>
            <a:off x="1492250" y="5257800"/>
            <a:ext cx="252095" cy="252095"/>
          </a:xfrm>
          <a:prstGeom prst="rect">
            <a:avLst/>
          </a:prstGeom>
        </p:spPr>
      </p:pic>
      <p:grpSp>
        <p:nvGrpSpPr>
          <p:cNvPr id="16" name="组合 15">
            <a:extLst>
              <a:ext uri="{FF2B5EF4-FFF2-40B4-BE49-F238E27FC236}">
                <a16:creationId xmlns:a16="http://schemas.microsoft.com/office/drawing/2014/main" id="{0B97A69B-6347-76EA-105C-368E41525875}"/>
              </a:ext>
            </a:extLst>
          </p:cNvPr>
          <p:cNvGrpSpPr/>
          <p:nvPr/>
        </p:nvGrpSpPr>
        <p:grpSpPr>
          <a:xfrm>
            <a:off x="1416050" y="3738245"/>
            <a:ext cx="3841142" cy="466090"/>
            <a:chOff x="1416050" y="3738245"/>
            <a:chExt cx="3551039" cy="466090"/>
          </a:xfrm>
        </p:grpSpPr>
        <p:sp>
          <p:nvSpPr>
            <p:cNvPr id="64" name="五边形 63"/>
            <p:cNvSpPr/>
            <p:nvPr>
              <p:custDataLst>
                <p:tags r:id="rId22"/>
              </p:custDataLst>
            </p:nvPr>
          </p:nvSpPr>
          <p:spPr>
            <a:xfrm>
              <a:off x="1562735" y="3738245"/>
              <a:ext cx="3404354" cy="466090"/>
            </a:xfrm>
            <a:prstGeom prst="homePlate">
              <a:avLst/>
            </a:prstGeom>
            <a:gradFill>
              <a:gsLst>
                <a:gs pos="0">
                  <a:srgbClr val="20E4F9">
                    <a:lumMod val="20000"/>
                    <a:lumOff val="80000"/>
                    <a:alpha val="15000"/>
                  </a:srgbClr>
                </a:gs>
                <a:gs pos="100000">
                  <a:srgbClr val="20E4F9">
                    <a:lumMod val="20000"/>
                    <a:lumOff val="80000"/>
                  </a:srgbClr>
                </a:gs>
              </a:gsLst>
              <a:lin ang="0" scaled="0"/>
            </a:gra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dirty="0"/>
            </a:p>
          </p:txBody>
        </p:sp>
        <p:sp>
          <p:nvSpPr>
            <p:cNvPr id="65" name="椭圆 64"/>
            <p:cNvSpPr/>
            <p:nvPr>
              <p:custDataLst>
                <p:tags r:id="rId23"/>
              </p:custDataLst>
            </p:nvPr>
          </p:nvSpPr>
          <p:spPr>
            <a:xfrm>
              <a:off x="1416050" y="3753485"/>
              <a:ext cx="435610" cy="435610"/>
            </a:xfrm>
            <a:prstGeom prst="ellipse">
              <a:avLst/>
            </a:prstGeom>
            <a:solidFill>
              <a:srgbClr val="20E4F9"/>
            </a:soli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grpSp>
      <p:grpSp>
        <p:nvGrpSpPr>
          <p:cNvPr id="20" name="组合 19">
            <a:extLst>
              <a:ext uri="{FF2B5EF4-FFF2-40B4-BE49-F238E27FC236}">
                <a16:creationId xmlns:a16="http://schemas.microsoft.com/office/drawing/2014/main" id="{B7333555-A7EF-2966-9354-1016660D5ED3}"/>
              </a:ext>
            </a:extLst>
          </p:cNvPr>
          <p:cNvGrpSpPr/>
          <p:nvPr/>
        </p:nvGrpSpPr>
        <p:grpSpPr>
          <a:xfrm>
            <a:off x="1749424" y="3796665"/>
            <a:ext cx="3618865" cy="466090"/>
            <a:chOff x="1749425" y="3796665"/>
            <a:chExt cx="2730720" cy="466090"/>
          </a:xfrm>
        </p:grpSpPr>
        <p:sp>
          <p:nvSpPr>
            <p:cNvPr id="63" name="五边形 62"/>
            <p:cNvSpPr/>
            <p:nvPr>
              <p:custDataLst>
                <p:tags r:id="rId20"/>
              </p:custDataLst>
            </p:nvPr>
          </p:nvSpPr>
          <p:spPr>
            <a:xfrm>
              <a:off x="1749425" y="3796665"/>
              <a:ext cx="2730720" cy="466090"/>
            </a:xfrm>
            <a:prstGeom prst="homePlate">
              <a:avLst/>
            </a:prstGeom>
            <a:noFill/>
            <a:ln>
              <a:gradFill>
                <a:gsLst>
                  <a:gs pos="0">
                    <a:srgbClr val="FFFFFF"/>
                  </a:gs>
                  <a:gs pos="100000">
                    <a:srgbClr val="20E4F9">
                      <a:lumMod val="40000"/>
                      <a:lumOff val="60000"/>
                    </a:srgbClr>
                  </a:gs>
                </a:gsLst>
                <a:lin ang="0" scaled="1"/>
              </a:grad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66" name="文本框 65"/>
            <p:cNvSpPr txBox="1"/>
            <p:nvPr>
              <p:custDataLst>
                <p:tags r:id="rId21"/>
              </p:custDataLst>
            </p:nvPr>
          </p:nvSpPr>
          <p:spPr>
            <a:xfrm>
              <a:off x="1828800" y="3816350"/>
              <a:ext cx="2556730" cy="331470"/>
            </a:xfrm>
            <a:prstGeom prst="rect">
              <a:avLst/>
            </a:prstGeom>
            <a:noFill/>
          </p:spPr>
          <p:txBody>
            <a:bodyPr wrap="square" bIns="0" rtlCol="0">
              <a:normAutofit fontScale="92500" lnSpcReduction="10000"/>
            </a:bodyPr>
            <a:lstStyle/>
            <a:p>
              <a:pPr algn="l"/>
              <a:r>
                <a:rPr lang="zh-CN" altLang="en-US" sz="2000" spc="300" dirty="0">
                  <a:solidFill>
                    <a:srgbClr val="20E4F9"/>
                  </a:solidFill>
                  <a:uFillTx/>
                  <a:latin typeface="思源黑体 CN Bold" panose="020B0800000000000000" charset="-122"/>
                  <a:ea typeface="思源黑体 CN Bold" panose="020B0800000000000000" charset="-122"/>
                </a:rPr>
                <a:t> 新增热值分析仪显示</a:t>
              </a:r>
            </a:p>
          </p:txBody>
        </p:sp>
      </p:grpSp>
      <p:pic>
        <p:nvPicPr>
          <p:cNvPr id="67" name="图片 66" descr="333438303937363b333438313038303bd7e9d6afbcdcb9b9"/>
          <p:cNvPicPr>
            <a:picLocks noChangeAspect="1"/>
          </p:cNvPicPr>
          <p:nvPr>
            <p:custDataLst>
              <p:tags r:id="rId11"/>
            </p:custDataLst>
          </p:nvPr>
        </p:nvPicPr>
        <p:blipFill>
          <a:blip>
            <a:extLst>
              <a:ext uri="{96DAC541-7B7A-43D3-8B79-37D633B846F1}">
                <asvg:svgBlip xmlns:asvg="http://schemas.microsoft.com/office/drawing/2016/SVG/main" r:embed="rId27"/>
              </a:ext>
            </a:extLst>
          </a:blip>
          <a:stretch>
            <a:fillRect/>
          </a:stretch>
        </p:blipFill>
        <p:spPr>
          <a:xfrm>
            <a:off x="1507490" y="3845560"/>
            <a:ext cx="252095" cy="252095"/>
          </a:xfrm>
          <a:prstGeom prst="rect">
            <a:avLst/>
          </a:prstGeom>
        </p:spPr>
      </p:pic>
      <p:sp>
        <p:nvSpPr>
          <p:cNvPr id="70" name="椭圆 69"/>
          <p:cNvSpPr/>
          <p:nvPr>
            <p:custDataLst>
              <p:tags r:id="rId12"/>
            </p:custDataLst>
          </p:nvPr>
        </p:nvSpPr>
        <p:spPr>
          <a:xfrm>
            <a:off x="1405890" y="2400300"/>
            <a:ext cx="435610" cy="435610"/>
          </a:xfrm>
          <a:prstGeom prst="ellipse">
            <a:avLst/>
          </a:prstGeom>
          <a:solidFill>
            <a:srgbClr val="3366FE"/>
          </a:soli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cs typeface="思源黑体 CN Regular" panose="020B0500000000000000" charset="-122"/>
            </a:endParaRPr>
          </a:p>
        </p:txBody>
      </p:sp>
      <p:grpSp>
        <p:nvGrpSpPr>
          <p:cNvPr id="14" name="组合 13">
            <a:extLst>
              <a:ext uri="{FF2B5EF4-FFF2-40B4-BE49-F238E27FC236}">
                <a16:creationId xmlns:a16="http://schemas.microsoft.com/office/drawing/2014/main" id="{B1AEE345-77B7-BA3D-39DF-B4E14F4B6321}"/>
              </a:ext>
            </a:extLst>
          </p:cNvPr>
          <p:cNvGrpSpPr/>
          <p:nvPr/>
        </p:nvGrpSpPr>
        <p:grpSpPr>
          <a:xfrm>
            <a:off x="1579245" y="2401570"/>
            <a:ext cx="4066181" cy="466090"/>
            <a:chOff x="1579245" y="2401570"/>
            <a:chExt cx="1920875" cy="466090"/>
          </a:xfrm>
        </p:grpSpPr>
        <p:sp>
          <p:nvSpPr>
            <p:cNvPr id="68" name="五边形 67"/>
            <p:cNvSpPr/>
            <p:nvPr>
              <p:custDataLst>
                <p:tags r:id="rId18"/>
              </p:custDataLst>
            </p:nvPr>
          </p:nvSpPr>
          <p:spPr>
            <a:xfrm>
              <a:off x="1579245" y="2401570"/>
              <a:ext cx="1920875" cy="466090"/>
            </a:xfrm>
            <a:prstGeom prst="homePlate">
              <a:avLst/>
            </a:prstGeom>
            <a:gradFill>
              <a:gsLst>
                <a:gs pos="0">
                  <a:srgbClr val="3366FE">
                    <a:lumMod val="20000"/>
                    <a:lumOff val="80000"/>
                    <a:alpha val="15000"/>
                  </a:srgbClr>
                </a:gs>
                <a:gs pos="100000">
                  <a:srgbClr val="3366FE">
                    <a:lumMod val="20000"/>
                    <a:lumOff val="80000"/>
                  </a:srgbClr>
                </a:gs>
              </a:gsLst>
              <a:lin ang="0" scaled="0"/>
            </a:gradFill>
            <a:ln>
              <a:noFill/>
            </a:ln>
          </p:spPr>
          <p:style>
            <a:lnRef idx="2">
              <a:srgbClr val="3366FE">
                <a:shade val="50000"/>
              </a:srgbClr>
            </a:lnRef>
            <a:fillRef idx="1">
              <a:srgbClr val="3366FE"/>
            </a:fillRef>
            <a:effectRef idx="0">
              <a:srgbClr val="3366FE"/>
            </a:effectRef>
            <a:fontRef idx="minor">
              <a:srgbClr val="FFFFFF"/>
            </a:fontRef>
          </p:style>
          <p:txBody>
            <a:bodyPr rtlCol="0" anchor="ctr"/>
            <a:lstStyle/>
            <a:p>
              <a:pPr algn="ctr"/>
              <a:endParaRPr lang="zh-CN" altLang="en-US"/>
            </a:p>
          </p:txBody>
        </p:sp>
        <p:sp>
          <p:nvSpPr>
            <p:cNvPr id="71" name="文本框 70"/>
            <p:cNvSpPr txBox="1"/>
            <p:nvPr>
              <p:custDataLst>
                <p:tags r:id="rId19"/>
              </p:custDataLst>
            </p:nvPr>
          </p:nvSpPr>
          <p:spPr>
            <a:xfrm>
              <a:off x="1660611" y="2441575"/>
              <a:ext cx="1839509" cy="322580"/>
            </a:xfrm>
            <a:prstGeom prst="rect">
              <a:avLst/>
            </a:prstGeom>
            <a:noFill/>
          </p:spPr>
          <p:txBody>
            <a:bodyPr wrap="square" bIns="0" rtlCol="0">
              <a:noAutofit/>
            </a:bodyPr>
            <a:lstStyle/>
            <a:p>
              <a:r>
                <a:rPr lang="en-US" altLang="zh-CN" sz="2000" spc="300" dirty="0">
                  <a:solidFill>
                    <a:srgbClr val="3366FE"/>
                  </a:solidFill>
                  <a:uFillTx/>
                  <a:latin typeface="思源黑体 CN Bold" panose="020B0800000000000000" charset="-122"/>
                  <a:ea typeface="思源黑体 CN Bold" panose="020B0800000000000000" charset="-122"/>
                </a:rPr>
                <a:t> </a:t>
              </a:r>
              <a:r>
                <a:rPr lang="zh-CN" altLang="en-US" sz="2000" spc="300" dirty="0">
                  <a:solidFill>
                    <a:srgbClr val="3366FE"/>
                  </a:solidFill>
                  <a:uFillTx/>
                  <a:latin typeface="思源黑体 CN Bold" panose="020B0800000000000000" charset="-122"/>
                  <a:ea typeface="思源黑体 CN Bold" panose="020B0800000000000000" charset="-122"/>
                </a:rPr>
                <a:t>新增</a:t>
              </a:r>
              <a:r>
                <a:rPr lang="zh-CN" altLang="zh-CN" sz="2000" spc="300" dirty="0">
                  <a:solidFill>
                    <a:srgbClr val="3366FE"/>
                  </a:solidFill>
                  <a:ea typeface="思源黑体 CN Bold" panose="020B0800000000000000" charset="-122"/>
                </a:rPr>
                <a:t>调节阀以及</a:t>
              </a:r>
              <a:r>
                <a:rPr lang="zh-CN" altLang="en-US" sz="2000" spc="300" dirty="0">
                  <a:solidFill>
                    <a:srgbClr val="3366FE"/>
                  </a:solidFill>
                  <a:uFillTx/>
                  <a:latin typeface="思源黑体 CN Bold" panose="020B0800000000000000" charset="-122"/>
                  <a:ea typeface="思源黑体 CN Bold" panose="020B0800000000000000" charset="-122"/>
                </a:rPr>
                <a:t>流量计显示</a:t>
              </a:r>
            </a:p>
          </p:txBody>
        </p:sp>
      </p:grpSp>
      <p:pic>
        <p:nvPicPr>
          <p:cNvPr id="73" name="图片 72" descr="333438303937363b333438313037323bcad0b3a1cdc6b9e3"/>
          <p:cNvPicPr>
            <a:picLocks noChangeAspect="1"/>
          </p:cNvPicPr>
          <p:nvPr>
            <p:custDataLst>
              <p:tags r:id="rId13"/>
            </p:custDataLst>
          </p:nvPr>
        </p:nvPicPr>
        <p:blipFill>
          <a:blip>
            <a:extLst>
              <a:ext uri="{96DAC541-7B7A-43D3-8B79-37D633B846F1}">
                <asvg:svgBlip xmlns:asvg="http://schemas.microsoft.com/office/drawing/2016/SVG/main" r:embed="rId28"/>
              </a:ext>
            </a:extLst>
          </a:blip>
          <a:stretch>
            <a:fillRect/>
          </a:stretch>
        </p:blipFill>
        <p:spPr>
          <a:xfrm>
            <a:off x="1497330" y="2492375"/>
            <a:ext cx="252095" cy="252095"/>
          </a:xfrm>
          <a:prstGeom prst="rect">
            <a:avLst/>
          </a:prstGeom>
        </p:spPr>
      </p:pic>
      <p:sp>
        <p:nvSpPr>
          <p:cNvPr id="13" name="右箭头 12"/>
          <p:cNvSpPr/>
          <p:nvPr/>
        </p:nvSpPr>
        <p:spPr>
          <a:xfrm>
            <a:off x="4068996" y="5095518"/>
            <a:ext cx="4020214" cy="73914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任意多边形 9">
            <a:extLst>
              <a:ext uri="{FF2B5EF4-FFF2-40B4-BE49-F238E27FC236}">
                <a16:creationId xmlns:a16="http://schemas.microsoft.com/office/drawing/2014/main" id="{6C51D137-53FE-509C-1B53-ACEEF83C54DA}"/>
              </a:ext>
            </a:extLst>
          </p:cNvPr>
          <p:cNvSpPr/>
          <p:nvPr>
            <p:custDataLst>
              <p:tags r:id="rId14"/>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4" name="文本框 3">
            <a:extLst>
              <a:ext uri="{FF2B5EF4-FFF2-40B4-BE49-F238E27FC236}">
                <a16:creationId xmlns:a16="http://schemas.microsoft.com/office/drawing/2014/main" id="{953CD142-9D0D-9BD8-AFAB-D916BE907323}"/>
              </a:ext>
            </a:extLst>
          </p:cNvPr>
          <p:cNvSpPr txBox="1"/>
          <p:nvPr>
            <p:custDataLst>
              <p:tags r:id="rId15"/>
            </p:custDataLst>
          </p:nvPr>
        </p:nvSpPr>
        <p:spPr>
          <a:xfrm>
            <a:off x="525145" y="887095"/>
            <a:ext cx="1355725" cy="430887"/>
          </a:xfrm>
          <a:prstGeom prst="rect">
            <a:avLst/>
          </a:prstGeom>
          <a:noFill/>
        </p:spPr>
        <p:txBody>
          <a:bodyPr wrap="square" rtlCol="0">
            <a:spAutoFit/>
          </a:bodyPr>
          <a:lstStyle/>
          <a:p>
            <a:pPr algn="ctr"/>
            <a:r>
              <a:rPr lang="zh-CN" altLang="en-US" sz="2200" b="1" dirty="0">
                <a:solidFill>
                  <a:prstClr val="white"/>
                </a:solidFill>
                <a:latin typeface="微软雅黑" panose="020B0503020204020204" charset="-122"/>
                <a:cs typeface="Calibri" panose="020F0502020204030204" charset="0"/>
                <a:sym typeface="+mn-ea"/>
              </a:rPr>
              <a:t>实施</a:t>
            </a:r>
            <a:r>
              <a:rPr lang="zh-CN" altLang="en-US" sz="2200" b="1" dirty="0">
                <a:solidFill>
                  <a:prstClr val="white"/>
                </a:solidFill>
                <a:latin typeface="微软雅黑" panose="020B0503020204020204" charset="-122"/>
                <a:ea typeface="微软雅黑" panose="020B0503020204020204" charset="-122"/>
                <a:cs typeface="Calibri" panose="020F0502020204030204" charset="0"/>
                <a:sym typeface="+mn-ea"/>
              </a:rPr>
              <a:t>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nvGrpSpPr>
          <p:cNvPr id="6" name="组合 5">
            <a:extLst>
              <a:ext uri="{FF2B5EF4-FFF2-40B4-BE49-F238E27FC236}">
                <a16:creationId xmlns:a16="http://schemas.microsoft.com/office/drawing/2014/main" id="{32A4FE38-DB13-6EF9-D982-CC0FE53A7E8A}"/>
              </a:ext>
            </a:extLst>
          </p:cNvPr>
          <p:cNvGrpSpPr/>
          <p:nvPr/>
        </p:nvGrpSpPr>
        <p:grpSpPr>
          <a:xfrm>
            <a:off x="2054860" y="857885"/>
            <a:ext cx="2537460" cy="511810"/>
            <a:chOff x="2054860" y="857885"/>
            <a:chExt cx="1842135" cy="511810"/>
          </a:xfrm>
        </p:grpSpPr>
        <p:sp>
          <p:nvSpPr>
            <p:cNvPr id="8" name="燕尾形箭头 27">
              <a:extLst>
                <a:ext uri="{FF2B5EF4-FFF2-40B4-BE49-F238E27FC236}">
                  <a16:creationId xmlns:a16="http://schemas.microsoft.com/office/drawing/2014/main" id="{2FBC0DCB-C0CF-7026-9EE0-8F776BFAA501}"/>
                </a:ext>
              </a:extLst>
            </p:cNvPr>
            <p:cNvSpPr/>
            <p:nvPr>
              <p:custDataLst>
                <p:tags r:id="rId16"/>
              </p:custDataLst>
            </p:nvPr>
          </p:nvSpPr>
          <p:spPr bwMode="auto">
            <a:xfrm>
              <a:off x="2096135" y="857885"/>
              <a:ext cx="1800860" cy="511810"/>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9" name="文本框 28">
              <a:extLst>
                <a:ext uri="{FF2B5EF4-FFF2-40B4-BE49-F238E27FC236}">
                  <a16:creationId xmlns:a16="http://schemas.microsoft.com/office/drawing/2014/main" id="{00EA83ED-484F-CEA3-C77D-F2346014A172}"/>
                </a:ext>
              </a:extLst>
            </p:cNvPr>
            <p:cNvSpPr txBox="1"/>
            <p:nvPr>
              <p:custDataLst>
                <p:tags r:id="rId17"/>
              </p:custDataLst>
            </p:nvPr>
          </p:nvSpPr>
          <p:spPr>
            <a:xfrm>
              <a:off x="2054860" y="904875"/>
              <a:ext cx="1826260" cy="445770"/>
            </a:xfrm>
            <a:prstGeom prst="rect">
              <a:avLst/>
            </a:prstGeom>
            <a:noFill/>
          </p:spPr>
          <p:txBody>
            <a:bodyPr wrap="square" rtlCol="0">
              <a:noAutofit/>
            </a:bodyPr>
            <a:lstStyle/>
            <a:p>
              <a:pPr algn="ctr"/>
              <a:r>
                <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L1</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控制系统升级</a:t>
              </a:r>
              <a:endPar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p:txBody>
        </p:sp>
      </p:grpSp>
      <p:pic>
        <p:nvPicPr>
          <p:cNvPr id="22" name="图片 21">
            <a:extLst>
              <a:ext uri="{FF2B5EF4-FFF2-40B4-BE49-F238E27FC236}">
                <a16:creationId xmlns:a16="http://schemas.microsoft.com/office/drawing/2014/main" id="{C89177CF-F3FE-3F8C-6911-9CC640D3A60D}"/>
              </a:ext>
            </a:extLst>
          </p:cNvPr>
          <p:cNvPicPr>
            <a:picLocks noChangeAspect="1"/>
          </p:cNvPicPr>
          <p:nvPr/>
        </p:nvPicPr>
        <p:blipFill>
          <a:blip r:embed="rId29">
            <a:extLst>
              <a:ext uri="{28A0092B-C50C-407E-A947-70E740481C1C}">
                <a14:useLocalDpi xmlns:a14="http://schemas.microsoft.com/office/drawing/2010/main" val="0"/>
              </a:ext>
            </a:extLst>
          </a:blip>
          <a:srcRect l="30095" t="33188" r="18005" b="56034"/>
          <a:stretch>
            <a:fillRect/>
          </a:stretch>
        </p:blipFill>
        <p:spPr>
          <a:xfrm>
            <a:off x="8005772" y="3688365"/>
            <a:ext cx="3876163" cy="603951"/>
          </a:xfrm>
          <a:prstGeom prst="rect">
            <a:avLst/>
          </a:prstGeom>
        </p:spPr>
      </p:pic>
      <p:pic>
        <p:nvPicPr>
          <p:cNvPr id="24" name="图片 23">
            <a:extLst>
              <a:ext uri="{FF2B5EF4-FFF2-40B4-BE49-F238E27FC236}">
                <a16:creationId xmlns:a16="http://schemas.microsoft.com/office/drawing/2014/main" id="{D067A133-1691-AC66-5B61-B9C2AB57A760}"/>
              </a:ext>
            </a:extLst>
          </p:cNvPr>
          <p:cNvPicPr>
            <a:picLocks noChangeAspect="1"/>
          </p:cNvPicPr>
          <p:nvPr/>
        </p:nvPicPr>
        <p:blipFill>
          <a:blip r:embed="rId29">
            <a:extLst>
              <a:ext uri="{28A0092B-C50C-407E-A947-70E740481C1C}">
                <a14:useLocalDpi xmlns:a14="http://schemas.microsoft.com/office/drawing/2010/main" val="0"/>
              </a:ext>
            </a:extLst>
          </a:blip>
          <a:srcRect l="33310" t="44378" r="32414" b="45269"/>
          <a:stretch>
            <a:fillRect/>
          </a:stretch>
        </p:blipFill>
        <p:spPr>
          <a:xfrm>
            <a:off x="8327443" y="5093530"/>
            <a:ext cx="3132952" cy="710013"/>
          </a:xfrm>
          <a:prstGeom prst="rect">
            <a:avLst/>
          </a:prstGeom>
        </p:spPr>
      </p:pic>
      <p:sp>
        <p:nvSpPr>
          <p:cNvPr id="26" name="右箭头 12">
            <a:extLst>
              <a:ext uri="{FF2B5EF4-FFF2-40B4-BE49-F238E27FC236}">
                <a16:creationId xmlns:a16="http://schemas.microsoft.com/office/drawing/2014/main" id="{D4C4A953-3886-E908-7239-5647823713A3}"/>
              </a:ext>
            </a:extLst>
          </p:cNvPr>
          <p:cNvSpPr/>
          <p:nvPr/>
        </p:nvSpPr>
        <p:spPr>
          <a:xfrm>
            <a:off x="5473480" y="3620771"/>
            <a:ext cx="2427101" cy="73914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8" name="右箭头 12">
            <a:extLst>
              <a:ext uri="{FF2B5EF4-FFF2-40B4-BE49-F238E27FC236}">
                <a16:creationId xmlns:a16="http://schemas.microsoft.com/office/drawing/2014/main" id="{2EB3E3CA-0162-EE2C-74CC-548C6FFB0809}"/>
              </a:ext>
            </a:extLst>
          </p:cNvPr>
          <p:cNvSpPr/>
          <p:nvPr/>
        </p:nvSpPr>
        <p:spPr>
          <a:xfrm>
            <a:off x="5727341" y="2214337"/>
            <a:ext cx="3374951" cy="73914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0" name="图片 29">
            <a:extLst>
              <a:ext uri="{FF2B5EF4-FFF2-40B4-BE49-F238E27FC236}">
                <a16:creationId xmlns:a16="http://schemas.microsoft.com/office/drawing/2014/main" id="{663F88FD-3142-374A-17AE-5D9B1929C602}"/>
              </a:ext>
            </a:extLst>
          </p:cNvPr>
          <p:cNvPicPr>
            <a:picLocks noChangeAspect="1"/>
          </p:cNvPicPr>
          <p:nvPr/>
        </p:nvPicPr>
        <p:blipFill>
          <a:blip r:embed="rId30" cstate="print">
            <a:extLst>
              <a:ext uri="{28A0092B-C50C-407E-A947-70E740481C1C}">
                <a14:useLocalDpi xmlns:a14="http://schemas.microsoft.com/office/drawing/2010/main" val="0"/>
              </a:ext>
            </a:extLst>
          </a:blip>
          <a:srcRect l="-1" t="28696" r="59970" b="23334"/>
          <a:stretch>
            <a:fillRect/>
          </a:stretch>
        </p:blipFill>
        <p:spPr>
          <a:xfrm>
            <a:off x="9246437" y="1167284"/>
            <a:ext cx="2480606" cy="2297715"/>
          </a:xfrm>
          <a:prstGeom prst="rect">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EEAEB9F-04A7-8B25-7096-2EFEFB4881FE}"/>
            </a:ext>
          </a:extLst>
        </p:cNvPr>
        <p:cNvGrpSpPr/>
        <p:nvPr/>
      </p:nvGrpSpPr>
      <p:grpSpPr>
        <a:xfrm>
          <a:off x="0" y="0"/>
          <a:ext cx="0" cy="0"/>
          <a:chOff x="0" y="0"/>
          <a:chExt cx="0" cy="0"/>
        </a:xfrm>
      </p:grpSpPr>
      <p:sp>
        <p:nvSpPr>
          <p:cNvPr id="1048828" name="矩形 17">
            <a:extLst>
              <a:ext uri="{FF2B5EF4-FFF2-40B4-BE49-F238E27FC236}">
                <a16:creationId xmlns:a16="http://schemas.microsoft.com/office/drawing/2014/main" id="{81D538C8-69C1-DACB-F413-A688278EEE1D}"/>
              </a:ext>
            </a:extLst>
          </p:cNvPr>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4" name="文本框 3">
            <a:extLst>
              <a:ext uri="{FF2B5EF4-FFF2-40B4-BE49-F238E27FC236}">
                <a16:creationId xmlns:a16="http://schemas.microsoft.com/office/drawing/2014/main" id="{967C95C8-885A-BA6F-63ED-83C7071C74B6}"/>
              </a:ext>
            </a:extLst>
          </p:cNvPr>
          <p:cNvSpPr txBox="1"/>
          <p:nvPr/>
        </p:nvSpPr>
        <p:spPr>
          <a:xfrm>
            <a:off x="459739" y="1551500"/>
            <a:ext cx="11238617" cy="5025735"/>
          </a:xfrm>
          <a:prstGeom prst="rect">
            <a:avLst/>
          </a:prstGeom>
          <a:noFill/>
        </p:spPr>
        <p:txBody>
          <a:bodyPr wrap="square">
            <a:spAutoFit/>
          </a:bodyPr>
          <a:lstStyle/>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新增加热炉二级控制系统，控制范围从钢坯进入辊道、上料台架准备上料开始到钢坯经加热炉加热后出炉结束为止。</a:t>
            </a:r>
          </a:p>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过程自动化系统的主要功能是实现加热炉设备的过程控制，即包括出钢机的运行控制；温度、能源介质等的监控；炉内材料跟踪、自动燃烧控制模型、数据设定、实绩数据处理、画面和报表等功能。实现对加热炉内方坯的合理加热，准确控制方坯的出炉温度和均匀度，降低方坯的氧化烧损，在提高加热质量及产量的前提下节省能源，为现代化轧钢厂高质量、低能耗生产奠定基础。</a:t>
            </a:r>
          </a:p>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过程计算机控制系统（</a:t>
            </a:r>
            <a:r>
              <a:rPr lang="en-US" altLang="zh-CN" sz="1800" kern="100" dirty="0">
                <a:effectLst/>
                <a:latin typeface="Times New Roman" panose="02020603050405020304" pitchFamily="18" charset="0"/>
                <a:ea typeface="宋体" panose="02010600030101010101" pitchFamily="2" charset="-122"/>
              </a:rPr>
              <a:t>L2</a:t>
            </a:r>
            <a:r>
              <a:rPr lang="zh-CN" altLang="en-US" sz="1800" kern="100" dirty="0">
                <a:effectLst/>
                <a:latin typeface="Times New Roman" panose="02020603050405020304" pitchFamily="18" charset="0"/>
                <a:ea typeface="宋体" panose="02010600030101010101" pitchFamily="2" charset="-122"/>
              </a:rPr>
              <a:t>）通过工业以太网与其他各系统（包括与加热炉的</a:t>
            </a:r>
            <a:r>
              <a:rPr lang="en-US" altLang="zh-CN" sz="1800" kern="100" dirty="0">
                <a:effectLst/>
                <a:latin typeface="Times New Roman" panose="02020603050405020304" pitchFamily="18" charset="0"/>
                <a:ea typeface="宋体" panose="02010600030101010101" pitchFamily="2" charset="-122"/>
              </a:rPr>
              <a:t>L1</a:t>
            </a:r>
            <a:r>
              <a:rPr lang="zh-CN" altLang="en-US" sz="1800" kern="100" dirty="0">
                <a:effectLst/>
                <a:latin typeface="Times New Roman" panose="02020603050405020304" pitchFamily="18" charset="0"/>
                <a:ea typeface="宋体" panose="02010600030101010101" pitchFamily="2" charset="-122"/>
              </a:rPr>
              <a:t>及轧线的</a:t>
            </a:r>
            <a:r>
              <a:rPr lang="en-US" altLang="zh-CN" sz="1800" kern="100" dirty="0">
                <a:effectLst/>
                <a:latin typeface="Times New Roman" panose="02020603050405020304" pitchFamily="18" charset="0"/>
                <a:ea typeface="宋体" panose="02010600030101010101" pitchFamily="2" charset="-122"/>
              </a:rPr>
              <a:t>L2</a:t>
            </a:r>
            <a:r>
              <a:rPr lang="zh-CN" altLang="en-US" sz="1800" kern="100" dirty="0">
                <a:effectLst/>
                <a:latin typeface="Times New Roman" panose="02020603050405020304" pitchFamily="18" charset="0"/>
                <a:ea typeface="宋体" panose="02010600030101010101" pitchFamily="2" charset="-122"/>
              </a:rPr>
              <a:t>，三级系统）连接实现数据通讯。</a:t>
            </a:r>
          </a:p>
          <a:p>
            <a:pPr indent="355600" algn="just">
              <a:lnSpc>
                <a:spcPct val="150000"/>
              </a:lnSpc>
              <a:buNone/>
            </a:pPr>
            <a:r>
              <a:rPr lang="zh-CN" altLang="en-US" sz="1800" kern="100" dirty="0">
                <a:effectLst/>
                <a:latin typeface="Times New Roman" panose="02020603050405020304" pitchFamily="18" charset="0"/>
                <a:ea typeface="宋体" panose="02010600030101010101" pitchFamily="2" charset="-122"/>
              </a:rPr>
              <a:t>智能燃烧二级系统主要用来对加热炉炉温设定值进行优化计算，实现炉温和燃耗量的优化控制。在满足轧线产量和加热质量的条件下，尽量使坯料出炉温度最准，长度和截面温差最小，氧化烧损最小。通过</a:t>
            </a:r>
            <a:r>
              <a:rPr lang="en-US" altLang="zh-CN" sz="1800" kern="100" dirty="0">
                <a:effectLst/>
                <a:latin typeface="Times New Roman" panose="02020603050405020304" pitchFamily="18" charset="0"/>
                <a:ea typeface="宋体" panose="02010600030101010101" pitchFamily="2" charset="-122"/>
              </a:rPr>
              <a:t>L2</a:t>
            </a:r>
            <a:r>
              <a:rPr lang="zh-CN" altLang="en-US" sz="1800" kern="100" dirty="0">
                <a:effectLst/>
                <a:latin typeface="Times New Roman" panose="02020603050405020304" pitchFamily="18" charset="0"/>
                <a:ea typeface="宋体" panose="02010600030101010101" pitchFamily="2" charset="-122"/>
              </a:rPr>
              <a:t>的合理算法和</a:t>
            </a:r>
            <a:r>
              <a:rPr lang="en-US" altLang="zh-CN" sz="1800" kern="100" dirty="0">
                <a:effectLst/>
                <a:latin typeface="Times New Roman" panose="02020603050405020304" pitchFamily="18" charset="0"/>
                <a:ea typeface="宋体" panose="02010600030101010101" pitchFamily="2" charset="-122"/>
              </a:rPr>
              <a:t>L1</a:t>
            </a:r>
            <a:r>
              <a:rPr lang="zh-CN" altLang="en-US" sz="1800" kern="100" dirty="0">
                <a:effectLst/>
                <a:latin typeface="Times New Roman" panose="02020603050405020304" pitchFamily="18" charset="0"/>
                <a:ea typeface="宋体" panose="02010600030101010101" pitchFamily="2" charset="-122"/>
              </a:rPr>
              <a:t>的精准控制，可以将首尾温差降低到</a:t>
            </a:r>
            <a:r>
              <a:rPr lang="en-US" altLang="zh-CN" sz="1800" kern="100" dirty="0">
                <a:effectLst/>
                <a:latin typeface="Times New Roman" panose="02020603050405020304" pitchFamily="18" charset="0"/>
                <a:ea typeface="宋体" panose="02010600030101010101" pitchFamily="2" charset="-122"/>
              </a:rPr>
              <a:t>±15℃</a:t>
            </a:r>
            <a:r>
              <a:rPr lang="zh-CN" altLang="en-US" sz="1800" kern="100" dirty="0">
                <a:effectLst/>
                <a:latin typeface="Times New Roman" panose="02020603050405020304" pitchFamily="18" charset="0"/>
                <a:ea typeface="宋体" panose="02010600030101010101" pitchFamily="2" charset="-122"/>
              </a:rPr>
              <a:t>范围，钢坯氧化烧损降低在</a:t>
            </a:r>
            <a:r>
              <a:rPr lang="en-US" altLang="zh-CN" sz="1800" kern="100" dirty="0">
                <a:effectLst/>
                <a:latin typeface="Times New Roman" panose="02020603050405020304" pitchFamily="18" charset="0"/>
                <a:ea typeface="宋体" panose="02010600030101010101" pitchFamily="2" charset="-122"/>
              </a:rPr>
              <a:t>0.7%</a:t>
            </a:r>
            <a:r>
              <a:rPr lang="zh-CN" altLang="en-US" sz="1800" kern="100" dirty="0">
                <a:effectLst/>
                <a:latin typeface="Times New Roman" panose="02020603050405020304" pitchFamily="18" charset="0"/>
                <a:ea typeface="宋体" panose="02010600030101010101" pitchFamily="2" charset="-122"/>
              </a:rPr>
              <a:t>以下（不包括强化加热状态）。</a:t>
            </a:r>
          </a:p>
        </p:txBody>
      </p:sp>
      <p:sp>
        <p:nvSpPr>
          <p:cNvPr id="17" name="任意多边形 36">
            <a:extLst>
              <a:ext uri="{FF2B5EF4-FFF2-40B4-BE49-F238E27FC236}">
                <a16:creationId xmlns:a16="http://schemas.microsoft.com/office/drawing/2014/main" id="{2583B37F-1F81-F44E-A5CE-EBDFF3DC8E90}"/>
              </a:ext>
            </a:extLst>
          </p:cNvPr>
          <p:cNvSpPr/>
          <p:nvPr>
            <p:custDataLst>
              <p:tags r:id="rId3"/>
            </p:custDataLst>
          </p:nvPr>
        </p:nvSpPr>
        <p:spPr bwMode="auto">
          <a:xfrm>
            <a:off x="171450" y="840740"/>
            <a:ext cx="1628327" cy="517378"/>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9" name="燕尾形箭头 35">
            <a:extLst>
              <a:ext uri="{FF2B5EF4-FFF2-40B4-BE49-F238E27FC236}">
                <a16:creationId xmlns:a16="http://schemas.microsoft.com/office/drawing/2014/main" id="{BE5FB86B-13F4-265C-B985-40A845A8C650}"/>
              </a:ext>
            </a:extLst>
          </p:cNvPr>
          <p:cNvSpPr/>
          <p:nvPr>
            <p:custDataLst>
              <p:tags r:id="rId4"/>
            </p:custDataLst>
          </p:nvPr>
        </p:nvSpPr>
        <p:spPr bwMode="auto">
          <a:xfrm>
            <a:off x="1832250" y="868899"/>
            <a:ext cx="2869014" cy="517525"/>
          </a:xfrm>
          <a:prstGeom prst="notchedRightArrow">
            <a:avLst>
              <a:gd name="adj1" fmla="val 100000"/>
              <a:gd name="adj2" fmla="val 31781"/>
            </a:avLst>
          </a:prstGeom>
          <a:solidFill>
            <a:srgbClr val="3498DB"/>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21" name="文本框 37">
            <a:extLst>
              <a:ext uri="{FF2B5EF4-FFF2-40B4-BE49-F238E27FC236}">
                <a16:creationId xmlns:a16="http://schemas.microsoft.com/office/drawing/2014/main" id="{B277F116-1681-CD28-7751-6B97652CC565}"/>
              </a:ext>
            </a:extLst>
          </p:cNvPr>
          <p:cNvSpPr txBox="1"/>
          <p:nvPr>
            <p:custDataLst>
              <p:tags r:id="rId5"/>
            </p:custDataLst>
          </p:nvPr>
        </p:nvSpPr>
        <p:spPr>
          <a:xfrm>
            <a:off x="156210" y="862965"/>
            <a:ext cx="1643380" cy="429895"/>
          </a:xfrm>
          <a:prstGeom prst="rect">
            <a:avLst/>
          </a:prstGeom>
          <a:noFill/>
        </p:spPr>
        <p:txBody>
          <a:bodyPr wrap="square" rtlCol="0">
            <a:spAutoFit/>
          </a:bodyPr>
          <a:lstStyle/>
          <a:p>
            <a:pPr algn="ctr"/>
            <a:r>
              <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实施阶段</a:t>
            </a:r>
          </a:p>
        </p:txBody>
      </p:sp>
      <p:sp>
        <p:nvSpPr>
          <p:cNvPr id="23" name="文本框 38">
            <a:extLst>
              <a:ext uri="{FF2B5EF4-FFF2-40B4-BE49-F238E27FC236}">
                <a16:creationId xmlns:a16="http://schemas.microsoft.com/office/drawing/2014/main" id="{B75BB2BD-4498-870C-CB9D-AE3AEB628710}"/>
              </a:ext>
            </a:extLst>
          </p:cNvPr>
          <p:cNvSpPr txBox="1"/>
          <p:nvPr>
            <p:custDataLst>
              <p:tags r:id="rId6"/>
            </p:custDataLst>
          </p:nvPr>
        </p:nvSpPr>
        <p:spPr>
          <a:xfrm>
            <a:off x="1889718" y="917062"/>
            <a:ext cx="2754078" cy="408940"/>
          </a:xfrm>
          <a:prstGeom prst="rect">
            <a:avLst/>
          </a:prstGeom>
          <a:noFill/>
        </p:spPr>
        <p:txBody>
          <a:bodyPr wrap="square" rtlCol="0">
            <a:noAutofit/>
          </a:bodyPr>
          <a:lstStyle/>
          <a:p>
            <a:pPr algn="ctr"/>
            <a:r>
              <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L2</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控制系统新增</a:t>
            </a:r>
          </a:p>
        </p:txBody>
      </p:sp>
    </p:spTree>
    <p:custDataLst>
      <p:tags r:id="rId1"/>
    </p:custDataLst>
    <p:extLst>
      <p:ext uri="{BB962C8B-B14F-4D97-AF65-F5344CB8AC3E}">
        <p14:creationId xmlns:p14="http://schemas.microsoft.com/office/powerpoint/2010/main" val="2883043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8"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a:p>
        </p:txBody>
      </p:sp>
      <p:sp>
        <p:nvSpPr>
          <p:cNvPr id="1048957" name="任意多边形 9"/>
          <p:cNvSpPr/>
          <p:nvPr>
            <p:custDataLst>
              <p:tags r:id="rId3"/>
            </p:custDataLst>
          </p:nvPr>
        </p:nvSpPr>
        <p:spPr bwMode="auto">
          <a:xfrm>
            <a:off x="459740" y="857885"/>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8960" name="文本框 3"/>
          <p:cNvSpPr txBox="1"/>
          <p:nvPr>
            <p:custDataLst>
              <p:tags r:id="rId4"/>
            </p:custDataLst>
          </p:nvPr>
        </p:nvSpPr>
        <p:spPr>
          <a:xfrm>
            <a:off x="525145" y="887095"/>
            <a:ext cx="1355725" cy="429895"/>
          </a:xfrm>
          <a:prstGeom prst="rect">
            <a:avLst/>
          </a:prstGeom>
          <a:noFill/>
        </p:spPr>
        <p:txBody>
          <a:bodyPr wrap="square" rtlCol="0">
            <a:spAutoFit/>
          </a:bodyPr>
          <a:lstStyle/>
          <a:p>
            <a:pPr algn="ctr"/>
            <a:r>
              <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检查阶段</a:t>
            </a:r>
          </a:p>
        </p:txBody>
      </p:sp>
      <p:sp>
        <p:nvSpPr>
          <p:cNvPr id="6" name="文本框 5">
            <a:extLst>
              <a:ext uri="{FF2B5EF4-FFF2-40B4-BE49-F238E27FC236}">
                <a16:creationId xmlns:a16="http://schemas.microsoft.com/office/drawing/2014/main" id="{58B30303-1237-96E6-9A29-9A37AACF1363}"/>
              </a:ext>
            </a:extLst>
          </p:cNvPr>
          <p:cNvSpPr txBox="1"/>
          <p:nvPr/>
        </p:nvSpPr>
        <p:spPr>
          <a:xfrm>
            <a:off x="315567" y="1346200"/>
            <a:ext cx="11601450" cy="5441233"/>
          </a:xfrm>
          <a:prstGeom prst="rect">
            <a:avLst/>
          </a:prstGeom>
          <a:noFill/>
        </p:spPr>
        <p:txBody>
          <a:bodyPr wrap="square">
            <a:spAutoFit/>
          </a:bodyPr>
          <a:lstStyle/>
          <a:p>
            <a:pPr indent="355600" algn="just">
              <a:lnSpc>
                <a:spcPct val="150000"/>
              </a:lnSpc>
              <a:buNone/>
            </a:pP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NOx</a:t>
            </a:r>
            <a:r>
              <a:rPr lang="zh-CN" altLang="zh-CN" sz="1800" kern="100" dirty="0">
                <a:effectLst/>
                <a:latin typeface="Times New Roman" panose="02020603050405020304" pitchFamily="18" charset="0"/>
                <a:ea typeface="宋体" panose="02010600030101010101" pitchFamily="2" charset="-122"/>
              </a:rPr>
              <a:t>排放</a:t>
            </a:r>
            <a:endParaRPr lang="zh-CN" altLang="zh-CN" sz="1200" kern="100" dirty="0">
              <a:effectLst/>
              <a:latin typeface="Times New Roman" panose="02020603050405020304" pitchFamily="18" charset="0"/>
              <a:ea typeface="宋体" panose="02010600030101010101" pitchFamily="2" charset="-122"/>
            </a:endParaRPr>
          </a:p>
          <a:p>
            <a:pPr indent="266700" algn="just">
              <a:lnSpc>
                <a:spcPct val="150000"/>
              </a:lnSpc>
              <a:buNone/>
            </a:pPr>
            <a:r>
              <a:rPr lang="zh-CN" altLang="zh-CN" sz="1800" kern="100" dirty="0">
                <a:effectLst/>
                <a:latin typeface="Times New Roman" panose="02020603050405020304" pitchFamily="18" charset="0"/>
                <a:ea typeface="宋体" panose="02010600030101010101" pitchFamily="2" charset="-122"/>
              </a:rPr>
              <a:t>废气中</a:t>
            </a:r>
            <a:r>
              <a:rPr lang="en-US" altLang="zh-CN" sz="1800" kern="100" dirty="0">
                <a:effectLst/>
                <a:latin typeface="Times New Roman" panose="02020603050405020304" pitchFamily="18" charset="0"/>
                <a:ea typeface="宋体" panose="02010600030101010101" pitchFamily="2" charset="-122"/>
              </a:rPr>
              <a:t>NOx</a:t>
            </a:r>
            <a:r>
              <a:rPr lang="zh-CN" altLang="zh-CN" sz="1800" kern="100" dirty="0">
                <a:effectLst/>
                <a:latin typeface="Times New Roman" panose="02020603050405020304" pitchFamily="18" charset="0"/>
                <a:ea typeface="宋体" panose="02010600030101010101" pitchFamily="2" charset="-122"/>
              </a:rPr>
              <a:t>含量≤</a:t>
            </a:r>
            <a:r>
              <a:rPr lang="en-US" altLang="zh-CN" sz="1800" kern="100" dirty="0">
                <a:effectLst/>
                <a:latin typeface="Times New Roman" panose="02020603050405020304" pitchFamily="18" charset="0"/>
                <a:ea typeface="宋体" panose="02010600030101010101" pitchFamily="2" charset="-122"/>
              </a:rPr>
              <a:t>200mg/Nm</a:t>
            </a:r>
            <a:r>
              <a:rPr lang="en-US" altLang="zh-CN" sz="1800" kern="100" baseline="30000" dirty="0">
                <a:effectLst/>
                <a:latin typeface="Times New Roman" panose="02020603050405020304" pitchFamily="18" charset="0"/>
                <a:ea typeface="宋体" panose="02010600030101010101" pitchFamily="2" charset="-122"/>
              </a:rPr>
              <a:t>3</a:t>
            </a:r>
            <a:r>
              <a:rPr lang="zh-CN" altLang="zh-CN" sz="1800" kern="100" dirty="0">
                <a:effectLst/>
                <a:latin typeface="Times New Roman" panose="02020603050405020304" pitchFamily="18" charset="0"/>
                <a:ea typeface="宋体" panose="02010600030101010101" pitchFamily="2" charset="-122"/>
              </a:rPr>
              <a:t>（基准氧含量</a:t>
            </a:r>
            <a:r>
              <a:rPr lang="en-US" altLang="zh-CN" sz="1800" kern="100" dirty="0">
                <a:effectLst/>
                <a:latin typeface="Times New Roman" panose="02020603050405020304" pitchFamily="18" charset="0"/>
                <a:ea typeface="宋体" panose="02010600030101010101" pitchFamily="2" charset="-122"/>
              </a:rPr>
              <a:t>8%</a:t>
            </a:r>
            <a:r>
              <a:rPr lang="zh-CN" altLang="zh-CN" sz="1800" kern="100" dirty="0">
                <a:effectLst/>
                <a:latin typeface="Times New Roman" panose="02020603050405020304" pitchFamily="18" charset="0"/>
                <a:ea typeface="宋体" panose="02010600030101010101" pitchFamily="2" charset="-122"/>
              </a:rPr>
              <a:t>，焦炉煤气含氨量≤</a:t>
            </a:r>
            <a:r>
              <a:rPr lang="en-US" altLang="zh-CN" sz="1800" kern="100" dirty="0">
                <a:effectLst/>
                <a:latin typeface="Times New Roman" panose="02020603050405020304" pitchFamily="18" charset="0"/>
                <a:ea typeface="宋体" panose="02010600030101010101" pitchFamily="2" charset="-122"/>
              </a:rPr>
              <a:t>150mg/m</a:t>
            </a:r>
            <a:r>
              <a:rPr lang="zh-CN" altLang="zh-CN" sz="1800" kern="100" dirty="0">
                <a:effectLst/>
                <a:latin typeface="Times New Roman" panose="02020603050405020304" pitchFamily="18" charset="0"/>
                <a:ea typeface="宋体" panose="02010600030101010101" pitchFamily="2" charset="-122"/>
              </a:rPr>
              <a:t>³）。</a:t>
            </a:r>
            <a:endParaRPr lang="zh-CN" altLang="zh-CN" sz="1200" kern="100" dirty="0">
              <a:effectLst/>
              <a:latin typeface="Times New Roman" panose="02020603050405020304" pitchFamily="18" charset="0"/>
              <a:ea typeface="宋体" panose="02010600030101010101" pitchFamily="2" charset="-122"/>
            </a:endParaRPr>
          </a:p>
          <a:p>
            <a:pPr indent="355600" algn="just">
              <a:lnSpc>
                <a:spcPct val="150000"/>
              </a:lnSpc>
              <a:buNone/>
            </a:pPr>
            <a:r>
              <a:rPr lang="zh-CN" altLang="zh-CN" sz="1800" kern="100" dirty="0">
                <a:effectLst/>
                <a:latin typeface="Times New Roman" panose="02020603050405020304" pitchFamily="18" charset="0"/>
                <a:ea typeface="宋体" panose="02010600030101010101" pitchFamily="2" charset="-122"/>
              </a:rPr>
              <a:t>定义：烟气中</a:t>
            </a:r>
            <a:r>
              <a:rPr lang="en-US" altLang="zh-CN" sz="1800" kern="100" dirty="0">
                <a:effectLst/>
                <a:latin typeface="Times New Roman" panose="02020603050405020304" pitchFamily="18" charset="0"/>
                <a:ea typeface="宋体" panose="02010600030101010101" pitchFamily="2" charset="-122"/>
              </a:rPr>
              <a:t>NOx</a:t>
            </a:r>
            <a:r>
              <a:rPr lang="zh-CN" altLang="zh-CN" sz="1800" kern="100" dirty="0">
                <a:effectLst/>
                <a:latin typeface="Times New Roman" panose="02020603050405020304" pitchFamily="18" charset="0"/>
                <a:ea typeface="宋体" panose="02010600030101010101" pitchFamily="2" charset="-122"/>
              </a:rPr>
              <a:t>浓度。</a:t>
            </a:r>
            <a:endParaRPr lang="zh-CN" altLang="zh-CN" sz="1200" kern="100" dirty="0">
              <a:effectLst/>
              <a:latin typeface="Times New Roman" panose="02020603050405020304" pitchFamily="18" charset="0"/>
              <a:ea typeface="宋体" panose="02010600030101010101" pitchFamily="2" charset="-122"/>
            </a:endParaRPr>
          </a:p>
          <a:p>
            <a:pPr indent="355600" algn="just">
              <a:lnSpc>
                <a:spcPct val="150000"/>
              </a:lnSpc>
              <a:buNone/>
            </a:pPr>
            <a:r>
              <a:rPr lang="zh-CN" altLang="zh-CN" sz="1800" kern="100" dirty="0">
                <a:effectLst/>
                <a:latin typeface="Times New Roman" panose="02020603050405020304" pitchFamily="18" charset="0"/>
                <a:ea typeface="宋体" panose="02010600030101010101" pitchFamily="2" charset="-122"/>
              </a:rPr>
              <a:t>条件：加热炉正常生产时，</a:t>
            </a:r>
            <a:r>
              <a:rPr lang="zh-CN" altLang="zh-CN" sz="1800" b="1" kern="100" dirty="0">
                <a:effectLst/>
                <a:latin typeface="Times New Roman" panose="02020603050405020304" pitchFamily="18" charset="0"/>
                <a:ea typeface="宋体" panose="02010600030101010101" pitchFamily="2" charset="-122"/>
              </a:rPr>
              <a:t>不包括保温待轧、大火升温、强化加热等非常规负荷工况。</a:t>
            </a:r>
            <a:endParaRPr lang="zh-CN" altLang="zh-CN" sz="1200" kern="100" dirty="0">
              <a:effectLst/>
              <a:latin typeface="Times New Roman" panose="02020603050405020304" pitchFamily="18" charset="0"/>
              <a:ea typeface="宋体" panose="02010600030101010101" pitchFamily="2" charset="-122"/>
            </a:endParaRPr>
          </a:p>
          <a:p>
            <a:pPr indent="355600" algn="just">
              <a:lnSpc>
                <a:spcPct val="150000"/>
              </a:lnSpc>
              <a:buNone/>
            </a:pPr>
            <a:r>
              <a:rPr lang="zh-CN" altLang="zh-CN" sz="1800" kern="100" dirty="0">
                <a:effectLst/>
                <a:latin typeface="Times New Roman" panose="02020603050405020304" pitchFamily="18" charset="0"/>
                <a:ea typeface="宋体" panose="02010600030101010101" pitchFamily="2" charset="-122"/>
              </a:rPr>
              <a:t>燃料种类：焦转混合煤气。焦转混合煤气低发热值</a:t>
            </a:r>
            <a:r>
              <a:rPr lang="en-US" altLang="zh-CN" sz="1800" kern="100" dirty="0" err="1">
                <a:effectLst/>
                <a:latin typeface="Times New Roman" panose="02020603050405020304" pitchFamily="18" charset="0"/>
                <a:ea typeface="宋体" panose="02010600030101010101" pitchFamily="2" charset="-122"/>
              </a:rPr>
              <a:t>Qd</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10500±5% kJ/Nm</a:t>
            </a:r>
            <a:r>
              <a:rPr lang="en-US" altLang="zh-CN" sz="1800" kern="100" baseline="30000" dirty="0">
                <a:effectLst/>
                <a:latin typeface="Times New Roman" panose="02020603050405020304" pitchFamily="18" charset="0"/>
                <a:ea typeface="宋体" panose="02010600030101010101" pitchFamily="2" charset="-122"/>
              </a:rPr>
              <a:t>3</a:t>
            </a:r>
            <a:r>
              <a:rPr lang="zh-CN" altLang="zh-CN" sz="1800" kern="100" dirty="0">
                <a:effectLst/>
                <a:latin typeface="Times New Roman" panose="02020603050405020304" pitchFamily="18" charset="0"/>
                <a:ea typeface="宋体" panose="02010600030101010101" pitchFamily="2" charset="-122"/>
              </a:rPr>
              <a:t>，焦炉煤气含氨量≤</a:t>
            </a:r>
            <a:r>
              <a:rPr lang="en-US" altLang="zh-CN" sz="1800" kern="100" dirty="0">
                <a:effectLst/>
                <a:latin typeface="Times New Roman" panose="02020603050405020304" pitchFamily="18" charset="0"/>
                <a:ea typeface="宋体" panose="02010600030101010101" pitchFamily="2" charset="-122"/>
              </a:rPr>
              <a:t>150mg/m</a:t>
            </a:r>
            <a:r>
              <a:rPr lang="zh-CN" altLang="zh-CN" sz="1800" kern="100" dirty="0">
                <a:effectLst/>
                <a:latin typeface="Times New Roman" panose="02020603050405020304" pitchFamily="18" charset="0"/>
                <a:ea typeface="宋体" panose="02010600030101010101" pitchFamily="2" charset="-122"/>
              </a:rPr>
              <a:t>³。</a:t>
            </a:r>
            <a:endParaRPr lang="zh-CN" altLang="zh-CN" sz="1200" kern="100" dirty="0">
              <a:effectLst/>
              <a:latin typeface="Times New Roman" panose="02020603050405020304" pitchFamily="18" charset="0"/>
              <a:ea typeface="宋体" panose="02010600030101010101" pitchFamily="2" charset="-122"/>
            </a:endParaRPr>
          </a:p>
          <a:p>
            <a:pPr indent="355600" algn="l">
              <a:lnSpc>
                <a:spcPct val="150000"/>
              </a:lnSpc>
              <a:buNone/>
            </a:pPr>
            <a:r>
              <a:rPr lang="en-US" altLang="zh-CN" sz="1800" kern="100" dirty="0">
                <a:effectLst/>
                <a:latin typeface="Times New Roman" panose="02020603050405020304" pitchFamily="18" charset="0"/>
                <a:ea typeface="宋体" panose="02010600030101010101" pitchFamily="2" charset="-122"/>
              </a:rPr>
              <a:t>2</a:t>
            </a:r>
            <a:r>
              <a:rPr lang="zh-CN" altLang="zh-CN" sz="1800" kern="100" dirty="0">
                <a:effectLst/>
                <a:latin typeface="Times New Roman" panose="02020603050405020304" pitchFamily="18" charset="0"/>
                <a:ea typeface="宋体" panose="02010600030101010101" pitchFamily="2" charset="-122"/>
              </a:rPr>
              <a:t>）吨钢能耗：</a:t>
            </a:r>
            <a:endParaRPr lang="zh-CN" altLang="zh-CN" sz="1200" kern="100" dirty="0">
              <a:effectLst/>
              <a:latin typeface="Times New Roman" panose="02020603050405020304" pitchFamily="18" charset="0"/>
              <a:ea typeface="宋体" panose="02010600030101010101" pitchFamily="2" charset="-122"/>
            </a:endParaRPr>
          </a:p>
          <a:p>
            <a:pPr indent="266700" algn="just">
              <a:lnSpc>
                <a:spcPct val="150000"/>
              </a:lnSpc>
              <a:buNone/>
            </a:pPr>
            <a:r>
              <a:rPr lang="zh-CN" altLang="zh-CN" sz="1800" kern="100" dirty="0">
                <a:effectLst/>
                <a:latin typeface="Times New Roman" panose="02020603050405020304" pitchFamily="18" charset="0"/>
                <a:ea typeface="宋体" panose="02010600030101010101" pitchFamily="2" charset="-122"/>
              </a:rPr>
              <a:t>以</a:t>
            </a:r>
            <a:r>
              <a:rPr lang="en-US" altLang="zh-CN" sz="1800" kern="100" dirty="0">
                <a:effectLst/>
                <a:latin typeface="Times New Roman" panose="02020603050405020304" pitchFamily="18" charset="0"/>
                <a:ea typeface="宋体" panose="02010600030101010101" pitchFamily="2" charset="-122"/>
              </a:rPr>
              <a:t> 2025 </a:t>
            </a:r>
            <a:r>
              <a:rPr lang="zh-CN" altLang="zh-CN" sz="1800" kern="100" dirty="0">
                <a:effectLst/>
                <a:latin typeface="Times New Roman" panose="02020603050405020304" pitchFamily="18" charset="0"/>
                <a:ea typeface="宋体" panose="02010600030101010101" pitchFamily="2" charset="-122"/>
              </a:rPr>
              <a:t>年下发的加热炉工序能耗指标为考核基准，碳钢，标准坯</a:t>
            </a:r>
            <a:r>
              <a:rPr lang="en-US" altLang="zh-CN" sz="1800" kern="100" dirty="0">
                <a:effectLst/>
                <a:latin typeface="Times New Roman" panose="02020603050405020304" pitchFamily="18" charset="0"/>
                <a:ea typeface="宋体" panose="02010600030101010101" pitchFamily="2" charset="-122"/>
              </a:rPr>
              <a:t>160mmx160mmx12000mm</a:t>
            </a:r>
            <a:r>
              <a:rPr lang="zh-CN" altLang="zh-CN" sz="1800" kern="100" dirty="0">
                <a:effectLst/>
                <a:latin typeface="Times New Roman" panose="02020603050405020304" pitchFamily="18" charset="0"/>
                <a:ea typeface="宋体" panose="02010600030101010101" pitchFamily="2" charset="-122"/>
              </a:rPr>
              <a:t>。</a:t>
            </a:r>
            <a:endParaRPr lang="zh-CN" altLang="zh-CN" sz="1200" kern="100" dirty="0">
              <a:effectLst/>
              <a:latin typeface="Times New Roman" panose="02020603050405020304" pitchFamily="18" charset="0"/>
              <a:ea typeface="宋体" panose="02010600030101010101" pitchFamily="2" charset="-122"/>
            </a:endParaRPr>
          </a:p>
          <a:p>
            <a:pPr indent="266700" algn="just">
              <a:lnSpc>
                <a:spcPct val="150000"/>
              </a:lnSpc>
              <a:buNone/>
            </a:pPr>
            <a:r>
              <a:rPr lang="zh-CN" altLang="zh-CN" sz="1800" kern="100" dirty="0">
                <a:effectLst/>
                <a:latin typeface="Times New Roman" panose="02020603050405020304" pitchFamily="18" charset="0"/>
                <a:ea typeface="宋体" panose="02010600030101010101" pitchFamily="2" charset="-122"/>
              </a:rPr>
              <a:t>二棒线及三棒线加热炉按照焦炉</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转炉煤气能耗指标为基准（焦炉煤气</a:t>
            </a:r>
            <a:r>
              <a:rPr lang="en-US" altLang="zh-CN" sz="1800" kern="100" dirty="0">
                <a:effectLst/>
                <a:latin typeface="Times New Roman" panose="02020603050405020304" pitchFamily="18" charset="0"/>
                <a:ea typeface="宋体" panose="02010600030101010101" pitchFamily="2" charset="-122"/>
              </a:rPr>
              <a:t> 38.00m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转炉煤气</a:t>
            </a:r>
            <a:r>
              <a:rPr lang="en-US" altLang="zh-CN" sz="1800" kern="100" dirty="0">
                <a:effectLst/>
                <a:latin typeface="Times New Roman" panose="02020603050405020304" pitchFamily="18" charset="0"/>
                <a:ea typeface="宋体" panose="02010600030101010101" pitchFamily="2" charset="-122"/>
              </a:rPr>
              <a:t> 75.00m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吨钢），节约吨钢耗煤气量≥</a:t>
            </a:r>
            <a:r>
              <a:rPr lang="en-US" altLang="zh-CN" sz="1800" kern="100" dirty="0">
                <a:effectLst/>
                <a:latin typeface="Times New Roman" panose="02020603050405020304" pitchFamily="18" charset="0"/>
                <a:ea typeface="宋体" panose="02010600030101010101" pitchFamily="2" charset="-122"/>
              </a:rPr>
              <a:t>3%</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吨钢）为技术指标考核基准（焦炉煤气≤</a:t>
            </a:r>
            <a:r>
              <a:rPr lang="en-US" altLang="zh-CN" sz="1800" kern="100" dirty="0">
                <a:effectLst/>
                <a:latin typeface="Times New Roman" panose="02020603050405020304" pitchFamily="18" charset="0"/>
                <a:ea typeface="宋体" panose="02010600030101010101" pitchFamily="2" charset="-122"/>
              </a:rPr>
              <a:t>36.86m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吨钢且转炉煤气≤</a:t>
            </a:r>
            <a:r>
              <a:rPr lang="en-US" altLang="zh-CN" sz="1800" kern="100" dirty="0">
                <a:effectLst/>
                <a:latin typeface="Times New Roman" panose="02020603050405020304" pitchFamily="18" charset="0"/>
                <a:ea typeface="宋体" panose="02010600030101010101" pitchFamily="2" charset="-122"/>
              </a:rPr>
              <a:t>72.75m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吨钢）。热装率不高于</a:t>
            </a:r>
            <a:r>
              <a:rPr lang="en-US" altLang="zh-CN" sz="1800" kern="100" dirty="0">
                <a:effectLst/>
                <a:latin typeface="Times New Roman" panose="02020603050405020304" pitchFamily="18" charset="0"/>
                <a:ea typeface="宋体" panose="02010600030101010101" pitchFamily="2" charset="-122"/>
              </a:rPr>
              <a:t>70%</a:t>
            </a:r>
            <a:r>
              <a:rPr lang="zh-CN" altLang="zh-CN" sz="1800" kern="100" dirty="0">
                <a:effectLst/>
                <a:latin typeface="Times New Roman" panose="02020603050405020304" pitchFamily="18" charset="0"/>
                <a:ea typeface="宋体" panose="02010600030101010101" pitchFamily="2" charset="-122"/>
              </a:rPr>
              <a:t>。</a:t>
            </a:r>
            <a:endParaRPr lang="zh-CN" altLang="zh-CN" sz="1200" kern="100" dirty="0">
              <a:effectLst/>
              <a:latin typeface="Times New Roman" panose="02020603050405020304" pitchFamily="18" charset="0"/>
              <a:ea typeface="宋体" panose="02010600030101010101" pitchFamily="2" charset="-122"/>
            </a:endParaRPr>
          </a:p>
          <a:p>
            <a:pPr indent="266700" algn="just">
              <a:lnSpc>
                <a:spcPct val="150000"/>
              </a:lnSpc>
              <a:buNone/>
            </a:pPr>
            <a:r>
              <a:rPr lang="zh-CN" altLang="zh-CN" sz="1800" kern="100" dirty="0">
                <a:effectLst/>
                <a:latin typeface="Times New Roman" panose="02020603050405020304" pitchFamily="18" charset="0"/>
                <a:ea typeface="宋体" panose="02010600030101010101" pitchFamily="2" charset="-122"/>
              </a:rPr>
              <a:t>一高线及二高线加热炉按照焦炉</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转炉煤气能耗指标为基准（焦炉煤气</a:t>
            </a:r>
            <a:r>
              <a:rPr lang="en-US" altLang="zh-CN" sz="1800" kern="100" dirty="0">
                <a:effectLst/>
                <a:latin typeface="Times New Roman" panose="02020603050405020304" pitchFamily="18" charset="0"/>
                <a:ea typeface="宋体" panose="02010600030101010101" pitchFamily="2" charset="-122"/>
              </a:rPr>
              <a:t> 63.00m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转炉煤气</a:t>
            </a:r>
            <a:r>
              <a:rPr lang="en-US" altLang="zh-CN" sz="1800" kern="100" dirty="0">
                <a:effectLst/>
                <a:latin typeface="Times New Roman" panose="02020603050405020304" pitchFamily="18" charset="0"/>
                <a:ea typeface="宋体" panose="02010600030101010101" pitchFamily="2" charset="-122"/>
              </a:rPr>
              <a:t> 123.00m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吨钢），节约吨钢耗煤气量≥</a:t>
            </a:r>
            <a:r>
              <a:rPr lang="en-US" altLang="zh-CN" sz="1800" kern="100" dirty="0">
                <a:effectLst/>
                <a:latin typeface="Times New Roman" panose="02020603050405020304" pitchFamily="18" charset="0"/>
                <a:ea typeface="宋体" panose="02010600030101010101" pitchFamily="2" charset="-122"/>
              </a:rPr>
              <a:t>3%</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吨钢）为技术指标考核基准（焦炉煤气≤</a:t>
            </a:r>
            <a:r>
              <a:rPr lang="en-US" altLang="zh-CN" sz="1800" kern="100" dirty="0">
                <a:effectLst/>
                <a:latin typeface="Times New Roman" panose="02020603050405020304" pitchFamily="18" charset="0"/>
                <a:ea typeface="宋体" panose="02010600030101010101" pitchFamily="2" charset="-122"/>
              </a:rPr>
              <a:t>61.11m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吨钢且转炉煤气≤</a:t>
            </a:r>
            <a:r>
              <a:rPr lang="en-US" altLang="zh-CN" sz="1800" kern="100" dirty="0">
                <a:effectLst/>
                <a:latin typeface="Times New Roman" panose="02020603050405020304" pitchFamily="18" charset="0"/>
                <a:ea typeface="宋体" panose="02010600030101010101" pitchFamily="2" charset="-122"/>
              </a:rPr>
              <a:t>119.31m</a:t>
            </a:r>
            <a:r>
              <a:rPr lang="zh-CN" altLang="zh-CN" sz="1800" kern="100" dirty="0">
                <a:effectLst/>
                <a:latin typeface="Times New Roman" panose="02020603050405020304" pitchFamily="18" charset="0"/>
                <a:ea typeface="宋体" panose="02010600030101010101" pitchFamily="2" charset="-122"/>
              </a:rPr>
              <a:t>³</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吨钢）。热装率不高于</a:t>
            </a:r>
            <a:r>
              <a:rPr lang="en-US" altLang="zh-CN" sz="1800" kern="100" dirty="0">
                <a:effectLst/>
                <a:latin typeface="Times New Roman" panose="02020603050405020304" pitchFamily="18" charset="0"/>
                <a:ea typeface="宋体" panose="02010600030101010101" pitchFamily="2" charset="-122"/>
              </a:rPr>
              <a:t>40%</a:t>
            </a:r>
            <a:r>
              <a:rPr lang="zh-CN" altLang="zh-CN" sz="1800" kern="100" dirty="0">
                <a:effectLst/>
                <a:latin typeface="Times New Roman" panose="02020603050405020304" pitchFamily="18" charset="0"/>
                <a:ea typeface="宋体" panose="02010600030101010101" pitchFamily="2" charset="-122"/>
              </a:rPr>
              <a:t>。</a:t>
            </a:r>
            <a:endParaRPr lang="zh-CN" altLang="zh-CN" sz="1200" kern="100" dirty="0">
              <a:effectLst/>
              <a:latin typeface="Times New Roman" panose="02020603050405020304" pitchFamily="18" charset="0"/>
              <a:ea typeface="宋体" panose="02010600030101010101" pitchFamily="2" charset="-122"/>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85" name="矩形 17"/>
          <p:cNvSpPr/>
          <p:nvPr>
            <p:custDataLst>
              <p:tags r:id="rId2"/>
            </p:custDataLst>
          </p:nvPr>
        </p:nvSpPr>
        <p:spPr>
          <a:xfrm flipV="1">
            <a:off x="1628140" y="640080"/>
            <a:ext cx="10161270" cy="36000"/>
          </a:xfrm>
          <a:prstGeom prst="rect">
            <a:avLst/>
          </a:prstGeom>
          <a:gradFill>
            <a:gsLst>
              <a:gs pos="0">
                <a:schemeClr val="accent1">
                  <a:lumMod val="110000"/>
                  <a:satMod val="105000"/>
                  <a:tint val="67000"/>
                </a:schemeClr>
              </a:gs>
              <a:gs pos="0">
                <a:srgbClr val="D9272D"/>
              </a:gs>
              <a:gs pos="65000">
                <a:schemeClr val="accent1">
                  <a:lumMod val="105000"/>
                  <a:satMod val="103000"/>
                  <a:tint val="73000"/>
                </a:schemeClr>
              </a:gs>
              <a:gs pos="100000">
                <a:schemeClr val="accent1">
                  <a:lumMod val="105000"/>
                  <a:satMod val="109000"/>
                  <a:tint val="81000"/>
                </a:schemeClr>
              </a:gs>
            </a:gsLst>
            <a:lin ang="1080000" scaled="0"/>
          </a:gradFill>
          <a:ln>
            <a:noFill/>
          </a:ln>
          <a:effectLst>
            <a:outerShdw blurRad="50800" dist="38100" dir="2700000" algn="tl" rotWithShape="0">
              <a:schemeClr val="bg2">
                <a:lumMod val="85000"/>
                <a:alpha val="4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049287" name="文本框 3"/>
          <p:cNvSpPr txBox="1"/>
          <p:nvPr>
            <p:custDataLst>
              <p:tags r:id="rId3"/>
            </p:custDataLst>
          </p:nvPr>
        </p:nvSpPr>
        <p:spPr>
          <a:xfrm>
            <a:off x="525145" y="887095"/>
            <a:ext cx="1355725" cy="459740"/>
          </a:xfrm>
          <a:prstGeom prst="rect">
            <a:avLst/>
          </a:prstGeom>
          <a:noFill/>
        </p:spPr>
        <p:txBody>
          <a:bodyPr wrap="square" rtlCol="0">
            <a:spAutoFit/>
          </a:bodyPr>
          <a:lstStyle/>
          <a:p>
            <a:pPr algn="ctr"/>
            <a:r>
              <a:rPr lang="zh-CN" altLang="en-US" sz="2200" b="1">
                <a:solidFill>
                  <a:prstClr val="white"/>
                </a:solidFill>
                <a:latin typeface="微软雅黑" panose="020B0503020204020204" charset="-122"/>
                <a:ea typeface="微软雅黑" panose="020B0503020204020204" charset="-122"/>
                <a:cs typeface="Calibri" panose="020F0502020204030204" charset="0"/>
                <a:sym typeface="+mn-ea"/>
              </a:rPr>
              <a:t>改善阶段</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49297" name="任意多边形 9"/>
          <p:cNvSpPr/>
          <p:nvPr>
            <p:custDataLst>
              <p:tags r:id="rId4"/>
            </p:custDataLst>
          </p:nvPr>
        </p:nvSpPr>
        <p:spPr bwMode="auto">
          <a:xfrm>
            <a:off x="417195" y="840740"/>
            <a:ext cx="1611313" cy="511972"/>
          </a:xfrm>
          <a:custGeom>
            <a:avLst/>
            <a:gdLst>
              <a:gd name="connsiteX0" fmla="*/ 0 w 2650"/>
              <a:gd name="connsiteY0" fmla="*/ 0 h 650"/>
              <a:gd name="connsiteX1" fmla="*/ 2443 w 2650"/>
              <a:gd name="connsiteY1" fmla="*/ 0 h 650"/>
              <a:gd name="connsiteX2" fmla="*/ 2443 w 2650"/>
              <a:gd name="connsiteY2" fmla="*/ 0 h 650"/>
              <a:gd name="connsiteX3" fmla="*/ 2650 w 2650"/>
              <a:gd name="connsiteY3" fmla="*/ 325 h 650"/>
              <a:gd name="connsiteX4" fmla="*/ 2443 w 2650"/>
              <a:gd name="connsiteY4" fmla="*/ 650 h 650"/>
              <a:gd name="connsiteX5" fmla="*/ 2443 w 2650"/>
              <a:gd name="connsiteY5" fmla="*/ 650 h 650"/>
              <a:gd name="connsiteX6" fmla="*/ 0 w 2650"/>
              <a:gd name="connsiteY6" fmla="*/ 650 h 650"/>
              <a:gd name="connsiteX7" fmla="*/ 15 w 2650"/>
              <a:gd name="connsiteY7" fmla="*/ 305 h 650"/>
              <a:gd name="connsiteX8" fmla="*/ 0 w 2650"/>
              <a:gd name="connsiteY8" fmla="*/ 0 h 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 h="650">
                <a:moveTo>
                  <a:pt x="0" y="0"/>
                </a:moveTo>
                <a:lnTo>
                  <a:pt x="2443" y="0"/>
                </a:lnTo>
                <a:lnTo>
                  <a:pt x="2443" y="0"/>
                </a:lnTo>
                <a:lnTo>
                  <a:pt x="2650" y="325"/>
                </a:lnTo>
                <a:lnTo>
                  <a:pt x="2443" y="650"/>
                </a:lnTo>
                <a:lnTo>
                  <a:pt x="2443" y="650"/>
                </a:lnTo>
                <a:lnTo>
                  <a:pt x="0" y="650"/>
                </a:lnTo>
                <a:lnTo>
                  <a:pt x="15" y="305"/>
                </a:lnTo>
                <a:lnTo>
                  <a:pt x="0" y="0"/>
                </a:lnTo>
                <a:close/>
              </a:path>
            </a:pathLst>
          </a:custGeom>
          <a:solidFill>
            <a:srgbClr val="1F74AD"/>
          </a:solidFill>
          <a:ln w="19050">
            <a:noFill/>
            <a:round/>
          </a:ln>
          <a:effectLst>
            <a:outerShdw blurRad="50800" dist="63500" dir="2700000" algn="tl" rotWithShape="0">
              <a:prstClr val="black">
                <a:alpha val="40000"/>
              </a:prstClr>
            </a:outerShdw>
          </a:effectLst>
        </p:spPr>
        <p:txBody>
          <a:bodyPr wrap="square" lIns="91440" tIns="45720" rIns="91440" bIns="45720" anchor="ctr">
            <a:normAutofit/>
          </a:bodyPr>
          <a:lstStyle/>
          <a:p>
            <a:pPr algn="ctr">
              <a:lnSpc>
                <a:spcPct val="120000"/>
              </a:lnSpc>
            </a:pPr>
            <a:endParaRPr>
              <a:solidFill>
                <a:srgbClr val="000000">
                  <a:lumMod val="75000"/>
                  <a:lumOff val="25000"/>
                </a:srgbClr>
              </a:solidFill>
              <a:latin typeface="微软雅黑" panose="020B0503020204020204" charset="-122"/>
              <a:cs typeface="微软雅黑" panose="020B0503020204020204" charset="-122"/>
            </a:endParaRPr>
          </a:p>
        </p:txBody>
      </p:sp>
      <p:sp>
        <p:nvSpPr>
          <p:cNvPr id="1049298" name="文本框 1"/>
          <p:cNvSpPr txBox="1"/>
          <p:nvPr>
            <p:custDataLst>
              <p:tags r:id="rId5"/>
            </p:custDataLst>
          </p:nvPr>
        </p:nvSpPr>
        <p:spPr>
          <a:xfrm>
            <a:off x="525145" y="887095"/>
            <a:ext cx="1355725" cy="459740"/>
          </a:xfrm>
          <a:prstGeom prst="rect">
            <a:avLst/>
          </a:prstGeom>
          <a:noFill/>
        </p:spPr>
        <p:txBody>
          <a:bodyPr wrap="square" rtlCol="0">
            <a:spAutoFit/>
          </a:bodyPr>
          <a:lstStyle/>
          <a:p>
            <a:pPr algn="ctr"/>
            <a:r>
              <a:rPr lang="zh-CN" altLang="en-US" sz="2200" b="1">
                <a:solidFill>
                  <a:prstClr val="white"/>
                </a:solidFill>
                <a:latin typeface="微软雅黑" panose="020B0503020204020204" charset="-122"/>
                <a:ea typeface="微软雅黑" panose="020B0503020204020204" charset="-122"/>
                <a:cs typeface="Calibri" panose="020F0502020204030204" charset="0"/>
                <a:sym typeface="+mn-ea"/>
              </a:rPr>
              <a:t>效果验证</a:t>
            </a:r>
            <a:endParaRPr lang="zh-CN" altLang="en-US" sz="2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5" name="文本框 4"/>
          <p:cNvSpPr txBox="1"/>
          <p:nvPr/>
        </p:nvSpPr>
        <p:spPr>
          <a:xfrm>
            <a:off x="596900" y="1732915"/>
            <a:ext cx="10982325" cy="646331"/>
          </a:xfrm>
          <a:prstGeom prst="rect">
            <a:avLst/>
          </a:prstGeom>
          <a:noFill/>
        </p:spPr>
        <p:txBody>
          <a:bodyPr wrap="square" rtlCol="0">
            <a:spAutoFit/>
          </a:bodyPr>
          <a:lstStyle/>
          <a:p>
            <a:r>
              <a:rPr lang="zh-CN" altLang="en-US" dirty="0"/>
              <a:t>根据六月份焦炉煤气</a:t>
            </a:r>
            <a:r>
              <a:rPr lang="en-US" altLang="zh-CN" dirty="0"/>
              <a:t>27.49</a:t>
            </a:r>
            <a:r>
              <a:rPr lang="zh-CN" altLang="zh-CN" dirty="0"/>
              <a:t>m³/t</a:t>
            </a:r>
            <a:r>
              <a:rPr lang="zh-CN" altLang="en-US" dirty="0"/>
              <a:t>，转炉煤气</a:t>
            </a:r>
            <a:r>
              <a:rPr lang="en-US" altLang="zh-CN" dirty="0"/>
              <a:t>51.09</a:t>
            </a:r>
            <a:r>
              <a:rPr lang="zh-CN" altLang="zh-CN" dirty="0"/>
              <a:t>m³/t</a:t>
            </a:r>
            <a:r>
              <a:rPr lang="zh-CN" altLang="en-US" dirty="0"/>
              <a:t>，对比事业部制定指标，焦炉煤气</a:t>
            </a:r>
            <a:r>
              <a:rPr lang="en-US" altLang="zh-CN" dirty="0"/>
              <a:t>28.98</a:t>
            </a:r>
            <a:r>
              <a:rPr lang="zh-CN" altLang="zh-CN" dirty="0"/>
              <a:t> m³/t </a:t>
            </a:r>
            <a:r>
              <a:rPr lang="zh-CN" altLang="en-US" dirty="0"/>
              <a:t>，转炉煤气</a:t>
            </a:r>
            <a:r>
              <a:rPr lang="en-US" altLang="zh-CN" dirty="0"/>
              <a:t>53.59</a:t>
            </a:r>
            <a:r>
              <a:rPr lang="zh-CN" altLang="zh-CN" dirty="0"/>
              <a:t> m³/t </a:t>
            </a:r>
            <a:r>
              <a:rPr lang="zh-CN" altLang="en-US" dirty="0"/>
              <a:t>，三棒线加热炉焦炉煤气节省</a:t>
            </a:r>
            <a:r>
              <a:rPr lang="en-US" altLang="zh-CN" dirty="0"/>
              <a:t>1.49</a:t>
            </a:r>
            <a:r>
              <a:rPr lang="zh-CN" altLang="zh-CN" dirty="0"/>
              <a:t> m³/t </a:t>
            </a:r>
            <a:r>
              <a:rPr lang="zh-CN" altLang="en-US" dirty="0"/>
              <a:t>，转炉煤气节省</a:t>
            </a:r>
            <a:r>
              <a:rPr lang="en-US" altLang="zh-CN" dirty="0"/>
              <a:t>2.5</a:t>
            </a:r>
            <a:r>
              <a:rPr lang="zh-CN" altLang="zh-CN" dirty="0"/>
              <a:t> m³/t </a:t>
            </a:r>
            <a:r>
              <a:rPr lang="en-US" altLang="zh-CN" dirty="0"/>
              <a:t>。</a:t>
            </a:r>
          </a:p>
        </p:txBody>
      </p:sp>
      <p:sp>
        <p:nvSpPr>
          <p:cNvPr id="10" name="文本框 9"/>
          <p:cNvSpPr txBox="1"/>
          <p:nvPr/>
        </p:nvSpPr>
        <p:spPr>
          <a:xfrm>
            <a:off x="6026150" y="2917190"/>
            <a:ext cx="4803140" cy="829945"/>
          </a:xfrm>
          <a:prstGeom prst="rect">
            <a:avLst/>
          </a:prstGeom>
          <a:noFill/>
        </p:spPr>
        <p:txBody>
          <a:bodyPr wrap="square" rtlCol="0">
            <a:spAutoFit/>
          </a:bodyPr>
          <a:lstStyle/>
          <a:p>
            <a:r>
              <a:rPr lang="zh-CN" altLang="en-US" sz="2400" dirty="0">
                <a:latin typeface="Heiti SC Light" panose="02000000000000000000" charset="-122"/>
                <a:ea typeface="Heiti SC Light" panose="02000000000000000000" charset="-122"/>
                <a:cs typeface="Heiti SC Light" panose="02000000000000000000" charset="-122"/>
              </a:rPr>
              <a:t>经过改善</a:t>
            </a:r>
            <a:r>
              <a:rPr lang="en-US" altLang="zh-CN" sz="2400" dirty="0">
                <a:latin typeface="Heiti SC Light" panose="02000000000000000000" charset="-122"/>
                <a:ea typeface="Heiti SC Light" panose="02000000000000000000" charset="-122"/>
                <a:cs typeface="Heiti SC Light" panose="02000000000000000000" charset="-122"/>
              </a:rPr>
              <a:t>，</a:t>
            </a:r>
            <a:r>
              <a:rPr lang="zh-CN" altLang="en-US" sz="2400" dirty="0">
                <a:latin typeface="Heiti SC Light" panose="02000000000000000000" charset="-122"/>
                <a:ea typeface="Heiti SC Light" panose="02000000000000000000" charset="-122"/>
                <a:cs typeface="Heiti SC Light" panose="02000000000000000000" charset="-122"/>
              </a:rPr>
              <a:t>实际成果完成课题目标，数据较少</a:t>
            </a:r>
            <a:r>
              <a:rPr lang="en-US" altLang="zh-CN" sz="2400" dirty="0">
                <a:latin typeface="Heiti SC Light" panose="02000000000000000000" charset="-122"/>
                <a:ea typeface="Heiti SC Light" panose="02000000000000000000" charset="-122"/>
                <a:cs typeface="Heiti SC Light" panose="02000000000000000000" charset="-122"/>
              </a:rPr>
              <a:t>，</a:t>
            </a:r>
            <a:r>
              <a:rPr lang="zh-CN" altLang="en-US" sz="2400" dirty="0">
                <a:latin typeface="Heiti SC Light" panose="02000000000000000000" charset="-122"/>
                <a:ea typeface="Heiti SC Light" panose="02000000000000000000" charset="-122"/>
                <a:cs typeface="Heiti SC Light" panose="02000000000000000000" charset="-122"/>
              </a:rPr>
              <a:t>后续将持续跟踪</a:t>
            </a:r>
            <a:r>
              <a:rPr lang="en-US" altLang="zh-CN" sz="2400" dirty="0">
                <a:latin typeface="Heiti SC Light" panose="02000000000000000000" charset="-122"/>
                <a:ea typeface="Heiti SC Light" panose="02000000000000000000" charset="-122"/>
                <a:cs typeface="Heiti SC Light" panose="02000000000000000000" charset="-122"/>
              </a:rPr>
              <a:t>。</a:t>
            </a:r>
          </a:p>
        </p:txBody>
      </p:sp>
      <p:graphicFrame>
        <p:nvGraphicFramePr>
          <p:cNvPr id="6" name="图表 5">
            <a:extLst>
              <a:ext uri="{FF2B5EF4-FFF2-40B4-BE49-F238E27FC236}">
                <a16:creationId xmlns:a16="http://schemas.microsoft.com/office/drawing/2014/main" id="{A5E933B5-9C4E-3F97-596D-05713571C93E}"/>
              </a:ext>
            </a:extLst>
          </p:cNvPr>
          <p:cNvGraphicFramePr/>
          <p:nvPr>
            <p:extLst>
              <p:ext uri="{D42A27DB-BD31-4B8C-83A1-F6EECF244321}">
                <p14:modId xmlns:p14="http://schemas.microsoft.com/office/powerpoint/2010/main" val="1937773369"/>
              </p:ext>
            </p:extLst>
          </p:nvPr>
        </p:nvGraphicFramePr>
        <p:xfrm>
          <a:off x="525145" y="2832652"/>
          <a:ext cx="5365584" cy="3468998"/>
        </p:xfrm>
        <a:graphic>
          <a:graphicData uri="http://schemas.openxmlformats.org/drawingml/2006/chart">
            <c:chart xmlns:c="http://schemas.openxmlformats.org/drawingml/2006/chart" xmlns:r="http://schemas.openxmlformats.org/officeDocument/2006/relationships" r:id="rId8"/>
          </a:graphicData>
        </a:graphic>
      </p:graphicFrame>
      <p:sp>
        <p:nvSpPr>
          <p:cNvPr id="7" name="箭头: 右 6">
            <a:extLst>
              <a:ext uri="{FF2B5EF4-FFF2-40B4-BE49-F238E27FC236}">
                <a16:creationId xmlns:a16="http://schemas.microsoft.com/office/drawing/2014/main" id="{7ED43C47-656F-3C96-B8B1-370565141DD5}"/>
              </a:ext>
            </a:extLst>
          </p:cNvPr>
          <p:cNvSpPr/>
          <p:nvPr/>
        </p:nvSpPr>
        <p:spPr>
          <a:xfrm rot="1586175">
            <a:off x="1967230" y="4090073"/>
            <a:ext cx="437322" cy="26326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右 10">
            <a:extLst>
              <a:ext uri="{FF2B5EF4-FFF2-40B4-BE49-F238E27FC236}">
                <a16:creationId xmlns:a16="http://schemas.microsoft.com/office/drawing/2014/main" id="{45BE9F58-C4F7-E83C-01AD-A2205A25EC4B}"/>
              </a:ext>
            </a:extLst>
          </p:cNvPr>
          <p:cNvSpPr/>
          <p:nvPr/>
        </p:nvSpPr>
        <p:spPr>
          <a:xfrm rot="1586175">
            <a:off x="4316178" y="3082151"/>
            <a:ext cx="437322" cy="26326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wrap="square">
            <a:normAutofit/>
          </a:bodyPr>
          <a:lstStyle/>
          <a:p>
            <a:pPr lvl="0"/>
            <a:r>
              <a:rPr lang="zh-CN" altLang="en-US" dirty="0"/>
              <a:t>谢谢各位</a:t>
            </a:r>
            <a:endParaRPr lang="en-US" dirty="0"/>
          </a:p>
        </p:txBody>
      </p:sp>
    </p:spTree>
    <p:custDataLst>
      <p:tags r:id="rId1"/>
    </p:custDataLst>
    <p:extLst>
      <p:ext uri="{BB962C8B-B14F-4D97-AF65-F5344CB8AC3E}">
        <p14:creationId xmlns:p14="http://schemas.microsoft.com/office/powerpoint/2010/main" val="1957803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bcd7b66e-3eee-48c7-ac87-44714a3aaa0b"/>
  <p:tag name="COMMONDATA" val="eyJoZGlkIjoiMTFlYjUyMmI1MTE0ZmY0N2ZhMDg5YjgxYzY2M2I4MjE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9968503937}"/>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401.5748031496064,&quot;width&quot;:5102.36220472441}"/>
</p:tagLst>
</file>

<file path=ppt/tags/tag46.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1_1"/>
  <p:tag name="KSO_WM_UNIT_ID" val="diagram20228057_3*n_h_h_i*1_1_1_1"/>
  <p:tag name="KSO_WM_TEMPLATE_CATEGORY" val="diagram"/>
  <p:tag name="KSO_WM_TEMPLATE_INDEX" val="20228057"/>
  <p:tag name="KSO_WM_UNIT_LAYERLEVEL" val="1_1_1_1"/>
  <p:tag name="KSO_WM_TAG_VERSION" val="1.0"/>
  <p:tag name="KSO_WM_UNIT_LINE_FORE_SCHEMECOLOR_INDEX" val="14"/>
  <p:tag name="KSO_WM_UNIT_LINE_FILL_TYPE" val="2"/>
  <p:tag name="KSO_WM_UNIT_TEXT_FILL_FORE_SCHEMECOLOR_INDEX" val="2"/>
  <p:tag name="KSO_WM_UNIT_TEXT_FILL_TYPE" val="1"/>
  <p:tag name="KSO_WM_DIAGRAM_VIRTUALLY_FRAME" val="{&quot;height&quot;:288.7,&quot;left&quot;:263.5,&quot;top&quot;:170.45,&quot;width&quot;:566.6}"/>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28057_3*n_h_i*1_1_1"/>
  <p:tag name="KSO_WM_TEMPLATE_CATEGORY" val="diagram"/>
  <p:tag name="KSO_WM_TEMPLATE_INDEX" val="20228057"/>
  <p:tag name="KSO_WM_UNIT_LAYERLEVEL" val="1_1_1"/>
  <p:tag name="KSO_WM_TAG_VERSION" val="1.0"/>
  <p:tag name="KSO_WM_UNIT_LINE_FORE_SCHEMECOLOR_INDEX" val="5"/>
  <p:tag name="KSO_WM_UNIT_LINE_FILL_TYPE" val="2"/>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2"/>
  <p:tag name="KSO_WM_UNIT_ID" val="diagram20228057_3*n_h_i*1_1_2"/>
  <p:tag name="KSO_WM_TEMPLATE_CATEGORY" val="diagram"/>
  <p:tag name="KSO_WM_TEMPLATE_INDEX" val="20228057"/>
  <p:tag name="KSO_WM_UNIT_LAYERLEVEL" val="1_1_1"/>
  <p:tag name="KSO_WM_TAG_VERSION" val="1.0"/>
  <p:tag name="KSO_WM_UNIT_FILL_FORE_SCHEMECOLOR_INDEX" val="5"/>
  <p:tag name="KSO_WM_UNIT_FILL_TYPE" val="1"/>
  <p:tag name="KSO_WM_UNIT_TEXT_FILL_FORE_SCHEMECOLOR_INDEX" val="2"/>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5"/>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28057_3*n_h_a*1_1_1"/>
  <p:tag name="KSO_WM_TEMPLATE_CATEGORY" val="diagram"/>
  <p:tag name="KSO_WM_TEMPLATE_INDEX" val="20228057"/>
  <p:tag name="KSO_WM_UNIT_LAYERLEVEL" val="1_1_1"/>
  <p:tag name="KSO_WM_TAG_VERSION" val="1.0"/>
  <p:tag name="KSO_WM_UNIT_TEXT_FILL_FORE_SCHEMECOLOR_INDEX" val="14"/>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3"/>
  <p:tag name="KSO_WM_UNIT_ID" val="diagram20228057_3*n_h_i*1_1_3"/>
  <p:tag name="KSO_WM_TEMPLATE_CATEGORY" val="diagram"/>
  <p:tag name="KSO_WM_TEMPLATE_INDEX" val="20228057"/>
  <p:tag name="KSO_WM_UNIT_LAYERLEVEL" val="1_1_1"/>
  <p:tag name="KSO_WM_TAG_VERSION" val="1.0"/>
  <p:tag name="KSO_WM_UNIT_LINE_FORE_SCHEMECOLOR_INDEX" val="5"/>
  <p:tag name="KSO_WM_UNIT_LINE_FILL_TYPE" val="2"/>
  <p:tag name="KSO_WM_UNIT_TEXT_FILL_FORE_SCHEMECOLOR_INDEX" val="2"/>
  <p:tag name="KSO_WM_UNIT_TEXT_FILL_TYPE" val="1"/>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3_1"/>
  <p:tag name="KSO_WM_UNIT_ID" val="diagram20228057_3*n_h_h_i*1_1_3_1"/>
  <p:tag name="KSO_WM_TEMPLATE_CATEGORY" val="diagram"/>
  <p:tag name="KSO_WM_TEMPLATE_INDEX" val="20228057"/>
  <p:tag name="KSO_WM_UNIT_LAYERLEVEL" val="1_1_1_1"/>
  <p:tag name="KSO_WM_TAG_VERSION" val="1.0"/>
  <p:tag name="KSO_WM_UNIT_LINE_FORE_SCHEMECOLOR_INDEX" val="14"/>
  <p:tag name="KSO_WM_UNIT_LINE_FILL_TYPE" val="2"/>
  <p:tag name="KSO_WM_UNIT_TEXT_FILL_FORE_SCHEMECOLOR_INDEX" val="2"/>
  <p:tag name="KSO_WM_UNIT_TEXT_FILL_TYPE" val="1"/>
  <p:tag name="KSO_WM_DIAGRAM_VIRTUALLY_FRAME" val="{&quot;height&quot;:288.7,&quot;left&quot;:263.5,&quot;top&quot;:170.45,&quot;width&quot;:566.6}"/>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3_2"/>
  <p:tag name="KSO_WM_UNIT_ID" val="diagram20228057_3*n_h_h_i*1_1_3_2"/>
  <p:tag name="KSO_WM_TEMPLATE_CATEGORY" val="diagram"/>
  <p:tag name="KSO_WM_TEMPLATE_INDEX" val="20228057"/>
  <p:tag name="KSO_WM_UNIT_LAYERLEVEL" val="1_1_1_1"/>
  <p:tag name="KSO_WM_TAG_VERSION" val="1.0"/>
  <p:tag name="KSO_WM_UNIT_FILL_FORE_SCHEMECOLOR_INDEX" val="7"/>
  <p:tag name="KSO_WM_UNIT_FILL_TYPE" val="1"/>
  <p:tag name="KSO_WM_UNIT_TEXT_FILL_FORE_SCHEMECOLOR_INDEX" val="2"/>
  <p:tag name="KSO_WM_UNIT_TEXT_FILL_TYPE" val="1"/>
  <p:tag name="KSO_WM_DIAGRAM_VIRTUALLY_FRAME" val="{&quot;height&quot;:288.7,&quot;left&quot;:263.5,&quot;top&quot;:170.45,&quot;width&quot;:566.6}"/>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3_3"/>
  <p:tag name="KSO_WM_UNIT_ID" val="diagram20228057_3*n_h_h_i*1_1_3_3"/>
  <p:tag name="KSO_WM_TEMPLATE_CATEGORY" val="diagram"/>
  <p:tag name="KSO_WM_TEMPLATE_INDEX" val="20228057"/>
  <p:tag name="KSO_WM_UNIT_LAYERLEVEL" val="1_1_1_1"/>
  <p:tag name="KSO_WM_TAG_VERSION" val="1.0"/>
  <p:tag name="KSO_WM_UNIT_FILL_FORE_SCHEMECOLOR_INDEX" val="7"/>
  <p:tag name="KSO_WM_UNIT_FILL_TYPE" val="1"/>
  <p:tag name="KSO_WM_UNIT_TEXT_FILL_FORE_SCHEMECOLOR_INDEX" val="2"/>
  <p:tag name="KSO_WM_UNIT_TEXT_FILL_TYPE" val="1"/>
  <p:tag name="KSO_WM_DIAGRAM_VIRTUALLY_FRAME" val="{&quot;height&quot;:288.7,&quot;left&quot;:263.5,&quot;top&quot;:170.45,&quot;width&quot;:566.6}"/>
</p:tagLst>
</file>

<file path=ppt/tags/tag10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3_1"/>
  <p:tag name="KSO_WM_UNIT_ID" val="diagram20228057_3*n_h_h_a*1_1_3_1"/>
  <p:tag name="KSO_WM_TEMPLATE_CATEGORY" val="diagram"/>
  <p:tag name="KSO_WM_TEMPLATE_INDEX" val="20228057"/>
  <p:tag name="KSO_WM_UNIT_LAYERLEVEL" val="1_1_1_1"/>
  <p:tag name="KSO_WM_TAG_VERSION" val="1.0"/>
  <p:tag name="KSO_WM_UNIT_TEXT_FILL_FORE_SCHEMECOLOR_INDEX" val="7"/>
  <p:tag name="KSO_WM_UNIT_TEXT_FILL_TYPE" val="1"/>
  <p:tag name="KSO_WM_DIAGRAM_VIRTUALLY_FRAME" val="{&quot;height&quot;:288.7,&quot;left&quot;:263.5,&quot;top&quot;:170.45,&quot;width&quot;:566.6}"/>
</p:tagLst>
</file>

<file path=ppt/tags/tag109.xml><?xml version="1.0" encoding="utf-8"?>
<p:tagLst xmlns:a="http://schemas.openxmlformats.org/drawingml/2006/main" xmlns:r="http://schemas.openxmlformats.org/officeDocument/2006/relationships" xmlns:p="http://schemas.openxmlformats.org/presentationml/2006/main">
  <p:tag name="KSO_WM_UNIT_VALUE" val="70*70"/>
  <p:tag name="KSO_WM_UNIT_HIGHLIGHT" val="0"/>
  <p:tag name="KSO_WM_UNIT_COMPATIBLE" val="0"/>
  <p:tag name="KSO_WM_UNIT_DIAGRAM_ISNUMVISUAL" val="0"/>
  <p:tag name="KSO_WM_UNIT_DIAGRAM_ISREFERUNIT" val="0"/>
  <p:tag name="KSO_WM_DIAGRAM_GROUP_CODE" val="n1-1"/>
  <p:tag name="KSO_WM_UNIT_TYPE" val="n_h_h_x"/>
  <p:tag name="KSO_WM_UNIT_INDEX" val="1_1_3_1"/>
  <p:tag name="KSO_WM_UNIT_ID" val="diagram20228057_3*n_h_h_x*1_1_3_1"/>
  <p:tag name="KSO_WM_TEMPLATE_CATEGORY" val="diagram"/>
  <p:tag name="KSO_WM_TEMPLATE_INDEX" val="20228057"/>
  <p:tag name="KSO_WM_UNIT_LAYERLEVEL" val="1_1_1_1"/>
  <p:tag name="KSO_WM_TAG_VERSION" val="1.0"/>
  <p:tag name="KSO_WM_DIAGRAM_VIRTUALLY_FRAME" val="{&quot;height&quot;:288.7,&quot;left&quot;:263.5,&quot;top&quot;:170.45,&quot;width&quot;:566.6}"/>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2_1"/>
  <p:tag name="KSO_WM_UNIT_ID" val="diagram20228057_3*n_h_h_i*1_1_2_1"/>
  <p:tag name="KSO_WM_TEMPLATE_CATEGORY" val="diagram"/>
  <p:tag name="KSO_WM_TEMPLATE_INDEX" val="20228057"/>
  <p:tag name="KSO_WM_UNIT_LAYERLEVEL" val="1_1_1_1"/>
  <p:tag name="KSO_WM_TAG_VERSION" val="1.0"/>
  <p:tag name="KSO_WM_UNIT_LINE_FORE_SCHEMECOLOR_INDEX" val="14"/>
  <p:tag name="KSO_WM_UNIT_LINE_FILL_TYPE" val="2"/>
  <p:tag name="KSO_WM_UNIT_TEXT_FILL_FORE_SCHEMECOLOR_INDEX" val="2"/>
  <p:tag name="KSO_WM_UNIT_TEXT_FILL_TYPE" val="1"/>
  <p:tag name="KSO_WM_DIAGRAM_VIRTUALLY_FRAME" val="{&quot;height&quot;:288.7,&quot;left&quot;:263.5,&quot;top&quot;:170.45,&quot;width&quot;:566.6}"/>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2_2"/>
  <p:tag name="KSO_WM_UNIT_ID" val="diagram20228057_3*n_h_h_i*1_1_2_2"/>
  <p:tag name="KSO_WM_TEMPLATE_CATEGORY" val="diagram"/>
  <p:tag name="KSO_WM_TEMPLATE_INDEX" val="20228057"/>
  <p:tag name="KSO_WM_UNIT_LAYERLEVEL" val="1_1_1_1"/>
  <p:tag name="KSO_WM_TAG_VERSION" val="1.0"/>
  <p:tag name="KSO_WM_UNIT_FILL_FORE_SCHEMECOLOR_INDEX" val="6"/>
  <p:tag name="KSO_WM_UNIT_FILL_TYPE" val="1"/>
  <p:tag name="KSO_WM_UNIT_TEXT_FILL_FORE_SCHEMECOLOR_INDEX" val="2"/>
  <p:tag name="KSO_WM_UNIT_TEXT_FILL_TYPE" val="1"/>
  <p:tag name="KSO_WM_DIAGRAM_VIRTUALLY_FRAME" val="{&quot;height&quot;:288.7,&quot;left&quot;:263.5,&quot;top&quot;:170.45,&quot;width&quot;:566.6}"/>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2_3"/>
  <p:tag name="KSO_WM_UNIT_ID" val="diagram20228057_3*n_h_h_i*1_1_2_3"/>
  <p:tag name="KSO_WM_TEMPLATE_CATEGORY" val="diagram"/>
  <p:tag name="KSO_WM_TEMPLATE_INDEX" val="20228057"/>
  <p:tag name="KSO_WM_UNIT_LAYERLEVEL" val="1_1_1_1"/>
  <p:tag name="KSO_WM_TAG_VERSION" val="1.0"/>
  <p:tag name="KSO_WM_UNIT_FILL_FORE_SCHEMECOLOR_INDEX" val="6"/>
  <p:tag name="KSO_WM_UNIT_FILL_TYPE" val="1"/>
  <p:tag name="KSO_WM_UNIT_TEXT_FILL_FORE_SCHEMECOLOR_INDEX" val="2"/>
  <p:tag name="KSO_WM_UNIT_TEXT_FILL_TYPE" val="1"/>
  <p:tag name="KSO_WM_DIAGRAM_VIRTUALLY_FRAME" val="{&quot;height&quot;:288.7,&quot;left&quot;:263.5,&quot;top&quot;:170.45,&quot;width&quot;:566.6}"/>
</p:tagLst>
</file>

<file path=ppt/tags/tag1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ID" val="diagram20228057_3*n_h_h_a*1_1_2_1"/>
  <p:tag name="KSO_WM_TEMPLATE_CATEGORY" val="diagram"/>
  <p:tag name="KSO_WM_TEMPLATE_INDEX" val="20228057"/>
  <p:tag name="KSO_WM_UNIT_LAYERLEVEL" val="1_1_1_1"/>
  <p:tag name="KSO_WM_TAG_VERSION" val="1.0"/>
  <p:tag name="KSO_WM_UNIT_TEXT_FILL_FORE_SCHEMECOLOR_INDEX" val="6"/>
  <p:tag name="KSO_WM_UNIT_TEXT_FILL_TYPE" val="1"/>
  <p:tag name="KSO_WM_DIAGRAM_VIRTUALLY_FRAME" val="{&quot;height&quot;:288.7,&quot;left&quot;:263.5,&quot;top&quot;:170.45,&quot;width&quot;:566.6}"/>
</p:tagLst>
</file>

<file path=ppt/tags/tag114.xml><?xml version="1.0" encoding="utf-8"?>
<p:tagLst xmlns:a="http://schemas.openxmlformats.org/drawingml/2006/main" xmlns:r="http://schemas.openxmlformats.org/officeDocument/2006/relationships" xmlns:p="http://schemas.openxmlformats.org/presentationml/2006/main">
  <p:tag name="KSO_WM_UNIT_VALUE" val="70*70"/>
  <p:tag name="KSO_WM_UNIT_HIGHLIGHT" val="0"/>
  <p:tag name="KSO_WM_UNIT_COMPATIBLE" val="0"/>
  <p:tag name="KSO_WM_UNIT_DIAGRAM_ISNUMVISUAL" val="0"/>
  <p:tag name="KSO_WM_UNIT_DIAGRAM_ISREFERUNIT" val="0"/>
  <p:tag name="KSO_WM_DIAGRAM_GROUP_CODE" val="n1-1"/>
  <p:tag name="KSO_WM_UNIT_TYPE" val="n_h_h_x"/>
  <p:tag name="KSO_WM_UNIT_INDEX" val="1_1_2_1"/>
  <p:tag name="KSO_WM_UNIT_ID" val="diagram20228057_3*n_h_h_x*1_1_2_1"/>
  <p:tag name="KSO_WM_TEMPLATE_CATEGORY" val="diagram"/>
  <p:tag name="KSO_WM_TEMPLATE_INDEX" val="20228057"/>
  <p:tag name="KSO_WM_UNIT_LAYERLEVEL" val="1_1_1_1"/>
  <p:tag name="KSO_WM_TAG_VERSION" val="1.0"/>
  <p:tag name="KSO_WM_DIAGRAM_VIRTUALLY_FRAME" val="{&quot;height&quot;:288.7,&quot;left&quot;:263.5,&quot;top&quot;:170.45,&quot;width&quot;:566.6}"/>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1_2"/>
  <p:tag name="KSO_WM_UNIT_ID" val="diagram20228057_3*n_h_h_i*1_1_1_2"/>
  <p:tag name="KSO_WM_TEMPLATE_CATEGORY" val="diagram"/>
  <p:tag name="KSO_WM_TEMPLATE_INDEX" val="20228057"/>
  <p:tag name="KSO_WM_UNIT_LAYERLEVEL" val="1_1_1_1"/>
  <p:tag name="KSO_WM_TAG_VERSION" val="1.0"/>
  <p:tag name="KSO_WM_UNIT_FILL_FORE_SCHEMECOLOR_INDEX" val="5"/>
  <p:tag name="KSO_WM_UNIT_FILL_TYPE" val="1"/>
  <p:tag name="KSO_WM_UNIT_TEXT_FILL_FORE_SCHEMECOLOR_INDEX" val="2"/>
  <p:tag name="KSO_WM_UNIT_TEXT_FILL_TYPE" val="1"/>
  <p:tag name="KSO_WM_DIAGRAM_VIRTUALLY_FRAME" val="{&quot;height&quot;:288.7,&quot;left&quot;:263.5,&quot;top&quot;:170.45,&quot;width&quot;:566.6}"/>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1_3"/>
  <p:tag name="KSO_WM_UNIT_ID" val="diagram20228057_3*n_h_h_i*1_1_1_3"/>
  <p:tag name="KSO_WM_TEMPLATE_CATEGORY" val="diagram"/>
  <p:tag name="KSO_WM_TEMPLATE_INDEX" val="20228057"/>
  <p:tag name="KSO_WM_UNIT_LAYERLEVEL" val="1_1_1_1"/>
  <p:tag name="KSO_WM_TAG_VERSION" val="1.0"/>
  <p:tag name="KSO_WM_UNIT_FILL_FORE_SCHEMECOLOR_INDEX" val="5"/>
  <p:tag name="KSO_WM_UNIT_FILL_TYPE" val="1"/>
  <p:tag name="KSO_WM_UNIT_TEXT_FILL_FORE_SCHEMECOLOR_INDEX" val="2"/>
  <p:tag name="KSO_WM_UNIT_TEXT_FILL_TYPE" val="1"/>
  <p:tag name="KSO_WM_DIAGRAM_VIRTUALLY_FRAME" val="{&quot;height&quot;:288.7,&quot;left&quot;:263.5,&quot;top&quot;:170.45,&quot;width&quot;:566.6}"/>
</p:tagLst>
</file>

<file path=ppt/tags/tag11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1_1"/>
  <p:tag name="KSO_WM_UNIT_ID" val="diagram20228057_3*n_h_h_a*1_1_1_1"/>
  <p:tag name="KSO_WM_TEMPLATE_CATEGORY" val="diagram"/>
  <p:tag name="KSO_WM_TEMPLATE_INDEX" val="20228057"/>
  <p:tag name="KSO_WM_UNIT_LAYERLEVEL" val="1_1_1_1"/>
  <p:tag name="KSO_WM_TAG_VERSION" val="1.0"/>
  <p:tag name="KSO_WM_UNIT_TEXT_FILL_FORE_SCHEMECOLOR_INDEX" val="5"/>
  <p:tag name="KSO_WM_UNIT_TEXT_FILL_TYPE" val="1"/>
  <p:tag name="KSO_WM_DIAGRAM_VIRTUALLY_FRAME" val="{&quot;height&quot;:288.7,&quot;left&quot;:263.5,&quot;top&quot;:170.45,&quot;width&quot;:566.6}"/>
</p:tagLst>
</file>

<file path=ppt/tags/tag118.xml><?xml version="1.0" encoding="utf-8"?>
<p:tagLst xmlns:a="http://schemas.openxmlformats.org/drawingml/2006/main" xmlns:r="http://schemas.openxmlformats.org/officeDocument/2006/relationships" xmlns:p="http://schemas.openxmlformats.org/presentationml/2006/main">
  <p:tag name="KSO_WM_UNIT_VALUE" val="70*70"/>
  <p:tag name="KSO_WM_UNIT_HIGHLIGHT" val="0"/>
  <p:tag name="KSO_WM_UNIT_COMPATIBLE" val="0"/>
  <p:tag name="KSO_WM_UNIT_DIAGRAM_ISNUMVISUAL" val="0"/>
  <p:tag name="KSO_WM_UNIT_DIAGRAM_ISREFERUNIT" val="0"/>
  <p:tag name="KSO_WM_DIAGRAM_GROUP_CODE" val="n1-1"/>
  <p:tag name="KSO_WM_UNIT_TYPE" val="n_h_h_x"/>
  <p:tag name="KSO_WM_UNIT_INDEX" val="1_1_1_1"/>
  <p:tag name="KSO_WM_UNIT_ID" val="diagram20228057_3*n_h_h_x*1_1_1_1"/>
  <p:tag name="KSO_WM_TEMPLATE_CATEGORY" val="diagram"/>
  <p:tag name="KSO_WM_TEMPLATE_INDEX" val="20228057"/>
  <p:tag name="KSO_WM_UNIT_LAYERLEVEL" val="1_1_1_1"/>
  <p:tag name="KSO_WM_TAG_VERSION" val="1.0"/>
  <p:tag name="KSO_WM_DIAGRAM_VIRTUALLY_FRAME" val="{&quot;height&quot;:288.7,&quot;left&quot;:263.5,&quot;top&quot;:170.45,&quot;width&quot;:566.6}"/>
</p:tagLst>
</file>

<file path=ppt/tags/tag119.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1_1"/>
  <p:tag name="KSO_WM_UNIT_ID" val="diagram20228057_3*n_h_h_i*1_1_1_1"/>
  <p:tag name="KSO_WM_TEMPLATE_CATEGORY" val="diagram"/>
  <p:tag name="KSO_WM_TEMPLATE_INDEX" val="20228057"/>
  <p:tag name="KSO_WM_UNIT_LAYERLEVEL" val="1_1_1_1"/>
  <p:tag name="KSO_WM_TAG_VERSION" val="1.0"/>
  <p:tag name="KSO_WM_UNIT_LINE_FORE_SCHEMECOLOR_INDEX" val="14"/>
  <p:tag name="KSO_WM_UNIT_LINE_FILL_TYPE" val="2"/>
  <p:tag name="KSO_WM_UNIT_TEXT_FILL_FORE_SCHEMECOLOR_INDEX" val="2"/>
  <p:tag name="KSO_WM_UNIT_TEXT_FILL_TYPE" val="1"/>
  <p:tag name="KSO_WM_DIAGRAM_VIRTUALLY_FRAME" val="{&quot;height&quot;:288.7,&quot;left&quot;:98.3,&quot;top&quot;:170.45,&quot;width&quot;:731.8}"/>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28057_3*n_h_i*1_1_1"/>
  <p:tag name="KSO_WM_TEMPLATE_CATEGORY" val="diagram"/>
  <p:tag name="KSO_WM_TEMPLATE_INDEX" val="20228057"/>
  <p:tag name="KSO_WM_UNIT_LAYERLEVEL" val="1_1_1"/>
  <p:tag name="KSO_WM_TAG_VERSION" val="1.0"/>
  <p:tag name="KSO_WM_UNIT_LINE_FORE_SCHEMECOLOR_INDEX" val="5"/>
  <p:tag name="KSO_WM_UNIT_LINE_FILL_TYPE" val="2"/>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5"/>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28057_3*n_h_a*1_1_1"/>
  <p:tag name="KSO_WM_TEMPLATE_CATEGORY" val="diagram"/>
  <p:tag name="KSO_WM_TEMPLATE_INDEX" val="20228057"/>
  <p:tag name="KSO_WM_UNIT_LAYERLEVEL" val="1_1_1"/>
  <p:tag name="KSO_WM_TAG_VERSION" val="1.0"/>
  <p:tag name="KSO_WM_UNIT_TEXT_FILL_FORE_SCHEMECOLOR_INDEX" val="14"/>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3_1"/>
  <p:tag name="KSO_WM_UNIT_ID" val="diagram20228057_3*n_h_h_i*1_1_3_1"/>
  <p:tag name="KSO_WM_TEMPLATE_CATEGORY" val="diagram"/>
  <p:tag name="KSO_WM_TEMPLATE_INDEX" val="20228057"/>
  <p:tag name="KSO_WM_UNIT_LAYERLEVEL" val="1_1_1_1"/>
  <p:tag name="KSO_WM_TAG_VERSION" val="1.0"/>
  <p:tag name="KSO_WM_UNIT_LINE_FORE_SCHEMECOLOR_INDEX" val="14"/>
  <p:tag name="KSO_WM_UNIT_LINE_FILL_TYPE" val="2"/>
  <p:tag name="KSO_WM_UNIT_TEXT_FILL_FORE_SCHEMECOLOR_INDEX" val="2"/>
  <p:tag name="KSO_WM_UNIT_TEXT_FILL_TYPE" val="1"/>
  <p:tag name="KSO_WM_DIAGRAM_VIRTUALLY_FRAME" val="{&quot;height&quot;:288.7,&quot;left&quot;:98.3,&quot;top&quot;:170.45,&quot;width&quot;:731.8}"/>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3_2"/>
  <p:tag name="KSO_WM_UNIT_ID" val="diagram20228057_3*n_h_h_i*1_1_3_2"/>
  <p:tag name="KSO_WM_TEMPLATE_CATEGORY" val="diagram"/>
  <p:tag name="KSO_WM_TEMPLATE_INDEX" val="20228057"/>
  <p:tag name="KSO_WM_UNIT_LAYERLEVEL" val="1_1_1_1"/>
  <p:tag name="KSO_WM_TAG_VERSION" val="1.0"/>
  <p:tag name="KSO_WM_UNIT_FILL_FORE_SCHEMECOLOR_INDEX" val="7"/>
  <p:tag name="KSO_WM_UNIT_FILL_TYPE" val="1"/>
  <p:tag name="KSO_WM_UNIT_TEXT_FILL_FORE_SCHEMECOLOR_INDEX" val="2"/>
  <p:tag name="KSO_WM_UNIT_TEXT_FILL_TYPE" val="1"/>
  <p:tag name="KSO_WM_DIAGRAM_VIRTUALLY_FRAME" val="{&quot;height&quot;:288.7,&quot;left&quot;:98.3,&quot;top&quot;:170.45,&quot;width&quot;:731.8}"/>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3_3"/>
  <p:tag name="KSO_WM_UNIT_ID" val="diagram20228057_3*n_h_h_i*1_1_3_3"/>
  <p:tag name="KSO_WM_TEMPLATE_CATEGORY" val="diagram"/>
  <p:tag name="KSO_WM_TEMPLATE_INDEX" val="20228057"/>
  <p:tag name="KSO_WM_UNIT_LAYERLEVEL" val="1_1_1_1"/>
  <p:tag name="KSO_WM_TAG_VERSION" val="1.0"/>
  <p:tag name="KSO_WM_UNIT_FILL_FORE_SCHEMECOLOR_INDEX" val="7"/>
  <p:tag name="KSO_WM_UNIT_FILL_TYPE" val="1"/>
  <p:tag name="KSO_WM_UNIT_TEXT_FILL_FORE_SCHEMECOLOR_INDEX" val="2"/>
  <p:tag name="KSO_WM_UNIT_TEXT_FILL_TYPE" val="1"/>
  <p:tag name="KSO_WM_DIAGRAM_VIRTUALLY_FRAME" val="{&quot;height&quot;:288.7,&quot;left&quot;:98.3,&quot;top&quot;:170.45,&quot;width&quot;:731.8}"/>
</p:tagLst>
</file>

<file path=ppt/tags/tag13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3_1"/>
  <p:tag name="KSO_WM_UNIT_ID" val="diagram20228057_3*n_h_h_a*1_1_3_1"/>
  <p:tag name="KSO_WM_TEMPLATE_CATEGORY" val="diagram"/>
  <p:tag name="KSO_WM_TEMPLATE_INDEX" val="20228057"/>
  <p:tag name="KSO_WM_UNIT_LAYERLEVEL" val="1_1_1_1"/>
  <p:tag name="KSO_WM_TAG_VERSION" val="1.0"/>
  <p:tag name="KSO_WM_UNIT_TEXT_FILL_FORE_SCHEMECOLOR_INDEX" val="7"/>
  <p:tag name="KSO_WM_UNIT_TEXT_FILL_TYPE" val="1"/>
  <p:tag name="KSO_WM_DIAGRAM_VIRTUALLY_FRAME" val="{&quot;height&quot;:288.7,&quot;left&quot;:98.3,&quot;top&quot;:170.45,&quot;width&quot;:731.8}"/>
</p:tagLst>
</file>

<file path=ppt/tags/tag132.xml><?xml version="1.0" encoding="utf-8"?>
<p:tagLst xmlns:a="http://schemas.openxmlformats.org/drawingml/2006/main" xmlns:r="http://schemas.openxmlformats.org/officeDocument/2006/relationships" xmlns:p="http://schemas.openxmlformats.org/presentationml/2006/main">
  <p:tag name="KSO_WM_UNIT_VALUE" val="70*70"/>
  <p:tag name="KSO_WM_UNIT_HIGHLIGHT" val="0"/>
  <p:tag name="KSO_WM_UNIT_COMPATIBLE" val="0"/>
  <p:tag name="KSO_WM_UNIT_DIAGRAM_ISNUMVISUAL" val="0"/>
  <p:tag name="KSO_WM_UNIT_DIAGRAM_ISREFERUNIT" val="0"/>
  <p:tag name="KSO_WM_DIAGRAM_GROUP_CODE" val="n1-1"/>
  <p:tag name="KSO_WM_UNIT_TYPE" val="n_h_h_x"/>
  <p:tag name="KSO_WM_UNIT_INDEX" val="1_1_3_1"/>
  <p:tag name="KSO_WM_UNIT_ID" val="diagram20228057_3*n_h_h_x*1_1_3_1"/>
  <p:tag name="KSO_WM_TEMPLATE_CATEGORY" val="diagram"/>
  <p:tag name="KSO_WM_TEMPLATE_INDEX" val="20228057"/>
  <p:tag name="KSO_WM_UNIT_LAYERLEVEL" val="1_1_1_1"/>
  <p:tag name="KSO_WM_TAG_VERSION" val="1.0"/>
  <p:tag name="KSO_WM_DIAGRAM_VIRTUALLY_FRAME" val="{&quot;height&quot;:288.7,&quot;left&quot;:98.3,&quot;top&quot;:170.45,&quot;width&quot;:731.8}"/>
</p:tagLst>
</file>

<file path=ppt/tags/tag133.xml><?xml version="1.0" encoding="utf-8"?>
<p:tagLst xmlns:a="http://schemas.openxmlformats.org/drawingml/2006/main" xmlns:r="http://schemas.openxmlformats.org/officeDocument/2006/relationships" xmlns:p="http://schemas.openxmlformats.org/presentationml/2006/main">
  <p:tag name="KSO_WM_UNIT_VALUE" val="70*70"/>
  <p:tag name="KSO_WM_UNIT_HIGHLIGHT" val="0"/>
  <p:tag name="KSO_WM_UNIT_COMPATIBLE" val="0"/>
  <p:tag name="KSO_WM_UNIT_DIAGRAM_ISNUMVISUAL" val="0"/>
  <p:tag name="KSO_WM_UNIT_DIAGRAM_ISREFERUNIT" val="0"/>
  <p:tag name="KSO_WM_DIAGRAM_GROUP_CODE" val="n1-1"/>
  <p:tag name="KSO_WM_UNIT_TYPE" val="n_h_h_x"/>
  <p:tag name="KSO_WM_UNIT_INDEX" val="1_1_2_1"/>
  <p:tag name="KSO_WM_UNIT_ID" val="diagram20228057_3*n_h_h_x*1_1_2_1"/>
  <p:tag name="KSO_WM_TEMPLATE_CATEGORY" val="diagram"/>
  <p:tag name="KSO_WM_TEMPLATE_INDEX" val="20228057"/>
  <p:tag name="KSO_WM_UNIT_LAYERLEVEL" val="1_1_1_1"/>
  <p:tag name="KSO_WM_TAG_VERSION" val="1.0"/>
  <p:tag name="KSO_WM_DIAGRAM_VIRTUALLY_FRAME" val="{&quot;height&quot;:288.7,&quot;left&quot;:98.3,&quot;top&quot;:170.45,&quot;width&quot;:731.8}"/>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1_3"/>
  <p:tag name="KSO_WM_UNIT_ID" val="diagram20228057_3*n_h_h_i*1_1_1_3"/>
  <p:tag name="KSO_WM_TEMPLATE_CATEGORY" val="diagram"/>
  <p:tag name="KSO_WM_TEMPLATE_INDEX" val="20228057"/>
  <p:tag name="KSO_WM_UNIT_LAYERLEVEL" val="1_1_1_1"/>
  <p:tag name="KSO_WM_TAG_VERSION" val="1.0"/>
  <p:tag name="KSO_WM_UNIT_FILL_FORE_SCHEMECOLOR_INDEX" val="5"/>
  <p:tag name="KSO_WM_UNIT_FILL_TYPE" val="1"/>
  <p:tag name="KSO_WM_UNIT_TEXT_FILL_FORE_SCHEMECOLOR_INDEX" val="2"/>
  <p:tag name="KSO_WM_UNIT_TEXT_FILL_TYPE" val="1"/>
  <p:tag name="KSO_WM_DIAGRAM_VIRTUALLY_FRAME" val="{&quot;height&quot;:288.7,&quot;left&quot;:98.3,&quot;top&quot;:170.45,&quot;width&quot;:731.8}"/>
</p:tagLst>
</file>

<file path=ppt/tags/tag135.xml><?xml version="1.0" encoding="utf-8"?>
<p:tagLst xmlns:a="http://schemas.openxmlformats.org/drawingml/2006/main" xmlns:r="http://schemas.openxmlformats.org/officeDocument/2006/relationships" xmlns:p="http://schemas.openxmlformats.org/presentationml/2006/main">
  <p:tag name="KSO_WM_UNIT_VALUE" val="70*70"/>
  <p:tag name="KSO_WM_UNIT_HIGHLIGHT" val="0"/>
  <p:tag name="KSO_WM_UNIT_COMPATIBLE" val="0"/>
  <p:tag name="KSO_WM_UNIT_DIAGRAM_ISNUMVISUAL" val="0"/>
  <p:tag name="KSO_WM_UNIT_DIAGRAM_ISREFERUNIT" val="0"/>
  <p:tag name="KSO_WM_DIAGRAM_GROUP_CODE" val="n1-1"/>
  <p:tag name="KSO_WM_UNIT_TYPE" val="n_h_h_x"/>
  <p:tag name="KSO_WM_UNIT_INDEX" val="1_1_1_1"/>
  <p:tag name="KSO_WM_UNIT_ID" val="diagram20228057_3*n_h_h_x*1_1_1_1"/>
  <p:tag name="KSO_WM_TEMPLATE_CATEGORY" val="diagram"/>
  <p:tag name="KSO_WM_TEMPLATE_INDEX" val="20228057"/>
  <p:tag name="KSO_WM_UNIT_LAYERLEVEL" val="1_1_1_1"/>
  <p:tag name="KSO_WM_TAG_VERSION" val="1.0"/>
  <p:tag name="KSO_WM_DIAGRAM_VIRTUALLY_FRAME" val="{&quot;height&quot;:288.7,&quot;left&quot;:98.3,&quot;top&quot;:170.45,&quot;width&quot;:731.8}"/>
</p:tagLst>
</file>

<file path=ppt/tags/tag136.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2_2"/>
  <p:tag name="KSO_WM_UNIT_ID" val="diagram20191985_1*m_h_i*527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1_2"/>
  <p:tag name="KSO_WM_UNIT_ID" val="diagram20228057_3*n_h_h_i*1_1_1_2"/>
  <p:tag name="KSO_WM_TEMPLATE_CATEGORY" val="diagram"/>
  <p:tag name="KSO_WM_TEMPLATE_INDEX" val="20228057"/>
  <p:tag name="KSO_WM_UNIT_LAYERLEVEL" val="1_1_1_1"/>
  <p:tag name="KSO_WM_TAG_VERSION" val="1.0"/>
  <p:tag name="KSO_WM_UNIT_FILL_FORE_SCHEMECOLOR_INDEX" val="5"/>
  <p:tag name="KSO_WM_UNIT_FILL_TYPE" val="1"/>
  <p:tag name="KSO_WM_UNIT_TEXT_FILL_FORE_SCHEMECOLOR_INDEX" val="2"/>
  <p:tag name="KSO_WM_UNIT_TEXT_FILL_TYPE" val="1"/>
  <p:tag name="KSO_WM_DIAGRAM_VIRTUALLY_FRAME" val="{&quot;height&quot;:288.7,&quot;left&quot;:98.3,&quot;top&quot;:170.45,&quot;width&quot;:731.8}"/>
</p:tagLst>
</file>

<file path=ppt/tags/tag14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1_1"/>
  <p:tag name="KSO_WM_UNIT_ID" val="diagram20228057_3*n_h_h_a*1_1_1_1"/>
  <p:tag name="KSO_WM_TEMPLATE_CATEGORY" val="diagram"/>
  <p:tag name="KSO_WM_TEMPLATE_INDEX" val="20228057"/>
  <p:tag name="KSO_WM_UNIT_LAYERLEVEL" val="1_1_1_1"/>
  <p:tag name="KSO_WM_TAG_VERSION" val="1.0"/>
  <p:tag name="KSO_WM_UNIT_TEXT_FILL_FORE_SCHEMECOLOR_INDEX" val="5"/>
  <p:tag name="KSO_WM_UNIT_TEXT_FILL_TYPE" val="1"/>
  <p:tag name="KSO_WM_DIAGRAM_VIRTUALLY_FRAME" val="{&quot;height&quot;:288.7,&quot;left&quot;:98.3,&quot;top&quot;:170.45,&quot;width&quot;:731.8}"/>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2_1"/>
  <p:tag name="KSO_WM_UNIT_ID" val="diagram20228057_3*n_h_h_i*1_1_2_1"/>
  <p:tag name="KSO_WM_TEMPLATE_CATEGORY" val="diagram"/>
  <p:tag name="KSO_WM_TEMPLATE_INDEX" val="20228057"/>
  <p:tag name="KSO_WM_UNIT_LAYERLEVEL" val="1_1_1_1"/>
  <p:tag name="KSO_WM_TAG_VERSION" val="1.0"/>
  <p:tag name="KSO_WM_UNIT_LINE_FORE_SCHEMECOLOR_INDEX" val="14"/>
  <p:tag name="KSO_WM_UNIT_LINE_FILL_TYPE" val="2"/>
  <p:tag name="KSO_WM_UNIT_TEXT_FILL_FORE_SCHEMECOLOR_INDEX" val="2"/>
  <p:tag name="KSO_WM_UNIT_TEXT_FILL_TYPE" val="1"/>
  <p:tag name="KSO_WM_DIAGRAM_VIRTUALLY_FRAME" val="{&quot;height&quot;:288.7,&quot;left&quot;:98.3,&quot;top&quot;:170.45,&quot;width&quot;:731.8}"/>
</p:tagLst>
</file>

<file path=ppt/tags/tag14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1_2_1"/>
  <p:tag name="KSO_WM_UNIT_ID" val="diagram20228057_3*n_h_h_a*1_1_2_1"/>
  <p:tag name="KSO_WM_TEMPLATE_CATEGORY" val="diagram"/>
  <p:tag name="KSO_WM_TEMPLATE_INDEX" val="20228057"/>
  <p:tag name="KSO_WM_UNIT_LAYERLEVEL" val="1_1_1_1"/>
  <p:tag name="KSO_WM_TAG_VERSION" val="1.0"/>
  <p:tag name="KSO_WM_UNIT_TEXT_FILL_FORE_SCHEMECOLOR_INDEX" val="6"/>
  <p:tag name="KSO_WM_UNIT_TEXT_FILL_TYPE" val="1"/>
  <p:tag name="KSO_WM_DIAGRAM_VIRTUALLY_FRAME" val="{&quot;height&quot;:288.7,&quot;left&quot;:98.3,&quot;top&quot;:170.45,&quot;width&quot;:731.8}"/>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2_2"/>
  <p:tag name="KSO_WM_UNIT_ID" val="diagram20228057_3*n_h_h_i*1_1_2_2"/>
  <p:tag name="KSO_WM_TEMPLATE_CATEGORY" val="diagram"/>
  <p:tag name="KSO_WM_TEMPLATE_INDEX" val="20228057"/>
  <p:tag name="KSO_WM_UNIT_LAYERLEVEL" val="1_1_1_1"/>
  <p:tag name="KSO_WM_TAG_VERSION" val="1.0"/>
  <p:tag name="KSO_WM_UNIT_FILL_FORE_SCHEMECOLOR_INDEX" val="6"/>
  <p:tag name="KSO_WM_UNIT_FILL_TYPE" val="1"/>
  <p:tag name="KSO_WM_UNIT_TEXT_FILL_FORE_SCHEMECOLOR_INDEX" val="2"/>
  <p:tag name="KSO_WM_UNIT_TEXT_FILL_TYPE" val="1"/>
  <p:tag name="KSO_WM_DIAGRAM_VIRTUALLY_FRAME" val="{&quot;height&quot;:288.7,&quot;left&quot;:98.3,&quot;top&quot;:170.45,&quot;width&quot;:731.8}"/>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1_2_3"/>
  <p:tag name="KSO_WM_UNIT_ID" val="diagram20228057_3*n_h_h_i*1_1_2_3"/>
  <p:tag name="KSO_WM_TEMPLATE_CATEGORY" val="diagram"/>
  <p:tag name="KSO_WM_TEMPLATE_INDEX" val="20228057"/>
  <p:tag name="KSO_WM_UNIT_LAYERLEVEL" val="1_1_1_1"/>
  <p:tag name="KSO_WM_TAG_VERSION" val="1.0"/>
  <p:tag name="KSO_WM_UNIT_FILL_FORE_SCHEMECOLOR_INDEX" val="6"/>
  <p:tag name="KSO_WM_UNIT_FILL_TYPE" val="1"/>
  <p:tag name="KSO_WM_UNIT_TEXT_FILL_FORE_SCHEMECOLOR_INDEX" val="2"/>
  <p:tag name="KSO_WM_UNIT_TEXT_FILL_TYPE" val="1"/>
  <p:tag name="KSO_WM_DIAGRAM_VIRTUALLY_FRAME" val="{&quot;height&quot;:288.7,&quot;left&quot;:98.3,&quot;top&quot;:170.45,&quot;width&quot;:731.8}"/>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269_1_2"/>
  <p:tag name="KSO_WM_UNIT_ID" val="diagram20191985_1*m_h_i*269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149.xml><?xml version="1.0" encoding="utf-8"?>
<p:tagLst xmlns:a="http://schemas.openxmlformats.org/drawingml/2006/main" xmlns:r="http://schemas.openxmlformats.org/officeDocument/2006/relationships" xmlns:p="http://schemas.openxmlformats.org/presentationml/2006/main">
  <p:tag name="KSO_WM_UNIT_COLOR_SCHEME_SHAPE_ID" val="6"/>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269_2_2"/>
  <p:tag name="KSO_WM_UNIT_ID" val="diagram20191985_1*m_h_i*269_2_2"/>
  <p:tag name="KSO_WM_TEMPLATE_CATEGORY" val="diagram"/>
  <p:tag name="KSO_WM_TEMPLATE_INDEX" val="20191985"/>
  <p:tag name="KSO_WM_UNIT_LAYERLEVEL" val="1_1_1"/>
  <p:tag name="KSO_WM_TAG_VERSION" val="1.0"/>
  <p:tag name="KSO_WM_BEAUTIFY_FLAG" val=""/>
  <p:tag name="KSO_WM_UNIT_FILL_FORE_SCHEMECOLOR_INDEX" val="6"/>
  <p:tag name="KSO_WM_UNIT_FILL_TYPE" val="1"/>
  <p:tag name="KSO_WM_UNIT_TEXT_FILL_FORE_SCHEMECOLOR_INDEX" val="13"/>
  <p:tag name="KSO_WM_UNIT_TEXT_FILL_TYPE" val="1"/>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527_1_2"/>
  <p:tag name="KSO_WM_UNIT_ID" val="diagram20191985_1*m_h_i*527_1_2"/>
  <p:tag name="KSO_WM_TEMPLATE_CATEGORY" val="diagram"/>
  <p:tag name="KSO_WM_TEMPLATE_INDEX" val="20191985"/>
  <p:tag name="KSO_WM_UNIT_LAYERLEVEL" val="1_1_1"/>
  <p:tag name="KSO_WM_TAG_VERSION" val="1.0"/>
  <p:tag name="KSO_WM_BEAUTIFY_FLAG" val=""/>
  <p:tag name="KSO_WM_UNIT_FILL_FORE_SCHEMECOLOR_INDEX" val="5"/>
  <p:tag name="KSO_WM_UNIT_FILL_TYPE" val="1"/>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PECIAL_SOURCE" val="bdnull"/>
  <p:tag name="KSO_WM_SLIDE_ITEM_CNT" val="4"/>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UNIT_COLOR_SCHEME_SHAPE_ID" val="2"/>
  <p:tag name="KSO_WM_UNIT_COLOR_SCHEME_PARENT_PAGE" val="0_1"/>
  <p:tag name="KSO_WM_UNIT_HIGHLIGHT" val="0"/>
  <p:tag name="KSO_WM_UNIT_COMPATIBLE" val="0"/>
  <p:tag name="KSO_WM_UNIT_DIAGRAM_ISNUMVISUAL" val="0"/>
  <p:tag name="KSO_WM_UNIT_DIAGRAM_ISREFERUNIT" val="0"/>
  <p:tag name="KSO_WM_DIAGRAM_GROUP_CODE" val="m1-1"/>
  <p:tag name="KSO_WM_UNIT_TYPE" val="m_h_i"/>
  <p:tag name="KSO_WM_UNIT_INDEX" val="1083_1_2"/>
  <p:tag name="KSO_WM_UNIT_ID" val="diagram20191985_1*m_h_i*1083_1_2"/>
  <p:tag name="KSO_WM_TEMPLATE_CATEGORY" val="diagram"/>
  <p:tag name="KSO_WM_TEMPLATE_INDEX" val="2019198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OFFICEPLUS.TAG" val="e69c5ac3-dafd-4b9a-bbf1-d26a1016f816"/>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442</TotalTime>
  <Words>3404</Words>
  <Application>Microsoft Office PowerPoint</Application>
  <PresentationFormat>宽屏</PresentationFormat>
  <Paragraphs>141</Paragraphs>
  <Slides>20</Slides>
  <Notes>19</Notes>
  <HiddenSlides>1</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20</vt:i4>
      </vt:variant>
    </vt:vector>
  </HeadingPairs>
  <TitlesOfParts>
    <vt:vector size="33" baseType="lpstr">
      <vt:lpstr>Gulim</vt:lpstr>
      <vt:lpstr>Heiti SC Light</vt:lpstr>
      <vt:lpstr>黑体</vt:lpstr>
      <vt:lpstr>思源黑体 CN Bold</vt:lpstr>
      <vt:lpstr>思源黑体 CN Regular</vt:lpstr>
      <vt:lpstr>宋体</vt:lpstr>
      <vt:lpstr>微软雅黑</vt:lpstr>
      <vt:lpstr>Arial</vt:lpstr>
      <vt:lpstr>Calibri</vt:lpstr>
      <vt:lpstr>Times New Roman</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谢谢各位</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wpf cs</cp:lastModifiedBy>
  <cp:revision>686</cp:revision>
  <dcterms:created xsi:type="dcterms:W3CDTF">2025-06-16T08:14:00Z</dcterms:created>
  <dcterms:modified xsi:type="dcterms:W3CDTF">2026-07-10T09:35:20Z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2052-12.1.0.21171</vt:lpwstr>
  </property>
  <property fmtid="{D5CDD505-2E9C-101B-9397-08002B2CF9AE}" pid="3" name="ICV">
    <vt:lpwstr>A313BCB0C9C942C4A86C27566DE02D73_13</vt:lpwstr>
  </property>
</Properties>
</file>